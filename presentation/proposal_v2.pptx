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fa83e38c-5690-2239-a71a-3aa9a4e01a15}">
          <p14:sldIdLst>
            <p14:sldId id="256"/>
          </p14:sldIdLst>
        </p14:section>
        <p14:section name="1 무엇을 물었나" id="{23b6bff8-9e65-ac72-69dc-698542e8b7c3}">
          <p14:sldIdLst>
            <p14:sldId id="257"/>
            <p14:sldId id="258"/>
            <p14:sldId id="259"/>
          </p14:sldIdLst>
        </p14:section>
        <p14:section name="2 무엇을 찾았나" id="{5a6ddba7-acd4-ec2b-005b-9793a2fba0ce}">
          <p14:sldIdLst>
            <p14:sldId id="260"/>
            <p14:sldId id="261"/>
            <p14:sldId id="262"/>
            <p14:sldId id="263"/>
          </p14:sldIdLst>
        </p14:section>
        <p14:section name="3 그래서 무엇인가" id="{2bdc0dc0-eecb-391e-d9c7-8a9c7e2084a9}">
          <p14:sldIdLst>
            <p14:sldId id="264"/>
            <p14:sldId id="265"/>
            <p14:sldId id="266"/>
            <p14:sldId id="267"/>
            <p14:sldId id="268"/>
          </p14:sldIdLst>
        </p14:section>
        <p14:section name="부록" id="{73516c27-971f-6c64-117c-6b79cee86d8e}">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단독 정보량 (인구 + 영역)</c:v>
                </c:pt>
              </c:strCache>
            </c:strRef>
          </c:tx>
          <c:spPr>
            <a:solidFill>
              <a:srgbClr val="1F8A5B"/>
            </a:solidFill>
            <a:effectLst/>
          </c:spPr>
          <c:invertIfNegative val="0"/>
          <c:dLbls>
            <c:numFmt formatCode="+0.000"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신체건강</c:v>
                  </c:pt>
                  <c:pt idx="1">
                    <c:v>의료접근·건강정보</c:v>
                  </c:pt>
                  <c:pt idx="2">
                    <c:v>경제</c:v>
                  </c:pt>
                  <c:pt idx="3">
                    <c:v>사회관계</c:v>
                  </c:pt>
                  <c:pt idx="4">
                    <c:v>건강행태</c:v>
                  </c:pt>
                  <c:pt idx="5">
                    <c:v>생활환경</c:v>
                  </c:pt>
                </c:lvl>
              </c:multiLvlStrCache>
            </c:multiLvlStrRef>
          </c:cat>
          <c:val>
            <c:numRef>
              <c:f>Sheet1!$B$2:$B$7</c:f>
              <c:numCache>
                <c:formatCode>General</c:formatCode>
                <c:ptCount val="6"/>
                <c:pt idx="0">
                  <c:v>0.09</c:v>
                </c:pt>
                <c:pt idx="1">
                  <c:v>0.063</c:v>
                </c:pt>
                <c:pt idx="2">
                  <c:v>0.061</c:v>
                </c:pt>
                <c:pt idx="3">
                  <c:v>0.043</c:v>
                </c:pt>
                <c:pt idx="4">
                  <c:v>0.043</c:v>
                </c:pt>
                <c:pt idx="5">
                  <c:v>0.022</c:v>
                </c:pt>
              </c:numCache>
            </c:numRef>
          </c:val>
        </c:ser>
        <c:ser>
          <c:idx val="1"/>
          <c:order val="1"/>
          <c:tx>
            <c:strRef>
              <c:f>Sheet1!$C$1</c:f>
              <c:strCache>
                <c:ptCount val="1"/>
                <c:pt idx="0">
                  <c:v>고유 기여 (전체 − 영역)</c:v>
                </c:pt>
              </c:strCache>
            </c:strRef>
          </c:tx>
          <c:spPr>
            <a:solidFill>
              <a:srgbClr val="5BC596"/>
            </a:solidFill>
            <a:effectLst/>
          </c:spPr>
          <c:invertIfNegative val="0"/>
          <c:dLbls>
            <c:numFmt formatCode="+0.000"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신체건강</c:v>
                  </c:pt>
                  <c:pt idx="1">
                    <c:v>의료접근·건강정보</c:v>
                  </c:pt>
                  <c:pt idx="2">
                    <c:v>경제</c:v>
                  </c:pt>
                  <c:pt idx="3">
                    <c:v>사회관계</c:v>
                  </c:pt>
                  <c:pt idx="4">
                    <c:v>건강행태</c:v>
                  </c:pt>
                  <c:pt idx="5">
                    <c:v>생활환경</c:v>
                  </c:pt>
                </c:lvl>
              </c:multiLvlStrCache>
            </c:multiLvlStrRef>
          </c:cat>
          <c:val>
            <c:numRef>
              <c:f>Sheet1!$C$2:$C$7</c:f>
              <c:numCache>
                <c:formatCode>General</c:formatCode>
                <c:ptCount val="6"/>
                <c:pt idx="0">
                  <c:v>0.036</c:v>
                </c:pt>
                <c:pt idx="1">
                  <c:v>0.02</c:v>
                </c:pt>
                <c:pt idx="2">
                  <c:v>0.018</c:v>
                </c:pt>
                <c:pt idx="3">
                  <c:v>0.015</c:v>
                </c:pt>
                <c:pt idx="4">
                  <c:v>0.02</c:v>
                </c:pt>
                <c:pt idx="5">
                  <c:v>0.009</c:v>
                </c:pt>
              </c:numCache>
            </c:numRef>
          </c:val>
        </c:ser>
        <c:dLbls>
          <c:numFmt formatCode="+0.000"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D2430"/>
                </a:solidFill>
                <a:latin typeface="+mn-lt"/>
              </a:defRPr>
            </a:pPr>
            <a:endParaRPr lang="en-US"/>
          </a:p>
        </c:txPr>
        <c:crossAx val="2094734552"/>
        <c:crosses val="autoZero"/>
        <c:auto val="1"/>
        <c:lblAlgn val="ctr"/>
        <c:noMultiLvlLbl val="1"/>
      </c:catAx>
      <c:valAx>
        <c:axId val="2094734552"/>
        <c:scaling>
          <c:orientation val="minMax"/>
          <c:max val="0.1"/>
          <c:min val="0"/>
        </c:scaling>
        <c:delete val="0"/>
        <c:axPos val="b"/>
        <c:majorGridlines>
          <c:spPr>
            <a:ln w="6350" cap="flat">
              <a:solidFill>
                <a:srgbClr val="E3E6EA"/>
              </a:solidFill>
              <a:prstDash val="solid"/>
              <a:round/>
            </a:ln>
          </c:spPr>
        </c:majorGridlines>
        <c:numFmt formatCode="0.00" sourceLinked="0"/>
        <c:majorTickMark val="out"/>
        <c:minorTickMark val="none"/>
        <c:tickLblPos val="low"/>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조정 OR</c:v>
                </c:pt>
              </c:strCache>
            </c:strRef>
          </c:tx>
          <c:spPr>
            <a:solidFill>
              <a:srgbClr val="2F5FB3"/>
            </a:solidFill>
            <a:effectLst/>
          </c:spPr>
          <c:invertIfNegative val="0"/>
          <c:dLbls>
            <c:numFmt formatCode="0.00"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식품 불안정: 자주 부족</c:v>
                  </c:pt>
                  <c:pt idx="1">
                    <c:v>저작불편: 매우 불편</c:v>
                  </c:pt>
                  <c:pt idx="2">
                    <c:v>인지 체형: 매우 비만</c:v>
                  </c:pt>
                  <c:pt idx="3">
                    <c:v>미충족 의료: 있음</c:v>
                  </c:pt>
                  <c:pt idx="4">
                    <c:v>의료진 설명 이해: 매우 어려움</c:v>
                  </c:pt>
                </c:lvl>
              </c:multiLvlStrCache>
            </c:multiLvlStrRef>
          </c:cat>
          <c:val>
            <c:numRef>
              <c:f>Sheet1!$B$2:$B$6</c:f>
              <c:numCache>
                <c:formatCode>General</c:formatCode>
                <c:ptCount val="5"/>
                <c:pt idx="0">
                  <c:v>3.24</c:v>
                </c:pt>
                <c:pt idx="1">
                  <c:v>2.79</c:v>
                </c:pt>
                <c:pt idx="2">
                  <c:v>2.36</c:v>
                </c:pt>
                <c:pt idx="3">
                  <c:v>2.15</c:v>
                </c:pt>
                <c:pt idx="4">
                  <c:v>1.76</c:v>
                </c:pt>
              </c:numCache>
            </c:numRef>
          </c:val>
        </c:ser>
        <c:dLbls>
          <c:numFmt formatCode="0.00"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D2430"/>
                </a:solidFill>
                <a:latin typeface="+mn-lt"/>
              </a:defRPr>
            </a:pPr>
            <a:endParaRPr lang="en-US"/>
          </a:p>
        </c:txPr>
        <c:crossAx val="2094734552"/>
        <c:crosses val="autoZero"/>
        <c:auto val="1"/>
        <c:lblAlgn val="ctr"/>
        <c:noMultiLvlLbl val="1"/>
      </c:catAx>
      <c:valAx>
        <c:axId val="2094734552"/>
        <c:scaling>
          <c:orientation val="minMax"/>
          <c:max val="3.5"/>
          <c:min val="1"/>
        </c:scaling>
        <c:delete val="0"/>
        <c:axPos val="b"/>
        <c:majorGridlines>
          <c:spPr>
            <a:ln w="6350" cap="flat">
              <a:solidFill>
                <a:srgbClr val="E3E6EA"/>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조정 OR</c:v>
                </c:pt>
              </c:strCache>
            </c:strRef>
          </c:tx>
          <c:spPr>
            <a:solidFill>
              <a:srgbClr val="1F8A5B"/>
            </a:solidFill>
            <a:effectLst/>
          </c:spPr>
          <c:invertIfNegative val="0"/>
          <c:dLbls>
            <c:numFmt formatCode="0.00"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친구 연락: 월 1회 미만</c:v>
                  </c:pt>
                  <c:pt idx="1">
                    <c:v>흡연: 현재흡연</c:v>
                  </c:pt>
                  <c:pt idx="2">
                    <c:v>아침식사: 거의 안 함</c:v>
                  </c:pt>
                  <c:pt idx="3">
                    <c:v>전자담배: 현재 사용</c:v>
                  </c:pt>
                  <c:pt idx="4">
                    <c:v>걷기: 미실천</c:v>
                  </c:pt>
                </c:lvl>
              </c:multiLvlStrCache>
            </c:multiLvlStrRef>
          </c:cat>
          <c:val>
            <c:numRef>
              <c:f>Sheet1!$B$2:$B$6</c:f>
              <c:numCache>
                <c:formatCode>General</c:formatCode>
                <c:ptCount val="5"/>
                <c:pt idx="0">
                  <c:v>1.59</c:v>
                </c:pt>
                <c:pt idx="1">
                  <c:v>1.45</c:v>
                </c:pt>
                <c:pt idx="2">
                  <c:v>1.41</c:v>
                </c:pt>
                <c:pt idx="3">
                  <c:v>1.4</c:v>
                </c:pt>
                <c:pt idx="4">
                  <c:v>1.25</c:v>
                </c:pt>
              </c:numCache>
            </c:numRef>
          </c:val>
        </c:ser>
        <c:dLbls>
          <c:numFmt formatCode="0.00"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D2430"/>
                </a:solidFill>
                <a:latin typeface="+mn-lt"/>
              </a:defRPr>
            </a:pPr>
            <a:endParaRPr lang="en-US"/>
          </a:p>
        </c:txPr>
        <c:crossAx val="2094734552"/>
        <c:crosses val="autoZero"/>
        <c:auto val="1"/>
        <c:lblAlgn val="ctr"/>
        <c:noMultiLvlLbl val="1"/>
      </c:catAx>
      <c:valAx>
        <c:axId val="2094734552"/>
        <c:scaling>
          <c:orientation val="minMax"/>
          <c:max val="2"/>
          <c:min val="1"/>
        </c:scaling>
        <c:delete val="0"/>
        <c:axPos val="b"/>
        <c:majorGridlines>
          <c:spPr>
            <a:ln w="6350" cap="flat">
              <a:solidFill>
                <a:srgbClr val="E3E6EA"/>
              </a:solidFill>
              <a:prstDash val="solid"/>
              <a:round/>
            </a:ln>
          </c:spPr>
        </c:majorGridlines>
        <c:numFmt formatCode="0.0" sourceLinked="0"/>
        <c:majorTickMark val="out"/>
        <c:minorTickMark val="none"/>
        <c:tickLblPos val="low"/>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430"/>
                </a:solidFill>
                <a:latin typeface="+mn-lt"/>
              </a:defRPr>
            </a:pPr>
            <a:r>
              <a:rPr sz="1300" b="0" i="0" u="none" strike="noStrike">
                <a:solidFill>
                  <a:srgbClr val="1D2430"/>
                </a:solidFill>
                <a:latin typeface="+mn-lt"/>
              </a:rPr>
              <a:t>충족한 건강 생활요인 수별 조정 유병률(%)</a:t>
            </a:r>
          </a:p>
        </c:rich>
      </c:tx>
      <c:layout/>
      <c:overlay val="0"/>
    </c:title>
    <c:autoTitleDeleted val="0"/>
    <c:plotArea>
      <c:layout/>
      <c:barChart>
        <c:barDir val="col"/>
        <c:grouping val="clustered"/>
        <c:varyColors val="0"/>
        <c:ser>
          <c:idx val="0"/>
          <c:order val="0"/>
          <c:tx>
            <c:strRef>
              <c:f>Sheet1!$B$1</c:f>
              <c:strCache>
                <c:ptCount val="1"/>
                <c:pt idx="0">
                  <c:v>조정 유병률(%)</c:v>
                </c:pt>
              </c:strCache>
            </c:strRef>
          </c:tx>
          <c:spPr>
            <a:solidFill>
              <a:srgbClr val="1F8A5B"/>
            </a:solidFill>
            <a:effectLst/>
          </c:spPr>
          <c:invertIfNegative val="0"/>
          <c:dLbls>
            <c:numFmt formatCode="0.0&quot;%&quot;"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cat>
            <c:multiLvlStrRef>
              <c:f>Sheet1!$A$2:$A$7</c:f>
              <c:multiLvlStrCache>
                <c:ptCount val="6"/>
                <c:lvl>
                  <c:pt idx="0">
                    <c:v>0~1개</c:v>
                  </c:pt>
                  <c:pt idx="1">
                    <c:v>2개</c:v>
                  </c:pt>
                  <c:pt idx="2">
                    <c:v>3개</c:v>
                  </c:pt>
                  <c:pt idx="3">
                    <c:v>4개</c:v>
                  </c:pt>
                  <c:pt idx="4">
                    <c:v>5개</c:v>
                  </c:pt>
                  <c:pt idx="5">
                    <c:v>6개</c:v>
                  </c:pt>
                </c:lvl>
              </c:multiLvlStrCache>
            </c:multiLvlStrRef>
          </c:cat>
          <c:val>
            <c:numRef>
              <c:f>Sheet1!$B$2:$B$7</c:f>
              <c:numCache>
                <c:formatCode>General</c:formatCode>
                <c:ptCount val="6"/>
                <c:pt idx="0">
                  <c:v>9</c:v>
                </c:pt>
                <c:pt idx="1">
                  <c:v>6.8</c:v>
                </c:pt>
                <c:pt idx="2">
                  <c:v>5.3</c:v>
                </c:pt>
                <c:pt idx="3">
                  <c:v>3.7</c:v>
                </c:pt>
                <c:pt idx="4">
                  <c:v>2.7</c:v>
                </c:pt>
                <c:pt idx="5">
                  <c:v>2.1</c:v>
                </c:pt>
              </c:numCache>
            </c:numRef>
          </c:val>
        </c:ser>
        <c:dLbls>
          <c:numFmt formatCode="0.0&quot;%&quot;" sourceLinked="0"/>
          <c:txPr>
            <a:bodyPr/>
            <a:lstStyle/>
            <a:p>
              <a:pPr>
                <a:defRPr b="0" i="0" strike="noStrike" sz="1100" u="none">
                  <a:solidFill>
                    <a:srgbClr val="1D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D2430"/>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3E6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B647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방향으로 전환한 연구의 중간 보고입니다. 교수님 피드백대로 우울을 심리·신체·사회·경제·환경 여러 영역에서 함께 보았고, 무엇을 물었는지, 무엇을 찾았는지, 그래서 무엇을 제안하는지 세 묶음으로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연구는 걷기·근력운동과 친구 연락만 보았습니다. 교수님께서 우울을 복합적으로 보라고 하셔서 같은 조사의 문항을 8개 영역으로 넓혔고, 질문을 네 가지로 나눴습니다. 분석 전에 두 가지 원칙을 정했습니다. PHQ-9와 겹치는 변수는 주 분석에서 빼고, 결과는 인과가 아니라 관련성으로만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원시자료는 19개 조사영역, 201개 변수입니다. 그중 103개를 사용했고, 모형에는 원시변수 86개를 66개 분석변수로 다듬어 넣었습니다. 우울 문항과 직접 겹치는 4개는 뺐고, 스트레스·수면·주관적 건강처럼 개념이 겹치는 13개는 비교용으로만 씁니다. 나머지 미사용 문항은 대부분 해당자에게만 묻는 하위문항이나 지식 문항입니다.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결과변수는 PHQ-9 10점 이상 하나입니다. 머신러닝은 영역을 하나씩 더하거나 빼며 어느 영역이 정보를 많이 갖는지 재고, 조사설계 회귀는 다른 요인을 모두 고정했을 때 연관의 방향과 크기를 모집단 기준으로 추정합니다. 두 방법이 같은 요인을 가리키는지가 결과의 신뢰도를 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인구 정보만 쓴 모형의 AP는 0.086입니다. 여기에 영역을 하나씩 더하면 신체건강이 가장 크게 올렸고, 전부 넣은 모형에서 하나씩 빼도 모든 영역에서 성능이 유의하게 떨어졌습니다. 어느 영역도 다른 영역으로 대체되지 않는다는 뜻입니다. 신체건강 1위, 생활환경 최하위는 네 가지 지표에서 모두 같았습니다.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변수를 동시에 조정한 회귀에서 바꿀 수 있는 요인을 두 유형으로 나눴습니다. 왼쪽은 서비스·정책·환경으로 개선할 수 있는 상태로, 식품이 자주 부족한 가구의 오즈가 3배를 넘었습니다. 오른쪽은 개인이 바꿀 수 있는 행동으로, 친구와의 연락 단절, 흡연, 아침 결식이 위험 쪽이었습니다. 유형 구분은 국민건강증진종합계획 분야에 맞춰 미리 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연령대 안에서 모형을 다시 학습해 영역별 단독 정보량을 비교했습니다. 진한 칸이 그 연령대에서 정보가 많은 영역입니다. 청년층은 건강행태가 신체건강만큼 중요했고 경제는 작았습니다. 중장년층은 경제가 가장 컸고, 65세 이상은 신체건강과 의료접근이 압도적이었습니다. 제언을 연령대별로 달리해야 하는 근거입니다.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생활요인은 결과를 보고 고르지 않았습니다. 개인 행동이면서, 우울 관련 건강 생활요인 연구와 국민건강증진종합계획의 건강생활 실천 분야에 속하고, 공식 충족 기준이 있으며, 영역당 하나만 쓰는 규칙으로 정했습니다. 그 결과 신체활동과 함께 담배, 음주, 아침식사, 사회적 연결, 잠자기 전 칫솔질 다섯 가지가 남았습니다. 점수는 순서대로 더한 것이 아니라 몇 개를 충족했는지 센 값입니다. 0~1개 9.0%에서 6개 2.1%로 단계적으로 낮아졌고, 1개 늘 때마다 오즈가 약 30% 낮았습니다. 어느 요인 하나를 빼고 다시 세도 같았습니다.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Han과 Park(2025)은 2022년 같은 조사로 우울 위험 예측모형을 만들었고, 스트레스와 주관적 건강을 가장 큰 위험요인으로 보고했습니다. 그런데 두 변수는 PHQ-9 문항과 겹칩니다. 저희는 이런 변수를 빼고도 ROC-AUC 0.846로 비슷했고, 같은 비율인 18.4%를 고위험으로 판정하면 민감도 68.7%, 정밀도 14.5%로 같은 수준이었습니다. 여기에 변수 범위, 가구 단위 분할, 보정 지표, 조사설계 회귀를 보완했습니다.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 0.283는 아무 정보 없이 찍을 때(0.039)보다 약 7배 높아 모형이 실제 신호를 학습했다는 뜻입니다. 그래서 영역 비교와 SHAP 해석을 믿을 수 있습니다. 하지만 선별 도구로 쓰기는 어렵습니다. 우울군의 80%를 잡으려면 1만 명 중 2,914명을 고위험으로 찍어야 하고, 그중 2,602명은 헛경보입니다. 무엇보다 결과변수가 PHQ-9 자체라서, 9문항을 직접 묻는 편이 더 싸고 정확합니다.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횡단면 자료라 인과를 말할 수는 없지만, 바꿀 수 있고 관련이 큰 요인을 근거로 세 가지를 제안합니다. 신체활동과 사회적 연결을 함께 충족한 집단의 조정 유병률이 가장 낮은 축이었고, 상호작용이 없어 효과가 더해지는 구조였습니다. 생활체육 프로그램을 운동 종목만이 아니라 교류의 장으로 설계할 근거가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큰 한계는 횡단면 자료라는 점입니다. 우울해서 운동이나 교류가 줄었을 가능성을 배제할 수 없습니다. 모든 변수가 자기보고이고, 2025년 조사에는 좌식행동 문항이 없었습니다. 남은 기간에는 오늘 피드백을 반영해 분석을 확정하고 논문을 마무리하겠습니다.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문장으로 정리하겠습니다. 질문 주시면 부록 자료로 답변드리겠습니다.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수정 유형은 국민건강증진종합계획 분야와 대응시켜 정했습니다. A는 본인이 고르는 행동, B는 제도나 지역사회 개입으로 개선할 수 있는 현재 상태, C는 나이·성별·진단처럼 바꿀 수 없는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Zhao 등(2023)의 7개 건강 생활 영역과 국민건강증진종합계획의 건강생활 실천 분야를 합친 8개 영역에 조사 문항을 하나씩 대응시켰습니다. 좌식행동은 문항이 없어 빠졌고, 수면은 PHQ-9 수면 문항과 겹쳐 민감도 분석으로만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특정 요인 하나가 결과를 끌고 가는지 보려고 요인을 하나씩 뺀 점수 여섯 가지와 수면을 더한 점수를 다시 계산했습니다. 1점당 오즈비가 모두 비슷했습니다.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모형을 실제 판정에 쓴다면 목적에 따라 임계값을 정해야 합니다. 시험셋을 가구 단위로 반으로 나눠 한쪽에서 임계값을 정하고 다른 쪽에서 평가했습니다.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1D2430"/>
          </a:solidFill>
          <a:ln>
            <a:solidFill>
              <a:srgbClr val="1D2430"/>
            </a:solidFill>
          </a:ln>
        </p:spPr>
        <p:txBody>
          <a:bodyPr wrap="square" lIns="0" tIns="0" rIns="0" bIns="0" rtlCol="0" anchor="ctr"/>
          <a:lstStyle/>
          <a:p>
            <a:pPr algn="ctr" indent="0" marL="0">
              <a:buNone/>
            </a:pPr>
            <a:r>
              <a:rPr lang="en-US" sz="1200" b="1" dirty="0">
                <a:solidFill>
                  <a:srgbClr val="FFFFFF"/>
                </a:solidFill>
              </a:rPr>
              <a:t>1  무엇을 물었나</a:t>
            </a:r>
            <a:endParaRPr lang="en-US" sz="1200" dirty="0"/>
          </a:p>
        </p:txBody>
      </p:sp>
      <p:sp>
        <p:nvSpPr>
          <p:cNvPr id="3" name="Text 1"/>
          <p:cNvSpPr/>
          <p:nvPr/>
        </p:nvSpPr>
        <p:spPr>
          <a:xfrm>
            <a:off x="2560320" y="292608"/>
            <a:ext cx="1920240" cy="329184"/>
          </a:xfrm>
          <a:prstGeom prst="roundRect">
            <a:avLst>
              <a:gd name="adj" fmla="val 50000"/>
            </a:avLst>
          </a:prstGeom>
          <a:solidFill>
            <a:srgbClr val="F3F5F8"/>
          </a:solidFill>
          <a:ln>
            <a:solidFill>
              <a:srgbClr val="F3F5F8"/>
            </a:solidFill>
          </a:ln>
        </p:spPr>
        <p:txBody>
          <a:bodyPr wrap="square" lIns="0" tIns="0" rIns="0" bIns="0" rtlCol="0" anchor="ctr"/>
          <a:lstStyle/>
          <a:p>
            <a:pPr algn="ctr" indent="0" marL="0">
              <a:buNone/>
            </a:pPr>
            <a:r>
              <a:rPr lang="en-US" sz="1200" dirty="0">
                <a:solidFill>
                  <a:srgbClr val="5B6472"/>
                </a:solidFill>
              </a:rPr>
              <a:t>2  무엇을 찾았나</a:t>
            </a:r>
            <a:endParaRPr lang="en-US" sz="1200" dirty="0"/>
          </a:p>
        </p:txBody>
      </p:sp>
      <p:sp>
        <p:nvSpPr>
          <p:cNvPr id="4" name="Text 2"/>
          <p:cNvSpPr/>
          <p:nvPr/>
        </p:nvSpPr>
        <p:spPr>
          <a:xfrm>
            <a:off x="4572000" y="292608"/>
            <a:ext cx="1920240" cy="329184"/>
          </a:xfrm>
          <a:prstGeom prst="roundRect">
            <a:avLst>
              <a:gd name="adj" fmla="val 50000"/>
            </a:avLst>
          </a:prstGeom>
          <a:solidFill>
            <a:srgbClr val="F3F5F8"/>
          </a:solidFill>
          <a:ln>
            <a:solidFill>
              <a:srgbClr val="F3F5F8"/>
            </a:solidFill>
          </a:ln>
        </p:spPr>
        <p:txBody>
          <a:bodyPr wrap="square" lIns="0" tIns="0" rIns="0" bIns="0" rtlCol="0" anchor="ctr"/>
          <a:lstStyle/>
          <a:p>
            <a:pPr algn="ctr" indent="0" marL="0">
              <a:buNone/>
            </a:pPr>
            <a:r>
              <a:rPr lang="en-US" sz="1200" dirty="0">
                <a:solidFill>
                  <a:srgbClr val="5B6472"/>
                </a:solidFill>
              </a:rPr>
              <a:t>3  그래서 무엇인가</a:t>
            </a:r>
            <a:endParaRPr lang="en-US"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algn="r" indent="0" marL="0">
              <a:buNone/>
            </a:pPr>
            <a:r>
              <a:rPr lang="en-US" sz="1200" dirty="0">
                <a:solidFill>
                  <a:srgbClr val="5B6472"/>
                </a:solidFill>
              </a:rPr>
              <a:t>중간 프로포절</a:t>
            </a:r>
            <a:endParaRPr lang="en-US" sz="1200" dirty="0"/>
          </a:p>
        </p:txBody>
      </p:sp>
      <p:sp>
        <p:nvSpPr>
          <p:cNvPr id="6" name="Text 4"/>
          <p:cNvSpPr/>
          <p:nvPr>
            <p:ph idx="104" type="title" hasCustomPrompt="1"/>
          </p:nvPr>
        </p:nvSpPr>
        <p:spPr>
          <a:xfrm>
            <a:off x="548640" y="786384"/>
            <a:ext cx="11094415" cy="731520"/>
          </a:xfrm>
          <a:prstGeom prst="rect">
            <a:avLst/>
          </a:prstGeom>
          <a:noFill/>
          <a:ln/>
        </p:spPr>
        <p:txBody>
          <a:bodyPr wrap="square" rtlCol="0"/>
          <a:lstStyle>
            <a:lvl1pPr algn="l" indent="0" marL="0">
              <a:buNone/>
              <a:defRPr lang="en-US" sz="2800" b="1" dirty="0">
                <a:solidFill>
                  <a:srgbClr val="1D2430"/>
                </a:solidFill>
              </a:defRPr>
            </a:lvl1pPr>
          </a:lstStyle>
          <a:p>
            <a:pPr algn="l" indent="0" marL="0">
              <a:buNone/>
            </a:pPr>
            <a:endParaRPr lang="en-US" sz="2800" dirty="0"/>
          </a:p>
        </p:txBody>
      </p:sp>
      <p:sp>
        <p:nvSpPr>
          <p:cNvPr id="7" name="Text 4"/>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6B7280"/>
                </a:solidFill>
              </a:rPr>
              <a:t>스포츠융합산업프로젝트실습 · 중간 프로포절 · 2025 지역사회건강조사 원시자료(성인 231,290명)</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F3F5F8"/>
          </a:solidFill>
          <a:ln>
            <a:solidFill>
              <a:srgbClr val="F3F5F8"/>
            </a:solidFill>
          </a:ln>
        </p:spPr>
        <p:txBody>
          <a:bodyPr wrap="square" lIns="0" tIns="0" rIns="0" bIns="0" rtlCol="0" anchor="ctr"/>
          <a:lstStyle/>
          <a:p>
            <a:pPr algn="ctr" indent="0" marL="0">
              <a:buNone/>
            </a:pPr>
            <a:r>
              <a:rPr lang="en-US" sz="1200" dirty="0">
                <a:solidFill>
                  <a:srgbClr val="5B6472"/>
                </a:solidFill>
              </a:rPr>
              <a:t>1  무엇을 물었나</a:t>
            </a:r>
            <a:endParaRPr lang="en-US" sz="1200" dirty="0"/>
          </a:p>
        </p:txBody>
      </p:sp>
      <p:sp>
        <p:nvSpPr>
          <p:cNvPr id="3" name="Text 1"/>
          <p:cNvSpPr/>
          <p:nvPr/>
        </p:nvSpPr>
        <p:spPr>
          <a:xfrm>
            <a:off x="2560320" y="292608"/>
            <a:ext cx="1920240" cy="329184"/>
          </a:xfrm>
          <a:prstGeom prst="roundRect">
            <a:avLst>
              <a:gd name="adj" fmla="val 50000"/>
            </a:avLst>
          </a:prstGeom>
          <a:solidFill>
            <a:srgbClr val="1D2430"/>
          </a:solidFill>
          <a:ln>
            <a:solidFill>
              <a:srgbClr val="1D2430"/>
            </a:solidFill>
          </a:ln>
        </p:spPr>
        <p:txBody>
          <a:bodyPr wrap="square" lIns="0" tIns="0" rIns="0" bIns="0" rtlCol="0" anchor="ctr"/>
          <a:lstStyle/>
          <a:p>
            <a:pPr algn="ctr" indent="0" marL="0">
              <a:buNone/>
            </a:pPr>
            <a:r>
              <a:rPr lang="en-US" sz="1200" b="1" dirty="0">
                <a:solidFill>
                  <a:srgbClr val="FFFFFF"/>
                </a:solidFill>
              </a:rPr>
              <a:t>2  무엇을 찾았나</a:t>
            </a:r>
            <a:endParaRPr lang="en-US" sz="1200" dirty="0"/>
          </a:p>
        </p:txBody>
      </p:sp>
      <p:sp>
        <p:nvSpPr>
          <p:cNvPr id="4" name="Text 2"/>
          <p:cNvSpPr/>
          <p:nvPr/>
        </p:nvSpPr>
        <p:spPr>
          <a:xfrm>
            <a:off x="4572000" y="292608"/>
            <a:ext cx="1920240" cy="329184"/>
          </a:xfrm>
          <a:prstGeom prst="roundRect">
            <a:avLst>
              <a:gd name="adj" fmla="val 50000"/>
            </a:avLst>
          </a:prstGeom>
          <a:solidFill>
            <a:srgbClr val="F3F5F8"/>
          </a:solidFill>
          <a:ln>
            <a:solidFill>
              <a:srgbClr val="F3F5F8"/>
            </a:solidFill>
          </a:ln>
        </p:spPr>
        <p:txBody>
          <a:bodyPr wrap="square" lIns="0" tIns="0" rIns="0" bIns="0" rtlCol="0" anchor="ctr"/>
          <a:lstStyle/>
          <a:p>
            <a:pPr algn="ctr" indent="0" marL="0">
              <a:buNone/>
            </a:pPr>
            <a:r>
              <a:rPr lang="en-US" sz="1200" dirty="0">
                <a:solidFill>
                  <a:srgbClr val="5B6472"/>
                </a:solidFill>
              </a:rPr>
              <a:t>3  그래서 무엇인가</a:t>
            </a:r>
            <a:endParaRPr lang="en-US"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algn="r" indent="0" marL="0">
              <a:buNone/>
            </a:pPr>
            <a:r>
              <a:rPr lang="en-US" sz="1200" dirty="0">
                <a:solidFill>
                  <a:srgbClr val="5B6472"/>
                </a:solidFill>
              </a:rPr>
              <a:t>중간 프로포절</a:t>
            </a:r>
            <a:endParaRPr lang="en-US" sz="1200" dirty="0"/>
          </a:p>
        </p:txBody>
      </p:sp>
      <p:sp>
        <p:nvSpPr>
          <p:cNvPr id="6" name="Text 4"/>
          <p:cNvSpPr/>
          <p:nvPr>
            <p:ph idx="104" type="title" hasCustomPrompt="1"/>
          </p:nvPr>
        </p:nvSpPr>
        <p:spPr>
          <a:xfrm>
            <a:off x="548640" y="786384"/>
            <a:ext cx="11094415" cy="731520"/>
          </a:xfrm>
          <a:prstGeom prst="rect">
            <a:avLst/>
          </a:prstGeom>
          <a:noFill/>
          <a:ln/>
        </p:spPr>
        <p:txBody>
          <a:bodyPr wrap="square" rtlCol="0"/>
          <a:lstStyle>
            <a:lvl1pPr algn="l" indent="0" marL="0">
              <a:buNone/>
              <a:defRPr lang="en-US" sz="2800" b="1" dirty="0">
                <a:solidFill>
                  <a:srgbClr val="1D2430"/>
                </a:solidFill>
              </a:defRPr>
            </a:lvl1pPr>
          </a:lstStyle>
          <a:p>
            <a:pPr algn="l" indent="0" marL="0">
              <a:buNone/>
            </a:pPr>
            <a:endParaRPr lang="en-US" sz="2800" dirty="0"/>
          </a:p>
        </p:txBody>
      </p:sp>
      <p:sp>
        <p:nvSpPr>
          <p:cNvPr id="7" name="Text 4"/>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6B7280"/>
                </a:solidFill>
              </a:rPr>
              <a:t>스포츠융합산업프로젝트실습 · 중간 프로포절 · 2025 지역사회건강조사 원시자료(성인 231,290명)</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F3F5F8"/>
          </a:solidFill>
          <a:ln>
            <a:solidFill>
              <a:srgbClr val="F3F5F8"/>
            </a:solidFill>
          </a:ln>
        </p:spPr>
        <p:txBody>
          <a:bodyPr wrap="square" lIns="0" tIns="0" rIns="0" bIns="0" rtlCol="0" anchor="ctr"/>
          <a:lstStyle/>
          <a:p>
            <a:pPr algn="ctr" indent="0" marL="0">
              <a:buNone/>
            </a:pPr>
            <a:r>
              <a:rPr lang="en-US" sz="1200" dirty="0">
                <a:solidFill>
                  <a:srgbClr val="5B6472"/>
                </a:solidFill>
              </a:rPr>
              <a:t>1  무엇을 물었나</a:t>
            </a:r>
            <a:endParaRPr lang="en-US" sz="1200" dirty="0"/>
          </a:p>
        </p:txBody>
      </p:sp>
      <p:sp>
        <p:nvSpPr>
          <p:cNvPr id="3" name="Text 1"/>
          <p:cNvSpPr/>
          <p:nvPr/>
        </p:nvSpPr>
        <p:spPr>
          <a:xfrm>
            <a:off x="2560320" y="292608"/>
            <a:ext cx="1920240" cy="329184"/>
          </a:xfrm>
          <a:prstGeom prst="roundRect">
            <a:avLst>
              <a:gd name="adj" fmla="val 50000"/>
            </a:avLst>
          </a:prstGeom>
          <a:solidFill>
            <a:srgbClr val="F3F5F8"/>
          </a:solidFill>
          <a:ln>
            <a:solidFill>
              <a:srgbClr val="F3F5F8"/>
            </a:solidFill>
          </a:ln>
        </p:spPr>
        <p:txBody>
          <a:bodyPr wrap="square" lIns="0" tIns="0" rIns="0" bIns="0" rtlCol="0" anchor="ctr"/>
          <a:lstStyle/>
          <a:p>
            <a:pPr algn="ctr" indent="0" marL="0">
              <a:buNone/>
            </a:pPr>
            <a:r>
              <a:rPr lang="en-US" sz="1200" dirty="0">
                <a:solidFill>
                  <a:srgbClr val="5B6472"/>
                </a:solidFill>
              </a:rPr>
              <a:t>2  무엇을 찾았나</a:t>
            </a:r>
            <a:endParaRPr lang="en-US" sz="1200" dirty="0"/>
          </a:p>
        </p:txBody>
      </p:sp>
      <p:sp>
        <p:nvSpPr>
          <p:cNvPr id="4" name="Text 2"/>
          <p:cNvSpPr/>
          <p:nvPr/>
        </p:nvSpPr>
        <p:spPr>
          <a:xfrm>
            <a:off x="4572000" y="292608"/>
            <a:ext cx="1920240" cy="329184"/>
          </a:xfrm>
          <a:prstGeom prst="roundRect">
            <a:avLst>
              <a:gd name="adj" fmla="val 50000"/>
            </a:avLst>
          </a:prstGeom>
          <a:solidFill>
            <a:srgbClr val="1D2430"/>
          </a:solidFill>
          <a:ln>
            <a:solidFill>
              <a:srgbClr val="1D2430"/>
            </a:solidFill>
          </a:ln>
        </p:spPr>
        <p:txBody>
          <a:bodyPr wrap="square" lIns="0" tIns="0" rIns="0" bIns="0" rtlCol="0" anchor="ctr"/>
          <a:lstStyle/>
          <a:p>
            <a:pPr algn="ctr" indent="0" marL="0">
              <a:buNone/>
            </a:pPr>
            <a:r>
              <a:rPr lang="en-US" sz="1200" b="1" dirty="0">
                <a:solidFill>
                  <a:srgbClr val="FFFFFF"/>
                </a:solidFill>
              </a:rPr>
              <a:t>3  그래서 무엇인가</a:t>
            </a:r>
            <a:endParaRPr lang="en-US"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algn="r" indent="0" marL="0">
              <a:buNone/>
            </a:pPr>
            <a:r>
              <a:rPr lang="en-US" sz="1200" dirty="0">
                <a:solidFill>
                  <a:srgbClr val="5B6472"/>
                </a:solidFill>
              </a:rPr>
              <a:t>중간 프로포절</a:t>
            </a:r>
            <a:endParaRPr lang="en-US" sz="1200" dirty="0"/>
          </a:p>
        </p:txBody>
      </p:sp>
      <p:sp>
        <p:nvSpPr>
          <p:cNvPr id="6" name="Text 4"/>
          <p:cNvSpPr/>
          <p:nvPr>
            <p:ph idx="104" type="title" hasCustomPrompt="1"/>
          </p:nvPr>
        </p:nvSpPr>
        <p:spPr>
          <a:xfrm>
            <a:off x="548640" y="786384"/>
            <a:ext cx="11094415" cy="731520"/>
          </a:xfrm>
          <a:prstGeom prst="rect">
            <a:avLst/>
          </a:prstGeom>
          <a:noFill/>
          <a:ln/>
        </p:spPr>
        <p:txBody>
          <a:bodyPr wrap="square" rtlCol="0"/>
          <a:lstStyle>
            <a:lvl1pPr algn="l" indent="0" marL="0">
              <a:buNone/>
              <a:defRPr lang="en-US" sz="2800" b="1" dirty="0">
                <a:solidFill>
                  <a:srgbClr val="1D2430"/>
                </a:solidFill>
              </a:defRPr>
            </a:lvl1pPr>
          </a:lstStyle>
          <a:p>
            <a:pPr algn="l" indent="0" marL="0">
              <a:buNone/>
            </a:pPr>
            <a:endParaRPr lang="en-US" sz="2800" dirty="0"/>
          </a:p>
        </p:txBody>
      </p:sp>
      <p:sp>
        <p:nvSpPr>
          <p:cNvPr id="7" name="Text 4"/>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6B7280"/>
                </a:solidFill>
              </a:rPr>
              <a:t>스포츠융합산업프로젝트실습 · 중간 프로포절 · 2025 지역사회건강조사 원시자료(성인 231,290명)</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3_DARK">
    <p:bg>
      <p:bgPr>
        <a:solidFill>
          <a:srgbClr val="1D2430"/>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2A3342"/>
          </a:solidFill>
          <a:ln>
            <a:solidFill>
              <a:srgbClr val="2A3342"/>
            </a:solidFill>
          </a:ln>
        </p:spPr>
        <p:txBody>
          <a:bodyPr wrap="square" lIns="0" tIns="0" rIns="0" bIns="0" rtlCol="0" anchor="ctr"/>
          <a:lstStyle/>
          <a:p>
            <a:pPr algn="ctr" indent="0" marL="0">
              <a:buNone/>
            </a:pPr>
            <a:r>
              <a:rPr lang="en-US" sz="1200" dirty="0">
                <a:solidFill>
                  <a:srgbClr val="A9B2C0"/>
                </a:solidFill>
              </a:rPr>
              <a:t>1  무엇을 물었나</a:t>
            </a:r>
            <a:endParaRPr lang="en-US" sz="1200" dirty="0"/>
          </a:p>
        </p:txBody>
      </p:sp>
      <p:sp>
        <p:nvSpPr>
          <p:cNvPr id="3" name="Text 1"/>
          <p:cNvSpPr/>
          <p:nvPr/>
        </p:nvSpPr>
        <p:spPr>
          <a:xfrm>
            <a:off x="2560320" y="292608"/>
            <a:ext cx="1920240" cy="329184"/>
          </a:xfrm>
          <a:prstGeom prst="roundRect">
            <a:avLst>
              <a:gd name="adj" fmla="val 50000"/>
            </a:avLst>
          </a:prstGeom>
          <a:solidFill>
            <a:srgbClr val="2A3342"/>
          </a:solidFill>
          <a:ln>
            <a:solidFill>
              <a:srgbClr val="2A3342"/>
            </a:solidFill>
          </a:ln>
        </p:spPr>
        <p:txBody>
          <a:bodyPr wrap="square" lIns="0" tIns="0" rIns="0" bIns="0" rtlCol="0" anchor="ctr"/>
          <a:lstStyle/>
          <a:p>
            <a:pPr algn="ctr" indent="0" marL="0">
              <a:buNone/>
            </a:pPr>
            <a:r>
              <a:rPr lang="en-US" sz="1200" dirty="0">
                <a:solidFill>
                  <a:srgbClr val="A9B2C0"/>
                </a:solidFill>
              </a:rPr>
              <a:t>2  무엇을 찾았나</a:t>
            </a:r>
            <a:endParaRPr lang="en-US" sz="1200" dirty="0"/>
          </a:p>
        </p:txBody>
      </p:sp>
      <p:sp>
        <p:nvSpPr>
          <p:cNvPr id="4" name="Text 2"/>
          <p:cNvSpPr/>
          <p:nvPr/>
        </p:nvSpPr>
        <p:spPr>
          <a:xfrm>
            <a:off x="4572000" y="292608"/>
            <a:ext cx="1920240"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1D2430"/>
                </a:solidFill>
              </a:rPr>
              <a:t>3  그래서 무엇인가</a:t>
            </a:r>
            <a:endParaRPr lang="en-US"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algn="r" indent="0" marL="0">
              <a:buNone/>
            </a:pPr>
            <a:r>
              <a:rPr lang="en-US" sz="1200" dirty="0">
                <a:solidFill>
                  <a:srgbClr val="A9B2C0"/>
                </a:solidFill>
              </a:rPr>
              <a:t>중간 프로포절</a:t>
            </a:r>
            <a:endParaRPr lang="en-US" sz="1200" dirty="0"/>
          </a:p>
        </p:txBody>
      </p:sp>
      <p:sp>
        <p:nvSpPr>
          <p:cNvPr id="6" name="Text 4"/>
          <p:cNvSpPr/>
          <p:nvPr>
            <p:ph idx="104" type="title" hasCustomPrompt="1"/>
          </p:nvPr>
        </p:nvSpPr>
        <p:spPr>
          <a:xfrm>
            <a:off x="548640" y="786384"/>
            <a:ext cx="11094415" cy="73152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7" name="Text 4"/>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A9B2C0"/>
                </a:solidFill>
              </a:rPr>
              <a:t>스포츠융합산업프로젝트실습 · 중간 프로포절 · 2025 지역사회건강조사 원시자료(성인 231,290명)</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2C0"/>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PPX">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097280" cy="329184"/>
          </a:xfrm>
          <a:prstGeom prst="roundRect">
            <a:avLst>
              <a:gd name="adj" fmla="val 50000"/>
            </a:avLst>
          </a:prstGeom>
          <a:solidFill>
            <a:srgbClr val="F3F5F8"/>
          </a:solidFill>
          <a:ln>
            <a:solidFill>
              <a:srgbClr val="F3F5F8"/>
            </a:solidFill>
          </a:ln>
        </p:spPr>
        <p:txBody>
          <a:bodyPr wrap="square" lIns="0" tIns="0" rIns="0" bIns="0" rtlCol="0" anchor="ctr"/>
          <a:lstStyle/>
          <a:p>
            <a:pPr algn="ctr" indent="0" marL="0">
              <a:buNone/>
            </a:pPr>
            <a:r>
              <a:rPr lang="en-US" sz="1200" b="1" dirty="0">
                <a:solidFill>
                  <a:srgbClr val="5B6472"/>
                </a:solidFill>
              </a:rPr>
              <a:t>부록</a:t>
            </a:r>
            <a:endParaRPr lang="en-US" sz="1200" dirty="0"/>
          </a:p>
        </p:txBody>
      </p:sp>
      <p:sp>
        <p:nvSpPr>
          <p:cNvPr id="3" name="Text 1"/>
          <p:cNvSpPr/>
          <p:nvPr/>
        </p:nvSpPr>
        <p:spPr>
          <a:xfrm>
            <a:off x="8897112" y="292608"/>
            <a:ext cx="2743200" cy="329184"/>
          </a:xfrm>
          <a:prstGeom prst="rect">
            <a:avLst/>
          </a:prstGeom>
          <a:noFill/>
          <a:ln/>
        </p:spPr>
        <p:txBody>
          <a:bodyPr wrap="square" lIns="0" tIns="0" rIns="0" bIns="0" rtlCol="0" anchor="ctr"/>
          <a:lstStyle/>
          <a:p>
            <a:pPr algn="r" indent="0" marL="0">
              <a:buNone/>
            </a:pPr>
            <a:r>
              <a:rPr lang="en-US" sz="1200" dirty="0">
                <a:solidFill>
                  <a:srgbClr val="5B6472"/>
                </a:solidFill>
              </a:rPr>
              <a:t>질의응답 대비 자료</a:t>
            </a:r>
            <a:endParaRPr lang="en-US" sz="1200" dirty="0"/>
          </a:p>
        </p:txBody>
      </p:sp>
      <p:sp>
        <p:nvSpPr>
          <p:cNvPr id="4" name="Text 2"/>
          <p:cNvSpPr/>
          <p:nvPr>
            <p:ph idx="102" type="title" hasCustomPrompt="1"/>
          </p:nvPr>
        </p:nvSpPr>
        <p:spPr>
          <a:xfrm>
            <a:off x="548640" y="786384"/>
            <a:ext cx="11094415" cy="731520"/>
          </a:xfrm>
          <a:prstGeom prst="rect">
            <a:avLst/>
          </a:prstGeom>
          <a:noFill/>
          <a:ln/>
        </p:spPr>
        <p:txBody>
          <a:bodyPr wrap="square" rtlCol="0"/>
          <a:lstStyle>
            <a:lvl1pPr algn="l" indent="0" marL="0">
              <a:buNone/>
              <a:defRPr lang="en-US" sz="2600" b="1" dirty="0">
                <a:solidFill>
                  <a:srgbClr val="1D2430"/>
                </a:solidFill>
              </a:defRPr>
            </a:lvl1pPr>
          </a:lstStyle>
          <a:p>
            <a:pPr algn="l" indent="0" marL="0">
              <a:buNone/>
            </a:pPr>
            <a:endParaRPr lang="en-US" sz="2600" dirty="0"/>
          </a:p>
        </p:txBody>
      </p:sp>
      <p:sp>
        <p:nvSpPr>
          <p:cNvPr id="5" name="Text 2"/>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rgbClr val="6B7280"/>
                </a:solidFill>
              </a:rPr>
              <a:t>스포츠융합산업프로젝트실습 · 중간 프로포절 · 2025 지역사회건강조사 원시자료(성인 231,290명)</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VER">
    <p:bg>
      <p:bgPr>
        <a:solidFill>
          <a:srgbClr val="1D24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685800"/>
            <a:ext cx="9144000" cy="365760"/>
          </a:xfrm>
          <a:prstGeom prst="rect">
            <a:avLst/>
          </a:prstGeom>
          <a:noFill/>
          <a:ln/>
        </p:spPr>
        <p:txBody>
          <a:bodyPr wrap="square" lIns="0" tIns="0" rIns="0" bIns="0" rtlCol="0" anchor="t"/>
          <a:lstStyle/>
          <a:p>
            <a:pPr indent="0" marL="0">
              <a:buNone/>
            </a:pPr>
            <a:r>
              <a:rPr lang="en-US" sz="1500" dirty="0">
                <a:solidFill>
                  <a:srgbClr val="A9B2C0"/>
                </a:solidFill>
              </a:rPr>
              <a:t>스포츠융합산업프로젝트실습 · 중간 프로포절</a:t>
            </a:r>
            <a:endParaRPr lang="en-US" sz="1500" dirty="0"/>
          </a:p>
        </p:txBody>
      </p:sp>
      <p:sp>
        <p:nvSpPr>
          <p:cNvPr id="4" name="Text 1"/>
          <p:cNvSpPr txBox="1"/>
          <p:nvPr/>
        </p:nvSpPr>
        <p:spPr>
          <a:xfrm>
            <a:off x="548640" y="1097280"/>
            <a:ext cx="11094415" cy="1417320"/>
          </a:xfrm>
          <a:prstGeom prst="rect">
            <a:avLst/>
          </a:prstGeom>
          <a:noFill/>
          <a:ln/>
        </p:spPr>
        <p:txBody>
          <a:bodyPr wrap="square" lIns="0" tIns="0" rIns="0" bIns="0" rtlCol="0" anchor="ctr"/>
          <a:lstStyle/>
          <a:p>
            <a:pPr indent="0" marL="0">
              <a:buNone/>
            </a:pPr>
            <a:r>
              <a:rPr lang="en-US" sz="4000" b="1" dirty="0">
                <a:solidFill>
                  <a:srgbClr val="FFFFFF"/>
                </a:solidFill>
              </a:rPr>
              <a:t>한국 성인의 우울 증상,</a:t>
            </a:r>
            <a:endParaRPr lang="en-US" sz="4000" dirty="0"/>
          </a:p>
          <a:p>
            <a:pPr indent="0" marL="0">
              <a:buNone/>
            </a:pPr>
            <a:r>
              <a:rPr lang="en-US" sz="4000" b="1" dirty="0">
                <a:solidFill>
                  <a:srgbClr val="FFFFFF"/>
                </a:solidFill>
              </a:rPr>
              <a:t>여러 영역이 함께 관련된다</a:t>
            </a:r>
            <a:endParaRPr lang="en-US" sz="4000" dirty="0"/>
          </a:p>
        </p:txBody>
      </p:sp>
      <p:sp>
        <p:nvSpPr>
          <p:cNvPr id="5" name="Text 2"/>
          <p:cNvSpPr txBox="1"/>
          <p:nvPr/>
        </p:nvSpPr>
        <p:spPr>
          <a:xfrm>
            <a:off x="548640" y="2651760"/>
            <a:ext cx="11094415" cy="457200"/>
          </a:xfrm>
          <a:prstGeom prst="rect">
            <a:avLst/>
          </a:prstGeom>
          <a:noFill/>
          <a:ln/>
        </p:spPr>
        <p:txBody>
          <a:bodyPr wrap="square" lIns="0" tIns="0" rIns="0" bIns="0" rtlCol="0" anchor="t"/>
          <a:lstStyle/>
          <a:p>
            <a:pPr indent="0" marL="0">
              <a:buNone/>
            </a:pPr>
            <a:r>
              <a:rPr lang="en-US" sz="2000" dirty="0">
                <a:solidFill>
                  <a:srgbClr val="F3F5F8"/>
                </a:solidFill>
              </a:rPr>
              <a:t>2025 지역사회건강조사 성인 231,290명 · 8개 영역 66개 변수 · 머신러닝과 조사설계 회귀</a:t>
            </a:r>
            <a:endParaRPr lang="en-US" sz="2000" dirty="0"/>
          </a:p>
        </p:txBody>
      </p:sp>
      <p:sp>
        <p:nvSpPr>
          <p:cNvPr id="6" name="Shape 3"/>
          <p:cNvSpPr/>
          <p:nvPr/>
        </p:nvSpPr>
        <p:spPr>
          <a:xfrm>
            <a:off x="548640" y="3520440"/>
            <a:ext cx="3383280" cy="1234440"/>
          </a:xfrm>
          <a:prstGeom prst="roundRect">
            <a:avLst>
              <a:gd name="adj" fmla="val 7407"/>
            </a:avLst>
          </a:prstGeom>
          <a:solidFill>
            <a:srgbClr val="2A3342"/>
          </a:solidFill>
          <a:ln w="9525">
            <a:solidFill>
              <a:srgbClr val="2A3342"/>
            </a:solidFill>
            <a:prstDash val="solid"/>
          </a:ln>
        </p:spPr>
      </p:sp>
      <p:sp>
        <p:nvSpPr>
          <p:cNvPr id="7" name="Text 4"/>
          <p:cNvSpPr txBox="1"/>
          <p:nvPr/>
        </p:nvSpPr>
        <p:spPr>
          <a:xfrm>
            <a:off x="868680" y="3767328"/>
            <a:ext cx="384048" cy="384048"/>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400" b="1" dirty="0">
                <a:solidFill>
                  <a:srgbClr val="1D2430"/>
                </a:solidFill>
              </a:rPr>
              <a:t>1</a:t>
            </a:r>
            <a:endParaRPr lang="en-US" sz="1400" dirty="0"/>
          </a:p>
        </p:txBody>
      </p:sp>
      <p:sp>
        <p:nvSpPr>
          <p:cNvPr id="8" name="Text 5"/>
          <p:cNvSpPr txBox="1"/>
          <p:nvPr/>
        </p:nvSpPr>
        <p:spPr>
          <a:xfrm>
            <a:off x="1417320" y="3703320"/>
            <a:ext cx="2377440" cy="411480"/>
          </a:xfrm>
          <a:prstGeom prst="rect">
            <a:avLst/>
          </a:prstGeom>
          <a:noFill/>
          <a:ln/>
        </p:spPr>
        <p:txBody>
          <a:bodyPr wrap="square" lIns="0" tIns="0" rIns="0" bIns="0" rtlCol="0" anchor="t"/>
          <a:lstStyle/>
          <a:p>
            <a:pPr indent="0" marL="0">
              <a:buNone/>
            </a:pPr>
            <a:r>
              <a:rPr lang="en-US" sz="2000" b="1" dirty="0">
                <a:solidFill>
                  <a:srgbClr val="FFFFFF"/>
                </a:solidFill>
              </a:rPr>
              <a:t>무엇을 물었나</a:t>
            </a:r>
            <a:endParaRPr lang="en-US" sz="2000" dirty="0"/>
          </a:p>
        </p:txBody>
      </p:sp>
      <p:sp>
        <p:nvSpPr>
          <p:cNvPr id="9" name="Text 6"/>
          <p:cNvSpPr txBox="1"/>
          <p:nvPr/>
        </p:nvSpPr>
        <p:spPr>
          <a:xfrm>
            <a:off x="1417320" y="4133088"/>
            <a:ext cx="2377440" cy="365760"/>
          </a:xfrm>
          <a:prstGeom prst="rect">
            <a:avLst/>
          </a:prstGeom>
          <a:noFill/>
          <a:ln/>
        </p:spPr>
        <p:txBody>
          <a:bodyPr wrap="square" lIns="0" tIns="0" rIns="0" bIns="0" rtlCol="0" anchor="t"/>
          <a:lstStyle/>
          <a:p>
            <a:pPr indent="0" marL="0">
              <a:buNone/>
            </a:pPr>
            <a:r>
              <a:rPr lang="en-US" sz="1300" dirty="0">
                <a:solidFill>
                  <a:srgbClr val="A9B2C0"/>
                </a:solidFill>
              </a:rPr>
              <a:t>문제 · 데이터 · 설계</a:t>
            </a:r>
            <a:endParaRPr lang="en-US" sz="1300" dirty="0"/>
          </a:p>
        </p:txBody>
      </p:sp>
      <p:sp>
        <p:nvSpPr>
          <p:cNvPr id="10" name="Shape 7"/>
          <p:cNvSpPr/>
          <p:nvPr/>
        </p:nvSpPr>
        <p:spPr>
          <a:xfrm>
            <a:off x="4160520" y="3520440"/>
            <a:ext cx="3383280" cy="1234440"/>
          </a:xfrm>
          <a:prstGeom prst="roundRect">
            <a:avLst>
              <a:gd name="adj" fmla="val 7407"/>
            </a:avLst>
          </a:prstGeom>
          <a:solidFill>
            <a:srgbClr val="2A3342"/>
          </a:solidFill>
          <a:ln w="9525">
            <a:solidFill>
              <a:srgbClr val="2A3342"/>
            </a:solidFill>
            <a:prstDash val="solid"/>
          </a:ln>
        </p:spPr>
      </p:sp>
      <p:sp>
        <p:nvSpPr>
          <p:cNvPr id="11" name="Text 8"/>
          <p:cNvSpPr txBox="1"/>
          <p:nvPr/>
        </p:nvSpPr>
        <p:spPr>
          <a:xfrm>
            <a:off x="4480560" y="3767328"/>
            <a:ext cx="384048" cy="384048"/>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400" b="1" dirty="0">
                <a:solidFill>
                  <a:srgbClr val="1D2430"/>
                </a:solidFill>
              </a:rPr>
              <a:t>2</a:t>
            </a:r>
            <a:endParaRPr lang="en-US" sz="1400" dirty="0"/>
          </a:p>
        </p:txBody>
      </p:sp>
      <p:sp>
        <p:nvSpPr>
          <p:cNvPr id="12" name="Text 9"/>
          <p:cNvSpPr txBox="1"/>
          <p:nvPr/>
        </p:nvSpPr>
        <p:spPr>
          <a:xfrm>
            <a:off x="5029200" y="3703320"/>
            <a:ext cx="2377440" cy="411480"/>
          </a:xfrm>
          <a:prstGeom prst="rect">
            <a:avLst/>
          </a:prstGeom>
          <a:noFill/>
          <a:ln/>
        </p:spPr>
        <p:txBody>
          <a:bodyPr wrap="square" lIns="0" tIns="0" rIns="0" bIns="0" rtlCol="0" anchor="t"/>
          <a:lstStyle/>
          <a:p>
            <a:pPr indent="0" marL="0">
              <a:buNone/>
            </a:pPr>
            <a:r>
              <a:rPr lang="en-US" sz="2000" b="1" dirty="0">
                <a:solidFill>
                  <a:srgbClr val="FFFFFF"/>
                </a:solidFill>
              </a:rPr>
              <a:t>무엇을 찾았나</a:t>
            </a:r>
            <a:endParaRPr lang="en-US" sz="2000" dirty="0"/>
          </a:p>
        </p:txBody>
      </p:sp>
      <p:sp>
        <p:nvSpPr>
          <p:cNvPr id="13" name="Text 10"/>
          <p:cNvSpPr txBox="1"/>
          <p:nvPr/>
        </p:nvSpPr>
        <p:spPr>
          <a:xfrm>
            <a:off x="5029200" y="4133088"/>
            <a:ext cx="2377440" cy="365760"/>
          </a:xfrm>
          <a:prstGeom prst="rect">
            <a:avLst/>
          </a:prstGeom>
          <a:noFill/>
          <a:ln/>
        </p:spPr>
        <p:txBody>
          <a:bodyPr wrap="square" lIns="0" tIns="0" rIns="0" bIns="0" rtlCol="0" anchor="t"/>
          <a:lstStyle/>
          <a:p>
            <a:pPr indent="0" marL="0">
              <a:buNone/>
            </a:pPr>
            <a:r>
              <a:rPr lang="en-US" sz="1300" dirty="0">
                <a:solidFill>
                  <a:srgbClr val="A9B2C0"/>
                </a:solidFill>
              </a:rPr>
              <a:t>영역 · 요인 · 연령 · 생활요인</a:t>
            </a:r>
            <a:endParaRPr lang="en-US" sz="1300" dirty="0"/>
          </a:p>
        </p:txBody>
      </p:sp>
      <p:sp>
        <p:nvSpPr>
          <p:cNvPr id="14" name="Shape 11"/>
          <p:cNvSpPr/>
          <p:nvPr/>
        </p:nvSpPr>
        <p:spPr>
          <a:xfrm>
            <a:off x="7772400" y="3520440"/>
            <a:ext cx="3383280" cy="1234440"/>
          </a:xfrm>
          <a:prstGeom prst="roundRect">
            <a:avLst>
              <a:gd name="adj" fmla="val 7407"/>
            </a:avLst>
          </a:prstGeom>
          <a:solidFill>
            <a:srgbClr val="2A3342"/>
          </a:solidFill>
          <a:ln w="9525">
            <a:solidFill>
              <a:srgbClr val="2A3342"/>
            </a:solidFill>
            <a:prstDash val="solid"/>
          </a:ln>
        </p:spPr>
      </p:sp>
      <p:sp>
        <p:nvSpPr>
          <p:cNvPr id="15" name="Text 12"/>
          <p:cNvSpPr txBox="1"/>
          <p:nvPr/>
        </p:nvSpPr>
        <p:spPr>
          <a:xfrm>
            <a:off x="8092440" y="3767328"/>
            <a:ext cx="384048" cy="384048"/>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400" b="1" dirty="0">
                <a:solidFill>
                  <a:srgbClr val="1D2430"/>
                </a:solidFill>
              </a:rPr>
              <a:t>3</a:t>
            </a:r>
            <a:endParaRPr lang="en-US" sz="1400" dirty="0"/>
          </a:p>
        </p:txBody>
      </p:sp>
      <p:sp>
        <p:nvSpPr>
          <p:cNvPr id="16" name="Text 13"/>
          <p:cNvSpPr txBox="1"/>
          <p:nvPr/>
        </p:nvSpPr>
        <p:spPr>
          <a:xfrm>
            <a:off x="8641080" y="3703320"/>
            <a:ext cx="2377440" cy="411480"/>
          </a:xfrm>
          <a:prstGeom prst="rect">
            <a:avLst/>
          </a:prstGeom>
          <a:noFill/>
          <a:ln/>
        </p:spPr>
        <p:txBody>
          <a:bodyPr wrap="square" lIns="0" tIns="0" rIns="0" bIns="0" rtlCol="0" anchor="t"/>
          <a:lstStyle/>
          <a:p>
            <a:pPr indent="0" marL="0">
              <a:buNone/>
            </a:pPr>
            <a:r>
              <a:rPr lang="en-US" sz="2000" b="1" dirty="0">
                <a:solidFill>
                  <a:srgbClr val="FFFFFF"/>
                </a:solidFill>
              </a:rPr>
              <a:t>그래서 무엇인가</a:t>
            </a:r>
            <a:endParaRPr lang="en-US" sz="2000" dirty="0"/>
          </a:p>
        </p:txBody>
      </p:sp>
      <p:sp>
        <p:nvSpPr>
          <p:cNvPr id="17" name="Text 14"/>
          <p:cNvSpPr txBox="1"/>
          <p:nvPr/>
        </p:nvSpPr>
        <p:spPr>
          <a:xfrm>
            <a:off x="8641080" y="4133088"/>
            <a:ext cx="2377440" cy="365760"/>
          </a:xfrm>
          <a:prstGeom prst="rect">
            <a:avLst/>
          </a:prstGeom>
          <a:noFill/>
          <a:ln/>
        </p:spPr>
        <p:txBody>
          <a:bodyPr wrap="square" lIns="0" tIns="0" rIns="0" bIns="0" rtlCol="0" anchor="t"/>
          <a:lstStyle/>
          <a:p>
            <a:pPr indent="0" marL="0">
              <a:buNone/>
            </a:pPr>
            <a:r>
              <a:rPr lang="en-US" sz="1300" dirty="0">
                <a:solidFill>
                  <a:srgbClr val="A9B2C0"/>
                </a:solidFill>
              </a:rPr>
              <a:t>차별점 · 제언 · 한계</a:t>
            </a:r>
            <a:endParaRPr lang="en-US" sz="1300" dirty="0"/>
          </a:p>
        </p:txBody>
      </p:sp>
      <p:sp>
        <p:nvSpPr>
          <p:cNvPr id="18" name="Text 15"/>
          <p:cNvSpPr txBox="1"/>
          <p:nvPr/>
        </p:nvSpPr>
        <p:spPr>
          <a:xfrm>
            <a:off x="548640" y="5257800"/>
            <a:ext cx="7315200" cy="411480"/>
          </a:xfrm>
          <a:prstGeom prst="rect">
            <a:avLst/>
          </a:prstGeom>
          <a:noFill/>
          <a:ln/>
        </p:spPr>
        <p:txBody>
          <a:bodyPr wrap="square" lIns="0" tIns="0" rIns="0" bIns="0" rtlCol="0" anchor="t"/>
          <a:lstStyle/>
          <a:p>
            <a:pPr indent="0" marL="0">
              <a:buNone/>
            </a:pPr>
            <a:r>
              <a:rPr lang="en-US" sz="1800" b="1" dirty="0">
                <a:solidFill>
                  <a:srgbClr val="FFFFFF"/>
                </a:solidFill>
              </a:rPr>
              <a:t>[팀명]   </a:t>
            </a:r>
            <a:pPr indent="0" marL="0">
              <a:buNone/>
            </a:pPr>
            <a:r>
              <a:rPr lang="en-US" sz="1800" dirty="0">
                <a:solidFill>
                  <a:srgbClr val="F3F5F8"/>
                </a:solidFill>
              </a:rPr>
              <a:t>[발표자]</a:t>
            </a:r>
            <a:endParaRPr lang="en-US" sz="1800" dirty="0"/>
          </a:p>
        </p:txBody>
      </p:sp>
      <p:sp>
        <p:nvSpPr>
          <p:cNvPr id="19" name="Text 16"/>
          <p:cNvSpPr txBox="1"/>
          <p:nvPr/>
        </p:nvSpPr>
        <p:spPr>
          <a:xfrm>
            <a:off x="548640" y="5989320"/>
            <a:ext cx="11094415" cy="320040"/>
          </a:xfrm>
          <a:prstGeom prst="rect">
            <a:avLst/>
          </a:prstGeom>
          <a:noFill/>
          <a:ln/>
        </p:spPr>
        <p:txBody>
          <a:bodyPr wrap="square" lIns="0" tIns="0" rIns="0" bIns="0" rtlCol="0" anchor="t"/>
          <a:lstStyle/>
          <a:p>
            <a:pPr indent="0" marL="0">
              <a:buNone/>
            </a:pPr>
            <a:r>
              <a:rPr lang="en-US" sz="1100" dirty="0">
                <a:solidFill>
                  <a:srgbClr val="A9B2C0"/>
                </a:solidFill>
              </a:rPr>
              <a:t>결과는 횡단면 자료의 관련성이며 인과 효과가 아닙니다. PHQ-9 10점 이상은 임상 진단이 아니라 우울 증상 기준 충족입니다.</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우울은 한 가지 원인으로 설명되지 않는다</a:t>
            </a:r>
            <a:endParaRPr lang="en-US" sz="2800" dirty="0"/>
          </a:p>
        </p:txBody>
      </p:sp>
      <p:sp>
        <p:nvSpPr>
          <p:cNvPr id="4" name="Shape 1"/>
          <p:cNvSpPr/>
          <p:nvPr/>
        </p:nvSpPr>
        <p:spPr>
          <a:xfrm>
            <a:off x="548640" y="1737360"/>
            <a:ext cx="5486400" cy="1783080"/>
          </a:xfrm>
          <a:prstGeom prst="roundRect">
            <a:avLst>
              <a:gd name="adj" fmla="val 5128"/>
            </a:avLst>
          </a:prstGeom>
          <a:solidFill>
            <a:srgbClr val="F3F5F8"/>
          </a:solidFill>
          <a:ln w="9525">
            <a:solidFill>
              <a:srgbClr val="F3F5F8"/>
            </a:solidFill>
            <a:prstDash val="solid"/>
          </a:ln>
        </p:spPr>
      </p:sp>
      <p:sp>
        <p:nvSpPr>
          <p:cNvPr id="5" name="Text 2"/>
          <p:cNvSpPr txBox="1"/>
          <p:nvPr/>
        </p:nvSpPr>
        <p:spPr>
          <a:xfrm>
            <a:off x="777240" y="1874520"/>
            <a:ext cx="2743200" cy="274320"/>
          </a:xfrm>
          <a:prstGeom prst="rect">
            <a:avLst/>
          </a:prstGeom>
          <a:noFill/>
          <a:ln/>
        </p:spPr>
        <p:txBody>
          <a:bodyPr wrap="square" lIns="0" tIns="0" rIns="0" bIns="0" rtlCol="0" anchor="t"/>
          <a:lstStyle/>
          <a:p>
            <a:pPr indent="0" marL="0">
              <a:buNone/>
            </a:pPr>
            <a:r>
              <a:rPr lang="en-US" sz="1200" b="1" dirty="0">
                <a:solidFill>
                  <a:srgbClr val="5B6472"/>
                </a:solidFill>
              </a:rPr>
              <a:t>출발점</a:t>
            </a:r>
            <a:endParaRPr lang="en-US" sz="1200" dirty="0"/>
          </a:p>
        </p:txBody>
      </p:sp>
      <p:sp>
        <p:nvSpPr>
          <p:cNvPr id="6" name="Text 3"/>
          <p:cNvSpPr txBox="1"/>
          <p:nvPr/>
        </p:nvSpPr>
        <p:spPr>
          <a:xfrm>
            <a:off x="777240" y="2240280"/>
            <a:ext cx="1280160" cy="320040"/>
          </a:xfrm>
          <a:prstGeom prst="rect">
            <a:avLst/>
          </a:prstGeom>
          <a:noFill/>
          <a:ln/>
        </p:spPr>
        <p:txBody>
          <a:bodyPr wrap="square" lIns="0" tIns="0" rIns="0" bIns="0" rtlCol="0" anchor="t"/>
          <a:lstStyle/>
          <a:p>
            <a:pPr indent="0" marL="0">
              <a:buNone/>
            </a:pPr>
            <a:r>
              <a:rPr lang="en-US" sz="1400" b="1" dirty="0">
                <a:solidFill>
                  <a:srgbClr val="5B6472"/>
                </a:solidFill>
              </a:rPr>
              <a:t>1차 연구</a:t>
            </a:r>
            <a:endParaRPr lang="en-US" sz="1400" dirty="0"/>
          </a:p>
        </p:txBody>
      </p:sp>
      <p:sp>
        <p:nvSpPr>
          <p:cNvPr id="7" name="Text 4"/>
          <p:cNvSpPr txBox="1"/>
          <p:nvPr/>
        </p:nvSpPr>
        <p:spPr>
          <a:xfrm>
            <a:off x="2103120" y="2240280"/>
            <a:ext cx="3840480" cy="320040"/>
          </a:xfrm>
          <a:prstGeom prst="rect">
            <a:avLst/>
          </a:prstGeom>
          <a:noFill/>
          <a:ln/>
        </p:spPr>
        <p:txBody>
          <a:bodyPr wrap="square" lIns="0" tIns="0" rIns="0" bIns="0" rtlCol="0" anchor="t"/>
          <a:lstStyle/>
          <a:p>
            <a:pPr indent="0" marL="0">
              <a:buNone/>
            </a:pPr>
            <a:r>
              <a:rPr lang="en-US" sz="1400" dirty="0">
                <a:solidFill>
                  <a:srgbClr val="1D2430"/>
                </a:solidFill>
              </a:rPr>
              <a:t>걷기·근력운동 조합 × 친구 연락</a:t>
            </a:r>
            <a:endParaRPr lang="en-US" sz="1400" dirty="0"/>
          </a:p>
        </p:txBody>
      </p:sp>
      <p:sp>
        <p:nvSpPr>
          <p:cNvPr id="8" name="Text 5"/>
          <p:cNvSpPr txBox="1"/>
          <p:nvPr/>
        </p:nvSpPr>
        <p:spPr>
          <a:xfrm>
            <a:off x="777240" y="2624328"/>
            <a:ext cx="1280160" cy="320040"/>
          </a:xfrm>
          <a:prstGeom prst="rect">
            <a:avLst/>
          </a:prstGeom>
          <a:noFill/>
          <a:ln/>
        </p:spPr>
        <p:txBody>
          <a:bodyPr wrap="square" lIns="0" tIns="0" rIns="0" bIns="0" rtlCol="0" anchor="t"/>
          <a:lstStyle/>
          <a:p>
            <a:pPr indent="0" marL="0">
              <a:buNone/>
            </a:pPr>
            <a:r>
              <a:rPr lang="en-US" sz="1400" b="1" dirty="0">
                <a:solidFill>
                  <a:srgbClr val="5B6472"/>
                </a:solidFill>
              </a:rPr>
              <a:t>교수 피드백</a:t>
            </a:r>
            <a:endParaRPr lang="en-US" sz="1400" dirty="0"/>
          </a:p>
        </p:txBody>
      </p:sp>
      <p:sp>
        <p:nvSpPr>
          <p:cNvPr id="9" name="Text 6"/>
          <p:cNvSpPr txBox="1"/>
          <p:nvPr/>
        </p:nvSpPr>
        <p:spPr>
          <a:xfrm>
            <a:off x="2103120" y="2624328"/>
            <a:ext cx="3840480" cy="320040"/>
          </a:xfrm>
          <a:prstGeom prst="rect">
            <a:avLst/>
          </a:prstGeom>
          <a:noFill/>
          <a:ln/>
        </p:spPr>
        <p:txBody>
          <a:bodyPr wrap="square" lIns="0" tIns="0" rIns="0" bIns="0" rtlCol="0" anchor="t"/>
          <a:lstStyle/>
          <a:p>
            <a:pPr indent="0" marL="0">
              <a:buNone/>
            </a:pPr>
            <a:r>
              <a:rPr lang="en-US" sz="1400" dirty="0">
                <a:solidFill>
                  <a:srgbClr val="1D2430"/>
                </a:solidFill>
              </a:rPr>
              <a:t>심리·신체·사회·경제·환경의 복합적 시각</a:t>
            </a:r>
            <a:endParaRPr lang="en-US" sz="1400" dirty="0"/>
          </a:p>
        </p:txBody>
      </p:sp>
      <p:sp>
        <p:nvSpPr>
          <p:cNvPr id="10" name="Text 7"/>
          <p:cNvSpPr txBox="1"/>
          <p:nvPr/>
        </p:nvSpPr>
        <p:spPr>
          <a:xfrm>
            <a:off x="777240" y="3008376"/>
            <a:ext cx="1280160" cy="320040"/>
          </a:xfrm>
          <a:prstGeom prst="rect">
            <a:avLst/>
          </a:prstGeom>
          <a:noFill/>
          <a:ln/>
        </p:spPr>
        <p:txBody>
          <a:bodyPr wrap="square" lIns="0" tIns="0" rIns="0" bIns="0" rtlCol="0" anchor="t"/>
          <a:lstStyle/>
          <a:p>
            <a:pPr indent="0" marL="0">
              <a:buNone/>
            </a:pPr>
            <a:r>
              <a:rPr lang="en-US" sz="1400" b="1" dirty="0">
                <a:solidFill>
                  <a:srgbClr val="5B6472"/>
                </a:solidFill>
              </a:rPr>
              <a:t>2차 방향</a:t>
            </a:r>
            <a:endParaRPr lang="en-US" sz="1400" dirty="0"/>
          </a:p>
        </p:txBody>
      </p:sp>
      <p:sp>
        <p:nvSpPr>
          <p:cNvPr id="11" name="Text 8"/>
          <p:cNvSpPr txBox="1"/>
          <p:nvPr/>
        </p:nvSpPr>
        <p:spPr>
          <a:xfrm>
            <a:off x="2103120" y="3008376"/>
            <a:ext cx="3840480" cy="320040"/>
          </a:xfrm>
          <a:prstGeom prst="rect">
            <a:avLst/>
          </a:prstGeom>
          <a:noFill/>
          <a:ln/>
        </p:spPr>
        <p:txBody>
          <a:bodyPr wrap="square" lIns="0" tIns="0" rIns="0" bIns="0" rtlCol="0" anchor="t"/>
          <a:lstStyle/>
          <a:p>
            <a:pPr indent="0" marL="0">
              <a:buNone/>
            </a:pPr>
            <a:r>
              <a:rPr lang="en-US" sz="1400" dirty="0">
                <a:solidFill>
                  <a:srgbClr val="1D2430"/>
                </a:solidFill>
              </a:rPr>
              <a:t>8개 영역 66개 변수를 한 번에 비교</a:t>
            </a:r>
            <a:endParaRPr lang="en-US" sz="1400" dirty="0"/>
          </a:p>
        </p:txBody>
      </p:sp>
      <p:sp>
        <p:nvSpPr>
          <p:cNvPr id="12" name="Shape 9"/>
          <p:cNvSpPr/>
          <p:nvPr/>
        </p:nvSpPr>
        <p:spPr>
          <a:xfrm>
            <a:off x="548640" y="3703320"/>
            <a:ext cx="2651760" cy="1828800"/>
          </a:xfrm>
          <a:prstGeom prst="roundRect">
            <a:avLst>
              <a:gd name="adj" fmla="val 5000"/>
            </a:avLst>
          </a:prstGeom>
          <a:solidFill>
            <a:srgbClr val="E3ECFB"/>
          </a:solidFill>
          <a:ln w="9525">
            <a:solidFill>
              <a:srgbClr val="E3ECFB"/>
            </a:solidFill>
            <a:prstDash val="solid"/>
          </a:ln>
        </p:spPr>
      </p:sp>
      <p:sp>
        <p:nvSpPr>
          <p:cNvPr id="13" name="Text 10"/>
          <p:cNvSpPr txBox="1"/>
          <p:nvPr/>
        </p:nvSpPr>
        <p:spPr>
          <a:xfrm>
            <a:off x="777240" y="3886200"/>
            <a:ext cx="1143000" cy="292608"/>
          </a:xfrm>
          <a:prstGeom prst="roundRect">
            <a:avLst>
              <a:gd name="adj" fmla="val 46875"/>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2F5FB3"/>
                </a:solidFill>
              </a:rPr>
              <a:t>분석 대상</a:t>
            </a:r>
            <a:endParaRPr lang="en-US" sz="1200" dirty="0"/>
          </a:p>
        </p:txBody>
      </p:sp>
      <p:sp>
        <p:nvSpPr>
          <p:cNvPr id="14" name="Text 11"/>
          <p:cNvSpPr txBox="1"/>
          <p:nvPr/>
        </p:nvSpPr>
        <p:spPr>
          <a:xfrm>
            <a:off x="777240" y="4343400"/>
            <a:ext cx="2286000" cy="594360"/>
          </a:xfrm>
          <a:prstGeom prst="rect">
            <a:avLst/>
          </a:prstGeom>
          <a:noFill/>
          <a:ln/>
        </p:spPr>
        <p:txBody>
          <a:bodyPr wrap="square" lIns="0" tIns="0" rIns="0" bIns="0" rtlCol="0" anchor="t"/>
          <a:lstStyle/>
          <a:p>
            <a:pPr indent="0" marL="0">
              <a:buNone/>
            </a:pPr>
            <a:r>
              <a:rPr lang="en-US" sz="3000" b="1" dirty="0">
                <a:solidFill>
                  <a:srgbClr val="2F5FB3"/>
                </a:solidFill>
              </a:rPr>
              <a:t>231,290</a:t>
            </a:r>
            <a:endParaRPr lang="en-US" sz="3000" dirty="0"/>
          </a:p>
        </p:txBody>
      </p:sp>
      <p:sp>
        <p:nvSpPr>
          <p:cNvPr id="15" name="Text 12"/>
          <p:cNvSpPr txBox="1"/>
          <p:nvPr/>
        </p:nvSpPr>
        <p:spPr>
          <a:xfrm>
            <a:off x="777240" y="4983480"/>
            <a:ext cx="2286000" cy="365760"/>
          </a:xfrm>
          <a:prstGeom prst="rect">
            <a:avLst/>
          </a:prstGeom>
          <a:noFill/>
          <a:ln/>
        </p:spPr>
        <p:txBody>
          <a:bodyPr wrap="square" lIns="0" tIns="0" rIns="0" bIns="0" rtlCol="0" anchor="t"/>
          <a:lstStyle/>
          <a:p>
            <a:pPr indent="0" marL="0">
              <a:buNone/>
            </a:pPr>
            <a:r>
              <a:rPr lang="en-US" sz="1200" dirty="0">
                <a:solidFill>
                  <a:srgbClr val="5B6472"/>
                </a:solidFill>
              </a:rPr>
              <a:t>명 · 만 19세 이상 성인</a:t>
            </a:r>
            <a:endParaRPr lang="en-US" sz="1200" dirty="0"/>
          </a:p>
        </p:txBody>
      </p:sp>
      <p:sp>
        <p:nvSpPr>
          <p:cNvPr id="16" name="Shape 13"/>
          <p:cNvSpPr/>
          <p:nvPr/>
        </p:nvSpPr>
        <p:spPr>
          <a:xfrm>
            <a:off x="3383280" y="3703320"/>
            <a:ext cx="2651760" cy="1828800"/>
          </a:xfrm>
          <a:prstGeom prst="roundRect">
            <a:avLst>
              <a:gd name="adj" fmla="val 5000"/>
            </a:avLst>
          </a:prstGeom>
          <a:solidFill>
            <a:srgbClr val="DDF3E8"/>
          </a:solidFill>
          <a:ln w="9525">
            <a:solidFill>
              <a:srgbClr val="DDF3E8"/>
            </a:solidFill>
            <a:prstDash val="solid"/>
          </a:ln>
        </p:spPr>
      </p:sp>
      <p:sp>
        <p:nvSpPr>
          <p:cNvPr id="17" name="Text 14"/>
          <p:cNvSpPr txBox="1"/>
          <p:nvPr/>
        </p:nvSpPr>
        <p:spPr>
          <a:xfrm>
            <a:off x="3611880" y="3886200"/>
            <a:ext cx="2075688" cy="292608"/>
          </a:xfrm>
          <a:prstGeom prst="roundRect">
            <a:avLst>
              <a:gd name="adj" fmla="val 46875"/>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1F8A5B"/>
                </a:solidFill>
              </a:rPr>
              <a:t>우울 증상 기준 충족</a:t>
            </a:r>
            <a:endParaRPr lang="en-US" sz="1200" dirty="0"/>
          </a:p>
        </p:txBody>
      </p:sp>
      <p:sp>
        <p:nvSpPr>
          <p:cNvPr id="18" name="Text 15"/>
          <p:cNvSpPr txBox="1"/>
          <p:nvPr/>
        </p:nvSpPr>
        <p:spPr>
          <a:xfrm>
            <a:off x="3611880" y="4343400"/>
            <a:ext cx="2286000" cy="594360"/>
          </a:xfrm>
          <a:prstGeom prst="rect">
            <a:avLst/>
          </a:prstGeom>
          <a:noFill/>
          <a:ln/>
        </p:spPr>
        <p:txBody>
          <a:bodyPr wrap="square" lIns="0" tIns="0" rIns="0" bIns="0" rtlCol="0" anchor="t"/>
          <a:lstStyle/>
          <a:p>
            <a:pPr indent="0" marL="0">
              <a:buNone/>
            </a:pPr>
            <a:r>
              <a:rPr lang="en-US" sz="3000" b="1" dirty="0">
                <a:solidFill>
                  <a:srgbClr val="1F8A5B"/>
                </a:solidFill>
              </a:rPr>
              <a:t>3.76%</a:t>
            </a:r>
            <a:endParaRPr lang="en-US" sz="3000" dirty="0"/>
          </a:p>
        </p:txBody>
      </p:sp>
      <p:sp>
        <p:nvSpPr>
          <p:cNvPr id="19" name="Text 16"/>
          <p:cNvSpPr txBox="1"/>
          <p:nvPr/>
        </p:nvSpPr>
        <p:spPr>
          <a:xfrm>
            <a:off x="3611880" y="4983480"/>
            <a:ext cx="2286000" cy="365760"/>
          </a:xfrm>
          <a:prstGeom prst="rect">
            <a:avLst/>
          </a:prstGeom>
          <a:noFill/>
          <a:ln/>
        </p:spPr>
        <p:txBody>
          <a:bodyPr wrap="square" lIns="0" tIns="0" rIns="0" bIns="0" rtlCol="0" anchor="t"/>
          <a:lstStyle/>
          <a:p>
            <a:pPr indent="0" marL="0">
              <a:buNone/>
            </a:pPr>
            <a:r>
              <a:rPr lang="en-US" sz="1200" dirty="0">
                <a:solidFill>
                  <a:srgbClr val="5B6472"/>
                </a:solidFill>
              </a:rPr>
              <a:t>가중 · PHQ-9 10점 이상</a:t>
            </a:r>
            <a:endParaRPr lang="en-US" sz="1200" dirty="0"/>
          </a:p>
        </p:txBody>
      </p:sp>
      <p:sp>
        <p:nvSpPr>
          <p:cNvPr id="20" name="Shape 17"/>
          <p:cNvSpPr/>
          <p:nvPr/>
        </p:nvSpPr>
        <p:spPr>
          <a:xfrm>
            <a:off x="6263640" y="1737360"/>
            <a:ext cx="5376672" cy="2651760"/>
          </a:xfrm>
          <a:prstGeom prst="roundRect">
            <a:avLst>
              <a:gd name="adj" fmla="val 3448"/>
            </a:avLst>
          </a:prstGeom>
          <a:solidFill>
            <a:srgbClr val="FFFFFF"/>
          </a:solidFill>
          <a:ln w="15875">
            <a:solidFill>
              <a:srgbClr val="E3E6EA"/>
            </a:solidFill>
            <a:prstDash val="solid"/>
          </a:ln>
        </p:spPr>
      </p:sp>
      <p:sp>
        <p:nvSpPr>
          <p:cNvPr id="21" name="Text 18"/>
          <p:cNvSpPr txBox="1"/>
          <p:nvPr/>
        </p:nvSpPr>
        <p:spPr>
          <a:xfrm>
            <a:off x="6492240" y="1874520"/>
            <a:ext cx="2743200" cy="274320"/>
          </a:xfrm>
          <a:prstGeom prst="rect">
            <a:avLst/>
          </a:prstGeom>
          <a:noFill/>
          <a:ln/>
        </p:spPr>
        <p:txBody>
          <a:bodyPr wrap="square" lIns="0" tIns="0" rIns="0" bIns="0" rtlCol="0" anchor="t"/>
          <a:lstStyle/>
          <a:p>
            <a:pPr indent="0" marL="0">
              <a:buNone/>
            </a:pPr>
            <a:r>
              <a:rPr lang="en-US" sz="1200" b="1" dirty="0">
                <a:solidFill>
                  <a:srgbClr val="5B6472"/>
                </a:solidFill>
              </a:rPr>
              <a:t>연구 질문</a:t>
            </a:r>
            <a:endParaRPr lang="en-US" sz="1200" dirty="0"/>
          </a:p>
        </p:txBody>
      </p:sp>
      <p:sp>
        <p:nvSpPr>
          <p:cNvPr id="22" name="Text 19"/>
          <p:cNvSpPr txBox="1"/>
          <p:nvPr/>
        </p:nvSpPr>
        <p:spPr>
          <a:xfrm>
            <a:off x="6492240" y="2286000"/>
            <a:ext cx="329184" cy="329184"/>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3" name="Text 20"/>
          <p:cNvSpPr txBox="1"/>
          <p:nvPr/>
        </p:nvSpPr>
        <p:spPr>
          <a:xfrm>
            <a:off x="6949440" y="2286000"/>
            <a:ext cx="4572000" cy="329184"/>
          </a:xfrm>
          <a:prstGeom prst="rect">
            <a:avLst/>
          </a:prstGeom>
          <a:noFill/>
          <a:ln/>
        </p:spPr>
        <p:txBody>
          <a:bodyPr wrap="square" lIns="0" tIns="0" rIns="0" bIns="0" rtlCol="0" anchor="ctr"/>
          <a:lstStyle/>
          <a:p>
            <a:pPr indent="0" marL="0">
              <a:buNone/>
            </a:pPr>
            <a:r>
              <a:rPr lang="en-US" sz="1500" b="1" dirty="0">
                <a:solidFill>
                  <a:srgbClr val="1D2430"/>
                </a:solidFill>
              </a:rPr>
              <a:t>어떤 영역·요인이 우울과 가장 관련되는가</a:t>
            </a:r>
            <a:endParaRPr lang="en-US" sz="1500" dirty="0"/>
          </a:p>
        </p:txBody>
      </p:sp>
      <p:sp>
        <p:nvSpPr>
          <p:cNvPr id="24" name="Text 21"/>
          <p:cNvSpPr txBox="1"/>
          <p:nvPr/>
        </p:nvSpPr>
        <p:spPr>
          <a:xfrm>
            <a:off x="6492240" y="2788920"/>
            <a:ext cx="329184" cy="329184"/>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5" name="Text 22"/>
          <p:cNvSpPr txBox="1"/>
          <p:nvPr/>
        </p:nvSpPr>
        <p:spPr>
          <a:xfrm>
            <a:off x="6949440" y="2788920"/>
            <a:ext cx="4572000" cy="329184"/>
          </a:xfrm>
          <a:prstGeom prst="rect">
            <a:avLst/>
          </a:prstGeom>
          <a:noFill/>
          <a:ln/>
        </p:spPr>
        <p:txBody>
          <a:bodyPr wrap="square" lIns="0" tIns="0" rIns="0" bIns="0" rtlCol="0" anchor="ctr"/>
          <a:lstStyle/>
          <a:p>
            <a:pPr indent="0" marL="0">
              <a:buNone/>
            </a:pPr>
            <a:r>
              <a:rPr lang="en-US" sz="1500" b="1" dirty="0">
                <a:solidFill>
                  <a:srgbClr val="1D2430"/>
                </a:solidFill>
              </a:rPr>
              <a:t>그중 바꿀 수 있는 요인은 무엇인가</a:t>
            </a:r>
            <a:endParaRPr lang="en-US" sz="1500" dirty="0"/>
          </a:p>
        </p:txBody>
      </p:sp>
      <p:sp>
        <p:nvSpPr>
          <p:cNvPr id="26" name="Text 23"/>
          <p:cNvSpPr txBox="1"/>
          <p:nvPr/>
        </p:nvSpPr>
        <p:spPr>
          <a:xfrm>
            <a:off x="6492240" y="3291840"/>
            <a:ext cx="329184" cy="329184"/>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7" name="Text 24"/>
          <p:cNvSpPr txBox="1"/>
          <p:nvPr/>
        </p:nvSpPr>
        <p:spPr>
          <a:xfrm>
            <a:off x="6949440" y="3291840"/>
            <a:ext cx="4572000" cy="329184"/>
          </a:xfrm>
          <a:prstGeom prst="rect">
            <a:avLst/>
          </a:prstGeom>
          <a:noFill/>
          <a:ln/>
        </p:spPr>
        <p:txBody>
          <a:bodyPr wrap="square" lIns="0" tIns="0" rIns="0" bIns="0" rtlCol="0" anchor="ctr"/>
          <a:lstStyle/>
          <a:p>
            <a:pPr indent="0" marL="0">
              <a:buNone/>
            </a:pPr>
            <a:r>
              <a:rPr lang="en-US" sz="1500" b="1" dirty="0">
                <a:solidFill>
                  <a:srgbClr val="1D2430"/>
                </a:solidFill>
              </a:rPr>
              <a:t>신체활동과 함께할 때 유리한 생활요인은</a:t>
            </a:r>
            <a:endParaRPr lang="en-US" sz="1500" dirty="0"/>
          </a:p>
        </p:txBody>
      </p:sp>
      <p:sp>
        <p:nvSpPr>
          <p:cNvPr id="28" name="Text 25"/>
          <p:cNvSpPr txBox="1"/>
          <p:nvPr/>
        </p:nvSpPr>
        <p:spPr>
          <a:xfrm>
            <a:off x="6492240" y="3794760"/>
            <a:ext cx="329184" cy="329184"/>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9" name="Text 26"/>
          <p:cNvSpPr txBox="1"/>
          <p:nvPr/>
        </p:nvSpPr>
        <p:spPr>
          <a:xfrm>
            <a:off x="6949440" y="3794760"/>
            <a:ext cx="4572000" cy="329184"/>
          </a:xfrm>
          <a:prstGeom prst="rect">
            <a:avLst/>
          </a:prstGeom>
          <a:noFill/>
          <a:ln/>
        </p:spPr>
        <p:txBody>
          <a:bodyPr wrap="square" lIns="0" tIns="0" rIns="0" bIns="0" rtlCol="0" anchor="ctr"/>
          <a:lstStyle/>
          <a:p>
            <a:pPr indent="0" marL="0">
              <a:buNone/>
            </a:pPr>
            <a:r>
              <a:rPr lang="en-US" sz="1500" b="1" dirty="0">
                <a:solidFill>
                  <a:srgbClr val="1D2430"/>
                </a:solidFill>
              </a:rPr>
              <a:t>연령대마다 핵심 영역이 다른가</a:t>
            </a:r>
            <a:endParaRPr lang="en-US" sz="1500" dirty="0"/>
          </a:p>
        </p:txBody>
      </p:sp>
      <p:sp>
        <p:nvSpPr>
          <p:cNvPr id="30" name="Shape 27"/>
          <p:cNvSpPr/>
          <p:nvPr/>
        </p:nvSpPr>
        <p:spPr>
          <a:xfrm>
            <a:off x="6263640" y="4526280"/>
            <a:ext cx="5376672" cy="1005840"/>
          </a:xfrm>
          <a:prstGeom prst="roundRect">
            <a:avLst>
              <a:gd name="adj" fmla="val 9091"/>
            </a:avLst>
          </a:prstGeom>
          <a:solidFill>
            <a:srgbClr val="FDEBC8"/>
          </a:solidFill>
          <a:ln w="9525">
            <a:solidFill>
              <a:srgbClr val="FDEBC8"/>
            </a:solidFill>
            <a:prstDash val="solid"/>
          </a:ln>
        </p:spPr>
      </p:sp>
      <p:sp>
        <p:nvSpPr>
          <p:cNvPr id="31" name="Text 28"/>
          <p:cNvSpPr txBox="1"/>
          <p:nvPr/>
        </p:nvSpPr>
        <p:spPr>
          <a:xfrm>
            <a:off x="6492240" y="4617720"/>
            <a:ext cx="3657600" cy="274320"/>
          </a:xfrm>
          <a:prstGeom prst="rect">
            <a:avLst/>
          </a:prstGeom>
          <a:noFill/>
          <a:ln/>
        </p:spPr>
        <p:txBody>
          <a:bodyPr wrap="square" lIns="0" tIns="0" rIns="0" bIns="0" rtlCol="0" anchor="t"/>
          <a:lstStyle/>
          <a:p>
            <a:pPr indent="0" marL="0">
              <a:buNone/>
            </a:pPr>
            <a:r>
              <a:rPr lang="en-US" sz="1200" b="1" dirty="0">
                <a:solidFill>
                  <a:srgbClr val="A86400"/>
                </a:solidFill>
              </a:rPr>
              <a:t>미리 정한 원칙</a:t>
            </a:r>
            <a:endParaRPr lang="en-US" sz="1200" dirty="0"/>
          </a:p>
        </p:txBody>
      </p:sp>
      <p:sp>
        <p:nvSpPr>
          <p:cNvPr id="32" name="Text 29"/>
          <p:cNvSpPr txBox="1"/>
          <p:nvPr/>
        </p:nvSpPr>
        <p:spPr>
          <a:xfrm>
            <a:off x="6492240" y="4919472"/>
            <a:ext cx="4983480" cy="548640"/>
          </a:xfrm>
          <a:prstGeom prst="rect">
            <a:avLst/>
          </a:prstGeom>
          <a:noFill/>
          <a:ln/>
        </p:spPr>
        <p:txBody>
          <a:bodyPr wrap="square" lIns="0" tIns="0" rIns="0" bIns="0" rtlCol="0" anchor="t"/>
          <a:lstStyle/>
          <a:p>
            <a:pPr indent="0" marL="0">
              <a:buNone/>
            </a:pPr>
            <a:r>
              <a:rPr lang="en-US" sz="1300" dirty="0">
                <a:solidFill>
                  <a:srgbClr val="1D2430"/>
                </a:solidFill>
              </a:rPr>
              <a:t>PHQ-9와 겹치는 증상근접 변수는 주 분석에서 분리하고, 결과는 인과가 아닌 관련성으로 서술한다</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조사 201개 변수에서 8개 영역 66개 분석 변수를 골랐다</a:t>
            </a:r>
            <a:endParaRPr lang="en-US" sz="2800" dirty="0"/>
          </a:p>
        </p:txBody>
      </p:sp>
      <p:sp>
        <p:nvSpPr>
          <p:cNvPr id="4" name="Shape 1"/>
          <p:cNvSpPr/>
          <p:nvPr/>
        </p:nvSpPr>
        <p:spPr>
          <a:xfrm>
            <a:off x="548640" y="1783080"/>
            <a:ext cx="2468880" cy="1600200"/>
          </a:xfrm>
          <a:prstGeom prst="roundRect">
            <a:avLst>
              <a:gd name="adj" fmla="val 5714"/>
            </a:avLst>
          </a:prstGeom>
          <a:solidFill>
            <a:srgbClr val="F3F5F8"/>
          </a:solidFill>
          <a:ln w="9525">
            <a:solidFill>
              <a:srgbClr val="F3F5F8"/>
            </a:solidFill>
            <a:prstDash val="solid"/>
          </a:ln>
        </p:spPr>
      </p:sp>
      <p:sp>
        <p:nvSpPr>
          <p:cNvPr id="5" name="Text 2"/>
          <p:cNvSpPr txBox="1"/>
          <p:nvPr/>
        </p:nvSpPr>
        <p:spPr>
          <a:xfrm>
            <a:off x="777240" y="1965960"/>
            <a:ext cx="2103120" cy="685800"/>
          </a:xfrm>
          <a:prstGeom prst="rect">
            <a:avLst/>
          </a:prstGeom>
          <a:noFill/>
          <a:ln/>
        </p:spPr>
        <p:txBody>
          <a:bodyPr wrap="square" lIns="0" tIns="0" rIns="0" bIns="0" rtlCol="0" anchor="b"/>
          <a:lstStyle/>
          <a:p>
            <a:pPr indent="0" marL="0">
              <a:buNone/>
            </a:pPr>
            <a:r>
              <a:rPr lang="en-US" sz="3400" b="1" dirty="0">
                <a:solidFill>
                  <a:srgbClr val="1D2430"/>
                </a:solidFill>
              </a:rPr>
              <a:t>201</a:t>
            </a:r>
            <a:pPr indent="0" marL="0">
              <a:buNone/>
            </a:pPr>
            <a:r>
              <a:rPr lang="en-US" sz="1500" b="1" dirty="0">
                <a:solidFill>
                  <a:srgbClr val="1D2430"/>
                </a:solidFill>
              </a:rPr>
              <a:t> 개 원시변수</a:t>
            </a:r>
            <a:endParaRPr lang="en-US" sz="1400" dirty="0"/>
          </a:p>
        </p:txBody>
      </p:sp>
      <p:sp>
        <p:nvSpPr>
          <p:cNvPr id="6" name="Text 3"/>
          <p:cNvSpPr txBox="1"/>
          <p:nvPr/>
        </p:nvSpPr>
        <p:spPr>
          <a:xfrm>
            <a:off x="777240" y="2743200"/>
            <a:ext cx="2103120" cy="457200"/>
          </a:xfrm>
          <a:prstGeom prst="rect">
            <a:avLst/>
          </a:prstGeom>
          <a:noFill/>
          <a:ln/>
        </p:spPr>
        <p:txBody>
          <a:bodyPr wrap="square" lIns="0" tIns="0" rIns="0" bIns="0" rtlCol="0" anchor="t"/>
          <a:lstStyle/>
          <a:p>
            <a:pPr indent="0" marL="0">
              <a:buNone/>
            </a:pPr>
            <a:r>
              <a:rPr lang="en-US" sz="1200" dirty="0">
                <a:solidFill>
                  <a:srgbClr val="5B6472"/>
                </a:solidFill>
              </a:rPr>
              <a:t>19개 조사영역 · 169개 문항</a:t>
            </a:r>
            <a:endParaRPr lang="en-US" sz="1200" dirty="0"/>
          </a:p>
        </p:txBody>
      </p:sp>
      <p:sp>
        <p:nvSpPr>
          <p:cNvPr id="7" name="Text 4"/>
          <p:cNvSpPr txBox="1"/>
          <p:nvPr/>
        </p:nvSpPr>
        <p:spPr>
          <a:xfrm>
            <a:off x="3035808" y="2331720"/>
            <a:ext cx="301752" cy="457200"/>
          </a:xfrm>
          <a:prstGeom prst="rect">
            <a:avLst/>
          </a:prstGeom>
          <a:noFill/>
          <a:ln/>
        </p:spPr>
        <p:txBody>
          <a:bodyPr wrap="square" lIns="0" tIns="0" rIns="0" bIns="0" rtlCol="0" anchor="t"/>
          <a:lstStyle/>
          <a:p>
            <a:pPr algn="ctr" indent="0" marL="0">
              <a:buNone/>
            </a:pPr>
            <a:r>
              <a:rPr lang="en-US" sz="2000" b="1" dirty="0">
                <a:solidFill>
                  <a:srgbClr val="A9B2C0"/>
                </a:solidFill>
              </a:rPr>
              <a:t>→</a:t>
            </a:r>
            <a:endParaRPr lang="en-US" sz="2000" dirty="0"/>
          </a:p>
        </p:txBody>
      </p:sp>
      <p:sp>
        <p:nvSpPr>
          <p:cNvPr id="8" name="Shape 5"/>
          <p:cNvSpPr/>
          <p:nvPr/>
        </p:nvSpPr>
        <p:spPr>
          <a:xfrm>
            <a:off x="3337560" y="1783080"/>
            <a:ext cx="2468880" cy="1600200"/>
          </a:xfrm>
          <a:prstGeom prst="roundRect">
            <a:avLst>
              <a:gd name="adj" fmla="val 5714"/>
            </a:avLst>
          </a:prstGeom>
          <a:solidFill>
            <a:srgbClr val="F3F5F8"/>
          </a:solidFill>
          <a:ln w="9525">
            <a:solidFill>
              <a:srgbClr val="F3F5F8"/>
            </a:solidFill>
            <a:prstDash val="solid"/>
          </a:ln>
        </p:spPr>
      </p:sp>
      <p:sp>
        <p:nvSpPr>
          <p:cNvPr id="9" name="Text 6"/>
          <p:cNvSpPr txBox="1"/>
          <p:nvPr/>
        </p:nvSpPr>
        <p:spPr>
          <a:xfrm>
            <a:off x="3566160" y="1965960"/>
            <a:ext cx="2103120" cy="685800"/>
          </a:xfrm>
          <a:prstGeom prst="rect">
            <a:avLst/>
          </a:prstGeom>
          <a:noFill/>
          <a:ln/>
        </p:spPr>
        <p:txBody>
          <a:bodyPr wrap="square" lIns="0" tIns="0" rIns="0" bIns="0" rtlCol="0" anchor="b"/>
          <a:lstStyle/>
          <a:p>
            <a:pPr indent="0" marL="0">
              <a:buNone/>
            </a:pPr>
            <a:r>
              <a:rPr lang="en-US" sz="3400" b="1" dirty="0">
                <a:solidFill>
                  <a:srgbClr val="1D2430"/>
                </a:solidFill>
              </a:rPr>
              <a:t>86</a:t>
            </a:r>
            <a:pPr indent="0" marL="0">
              <a:buNone/>
            </a:pPr>
            <a:r>
              <a:rPr lang="en-US" sz="1500" b="1" dirty="0">
                <a:solidFill>
                  <a:srgbClr val="1D2430"/>
                </a:solidFill>
              </a:rPr>
              <a:t> 개 투입 문항</a:t>
            </a:r>
            <a:endParaRPr lang="en-US" sz="1400" dirty="0"/>
          </a:p>
        </p:txBody>
      </p:sp>
      <p:sp>
        <p:nvSpPr>
          <p:cNvPr id="10" name="Text 7"/>
          <p:cNvSpPr txBox="1"/>
          <p:nvPr/>
        </p:nvSpPr>
        <p:spPr>
          <a:xfrm>
            <a:off x="3566160" y="2743200"/>
            <a:ext cx="2103120" cy="457200"/>
          </a:xfrm>
          <a:prstGeom prst="rect">
            <a:avLst/>
          </a:prstGeom>
          <a:noFill/>
          <a:ln/>
        </p:spPr>
        <p:txBody>
          <a:bodyPr wrap="square" lIns="0" tIns="0" rIns="0" bIns="0" rtlCol="0" anchor="t"/>
          <a:lstStyle/>
          <a:p>
            <a:pPr indent="0" marL="0">
              <a:buNone/>
            </a:pPr>
            <a:r>
              <a:rPr lang="en-US" sz="1200" dirty="0">
                <a:solidFill>
                  <a:srgbClr val="5B6472"/>
                </a:solidFill>
              </a:rPr>
              <a:t>사용한 문항은 모두 103개</a:t>
            </a:r>
            <a:endParaRPr lang="en-US" sz="1200" dirty="0"/>
          </a:p>
        </p:txBody>
      </p:sp>
      <p:sp>
        <p:nvSpPr>
          <p:cNvPr id="11" name="Text 8"/>
          <p:cNvSpPr txBox="1"/>
          <p:nvPr/>
        </p:nvSpPr>
        <p:spPr>
          <a:xfrm>
            <a:off x="5824728" y="2331720"/>
            <a:ext cx="301752" cy="457200"/>
          </a:xfrm>
          <a:prstGeom prst="rect">
            <a:avLst/>
          </a:prstGeom>
          <a:noFill/>
          <a:ln/>
        </p:spPr>
        <p:txBody>
          <a:bodyPr wrap="square" lIns="0" tIns="0" rIns="0" bIns="0" rtlCol="0" anchor="t"/>
          <a:lstStyle/>
          <a:p>
            <a:pPr algn="ctr" indent="0" marL="0">
              <a:buNone/>
            </a:pPr>
            <a:r>
              <a:rPr lang="en-US" sz="2000" b="1" dirty="0">
                <a:solidFill>
                  <a:srgbClr val="A9B2C0"/>
                </a:solidFill>
              </a:rPr>
              <a:t>→</a:t>
            </a:r>
            <a:endParaRPr lang="en-US" sz="2000" dirty="0"/>
          </a:p>
        </p:txBody>
      </p:sp>
      <p:sp>
        <p:nvSpPr>
          <p:cNvPr id="12" name="Shape 9"/>
          <p:cNvSpPr/>
          <p:nvPr/>
        </p:nvSpPr>
        <p:spPr>
          <a:xfrm>
            <a:off x="6126480" y="1783080"/>
            <a:ext cx="2468880" cy="1600200"/>
          </a:xfrm>
          <a:prstGeom prst="roundRect">
            <a:avLst>
              <a:gd name="adj" fmla="val 5714"/>
            </a:avLst>
          </a:prstGeom>
          <a:solidFill>
            <a:srgbClr val="1D2430"/>
          </a:solidFill>
          <a:ln w="9525">
            <a:solidFill>
              <a:srgbClr val="1D2430"/>
            </a:solidFill>
            <a:prstDash val="solid"/>
          </a:ln>
        </p:spPr>
      </p:sp>
      <p:sp>
        <p:nvSpPr>
          <p:cNvPr id="13" name="Text 10"/>
          <p:cNvSpPr txBox="1"/>
          <p:nvPr/>
        </p:nvSpPr>
        <p:spPr>
          <a:xfrm>
            <a:off x="6355080" y="1965960"/>
            <a:ext cx="2103120" cy="685800"/>
          </a:xfrm>
          <a:prstGeom prst="rect">
            <a:avLst/>
          </a:prstGeom>
          <a:noFill/>
          <a:ln/>
        </p:spPr>
        <p:txBody>
          <a:bodyPr wrap="square" lIns="0" tIns="0" rIns="0" bIns="0" rtlCol="0" anchor="b"/>
          <a:lstStyle/>
          <a:p>
            <a:pPr indent="0" marL="0">
              <a:buNone/>
            </a:pPr>
            <a:r>
              <a:rPr lang="en-US" sz="3400" b="1" dirty="0">
                <a:solidFill>
                  <a:srgbClr val="FFFFFF"/>
                </a:solidFill>
              </a:rPr>
              <a:t>66</a:t>
            </a:r>
            <a:pPr indent="0" marL="0">
              <a:buNone/>
            </a:pPr>
            <a:r>
              <a:rPr lang="en-US" sz="1500" b="1" dirty="0">
                <a:solidFill>
                  <a:srgbClr val="FFFFFF"/>
                </a:solidFill>
              </a:rPr>
              <a:t> 개 분석 변수</a:t>
            </a:r>
            <a:endParaRPr lang="en-US" sz="1400" dirty="0"/>
          </a:p>
        </p:txBody>
      </p:sp>
      <p:sp>
        <p:nvSpPr>
          <p:cNvPr id="14" name="Text 11"/>
          <p:cNvSpPr txBox="1"/>
          <p:nvPr/>
        </p:nvSpPr>
        <p:spPr>
          <a:xfrm>
            <a:off x="6355080" y="2743200"/>
            <a:ext cx="2103120" cy="457200"/>
          </a:xfrm>
          <a:prstGeom prst="rect">
            <a:avLst/>
          </a:prstGeom>
          <a:noFill/>
          <a:ln/>
        </p:spPr>
        <p:txBody>
          <a:bodyPr wrap="square" lIns="0" tIns="0" rIns="0" bIns="0" rtlCol="0" anchor="t"/>
          <a:lstStyle/>
          <a:p>
            <a:pPr indent="0" marL="0">
              <a:buNone/>
            </a:pPr>
            <a:r>
              <a:rPr lang="en-US" sz="1200" dirty="0">
                <a:solidFill>
                  <a:srgbClr val="A9B2C0"/>
                </a:solidFill>
              </a:rPr>
              <a:t>파생·재코딩 후 8개 영역</a:t>
            </a:r>
            <a:endParaRPr lang="en-US" sz="1200" dirty="0"/>
          </a:p>
        </p:txBody>
      </p:sp>
      <p:sp>
        <p:nvSpPr>
          <p:cNvPr id="15" name="Text 12"/>
          <p:cNvSpPr txBox="1"/>
          <p:nvPr/>
        </p:nvSpPr>
        <p:spPr>
          <a:xfrm>
            <a:off x="8613648" y="2331720"/>
            <a:ext cx="301752" cy="457200"/>
          </a:xfrm>
          <a:prstGeom prst="rect">
            <a:avLst/>
          </a:prstGeom>
          <a:noFill/>
          <a:ln/>
        </p:spPr>
        <p:txBody>
          <a:bodyPr wrap="square" lIns="0" tIns="0" rIns="0" bIns="0" rtlCol="0" anchor="t"/>
          <a:lstStyle/>
          <a:p>
            <a:pPr algn="ctr" indent="0" marL="0">
              <a:buNone/>
            </a:pPr>
            <a:r>
              <a:rPr lang="en-US" sz="2000" b="1" dirty="0">
                <a:solidFill>
                  <a:srgbClr val="A9B2C0"/>
                </a:solidFill>
              </a:rPr>
              <a:t>→</a:t>
            </a:r>
            <a:endParaRPr lang="en-US" sz="2000" dirty="0"/>
          </a:p>
        </p:txBody>
      </p:sp>
      <p:sp>
        <p:nvSpPr>
          <p:cNvPr id="16" name="Shape 13"/>
          <p:cNvSpPr/>
          <p:nvPr/>
        </p:nvSpPr>
        <p:spPr>
          <a:xfrm>
            <a:off x="8915400" y="1783080"/>
            <a:ext cx="2724912" cy="749808"/>
          </a:xfrm>
          <a:prstGeom prst="roundRect">
            <a:avLst>
              <a:gd name="adj" fmla="val 12195"/>
            </a:avLst>
          </a:prstGeom>
          <a:solidFill>
            <a:srgbClr val="DDF3E8"/>
          </a:solidFill>
          <a:ln w="9525">
            <a:solidFill>
              <a:srgbClr val="DDF3E8"/>
            </a:solidFill>
            <a:prstDash val="solid"/>
          </a:ln>
        </p:spPr>
      </p:sp>
      <p:sp>
        <p:nvSpPr>
          <p:cNvPr id="17" name="Text 14"/>
          <p:cNvSpPr txBox="1"/>
          <p:nvPr/>
        </p:nvSpPr>
        <p:spPr>
          <a:xfrm>
            <a:off x="9098280" y="1783080"/>
            <a:ext cx="2468880" cy="749808"/>
          </a:xfrm>
          <a:prstGeom prst="rect">
            <a:avLst/>
          </a:prstGeom>
          <a:noFill/>
          <a:ln/>
        </p:spPr>
        <p:txBody>
          <a:bodyPr wrap="square" lIns="0" tIns="0" rIns="0" bIns="0" rtlCol="0" anchor="ctr"/>
          <a:lstStyle/>
          <a:p>
            <a:pPr indent="0" marL="0">
              <a:buNone/>
            </a:pPr>
            <a:r>
              <a:rPr lang="en-US" sz="1700" b="1" dirty="0">
                <a:solidFill>
                  <a:srgbClr val="1F8A5B"/>
                </a:solidFill>
              </a:rPr>
              <a:t>주 분석 53개</a:t>
            </a:r>
            <a:pPr indent="0" marL="0">
              <a:buNone/>
            </a:pPr>
            <a:r>
              <a:rPr lang="en-US" sz="1200" dirty="0">
                <a:solidFill>
                  <a:srgbClr val="5B6472"/>
                </a:solidFill>
              </a:rPr>
              <a:t>   7개 영역</a:t>
            </a:r>
            <a:endParaRPr lang="en-US" sz="1400" dirty="0"/>
          </a:p>
        </p:txBody>
      </p:sp>
      <p:sp>
        <p:nvSpPr>
          <p:cNvPr id="18" name="Shape 15"/>
          <p:cNvSpPr/>
          <p:nvPr/>
        </p:nvSpPr>
        <p:spPr>
          <a:xfrm>
            <a:off x="8915400" y="2633472"/>
            <a:ext cx="2724912" cy="749808"/>
          </a:xfrm>
          <a:prstGeom prst="roundRect">
            <a:avLst>
              <a:gd name="adj" fmla="val 12195"/>
            </a:avLst>
          </a:prstGeom>
          <a:solidFill>
            <a:srgbClr val="FBE0DA"/>
          </a:solidFill>
          <a:ln w="9525">
            <a:solidFill>
              <a:srgbClr val="FBE0DA"/>
            </a:solidFill>
            <a:prstDash val="solid"/>
          </a:ln>
        </p:spPr>
      </p:sp>
      <p:sp>
        <p:nvSpPr>
          <p:cNvPr id="19" name="Text 16"/>
          <p:cNvSpPr txBox="1"/>
          <p:nvPr/>
        </p:nvSpPr>
        <p:spPr>
          <a:xfrm>
            <a:off x="9098280" y="2633472"/>
            <a:ext cx="2468880" cy="749808"/>
          </a:xfrm>
          <a:prstGeom prst="rect">
            <a:avLst/>
          </a:prstGeom>
          <a:noFill/>
          <a:ln/>
        </p:spPr>
        <p:txBody>
          <a:bodyPr wrap="square" lIns="0" tIns="0" rIns="0" bIns="0" rtlCol="0" anchor="ctr"/>
          <a:lstStyle/>
          <a:p>
            <a:pPr indent="0" marL="0">
              <a:buNone/>
            </a:pPr>
            <a:r>
              <a:rPr lang="en-US" sz="1700" b="1" dirty="0">
                <a:solidFill>
                  <a:srgbClr val="C2412D"/>
                </a:solidFill>
              </a:rPr>
              <a:t>증상근접 13개</a:t>
            </a:r>
            <a:pPr indent="0" marL="0">
              <a:buNone/>
            </a:pPr>
            <a:r>
              <a:rPr lang="en-US" sz="1200" dirty="0">
                <a:solidFill>
                  <a:srgbClr val="5B6472"/>
                </a:solidFill>
              </a:rPr>
              <a:t>   비교용</a:t>
            </a:r>
            <a:endParaRPr lang="en-US" sz="1400" dirty="0"/>
          </a:p>
        </p:txBody>
      </p:sp>
      <p:sp>
        <p:nvSpPr>
          <p:cNvPr id="20" name="Text 17"/>
          <p:cNvSpPr txBox="1"/>
          <p:nvPr/>
        </p:nvSpPr>
        <p:spPr>
          <a:xfrm>
            <a:off x="548640" y="3703320"/>
            <a:ext cx="5486400" cy="320040"/>
          </a:xfrm>
          <a:prstGeom prst="rect">
            <a:avLst/>
          </a:prstGeom>
          <a:noFill/>
          <a:ln/>
        </p:spPr>
        <p:txBody>
          <a:bodyPr wrap="square" lIns="0" tIns="0" rIns="0" bIns="0" rtlCol="0" anchor="t"/>
          <a:lstStyle/>
          <a:p>
            <a:pPr indent="0" marL="0">
              <a:buNone/>
            </a:pPr>
            <a:r>
              <a:rPr lang="en-US" sz="1600" b="1" dirty="0">
                <a:solidFill>
                  <a:srgbClr val="1D2430"/>
                </a:solidFill>
              </a:rPr>
              <a:t>쓰지 않은 문항과 이유</a:t>
            </a:r>
            <a:endParaRPr lang="en-US" sz="1600" dirty="0"/>
          </a:p>
        </p:txBody>
      </p:sp>
      <p:sp>
        <p:nvSpPr>
          <p:cNvPr id="21" name="Text 18"/>
          <p:cNvSpPr txBox="1"/>
          <p:nvPr/>
        </p:nvSpPr>
        <p:spPr>
          <a:xfrm>
            <a:off x="548640" y="4178808"/>
            <a:ext cx="9601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누수</a:t>
            </a:r>
            <a:endParaRPr lang="en-US" sz="1200" dirty="0"/>
          </a:p>
        </p:txBody>
      </p:sp>
      <p:sp>
        <p:nvSpPr>
          <p:cNvPr id="22" name="Text 19"/>
          <p:cNvSpPr txBox="1"/>
          <p:nvPr/>
        </p:nvSpPr>
        <p:spPr>
          <a:xfrm>
            <a:off x="1691640" y="4160520"/>
            <a:ext cx="4343400" cy="320040"/>
          </a:xfrm>
          <a:prstGeom prst="rect">
            <a:avLst/>
          </a:prstGeom>
          <a:noFill/>
          <a:ln/>
        </p:spPr>
        <p:txBody>
          <a:bodyPr wrap="square" lIns="0" tIns="0" rIns="0" bIns="0" rtlCol="0" anchor="t"/>
          <a:lstStyle/>
          <a:p>
            <a:pPr indent="0" marL="0">
              <a:buNone/>
            </a:pPr>
            <a:r>
              <a:rPr lang="en-US" sz="1400" b="1" dirty="0">
                <a:solidFill>
                  <a:srgbClr val="1D2430"/>
                </a:solidFill>
              </a:rPr>
              <a:t>결과변수와 겹침 4개</a:t>
            </a:r>
            <a:endParaRPr lang="en-US" sz="1400" dirty="0"/>
          </a:p>
        </p:txBody>
      </p:sp>
      <p:sp>
        <p:nvSpPr>
          <p:cNvPr id="23" name="Text 20"/>
          <p:cNvSpPr txBox="1"/>
          <p:nvPr/>
        </p:nvSpPr>
        <p:spPr>
          <a:xfrm>
            <a:off x="1691640" y="4507992"/>
            <a:ext cx="4343400" cy="365760"/>
          </a:xfrm>
          <a:prstGeom prst="rect">
            <a:avLst/>
          </a:prstGeom>
          <a:noFill/>
          <a:ln/>
        </p:spPr>
        <p:txBody>
          <a:bodyPr wrap="square" lIns="0" tIns="0" rIns="0" bIns="0" rtlCol="0" anchor="t"/>
          <a:lstStyle/>
          <a:p>
            <a:pPr indent="0" marL="0">
              <a:buNone/>
            </a:pPr>
            <a:r>
              <a:rPr lang="en-US" sz="1200" dirty="0">
                <a:solidFill>
                  <a:srgbClr val="5B6472"/>
                </a:solidFill>
              </a:rPr>
              <a:t>우울감 경험·상담, 스트레스 상담, EQ-5D 불안·우울</a:t>
            </a:r>
            <a:endParaRPr lang="en-US" sz="1200" dirty="0"/>
          </a:p>
        </p:txBody>
      </p:sp>
      <p:sp>
        <p:nvSpPr>
          <p:cNvPr id="24" name="Text 21"/>
          <p:cNvSpPr txBox="1"/>
          <p:nvPr/>
        </p:nvSpPr>
        <p:spPr>
          <a:xfrm>
            <a:off x="6172200" y="4178808"/>
            <a:ext cx="9601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하위문항</a:t>
            </a:r>
            <a:endParaRPr lang="en-US" sz="1200" dirty="0"/>
          </a:p>
        </p:txBody>
      </p:sp>
      <p:sp>
        <p:nvSpPr>
          <p:cNvPr id="25" name="Text 22"/>
          <p:cNvSpPr txBox="1"/>
          <p:nvPr/>
        </p:nvSpPr>
        <p:spPr>
          <a:xfrm>
            <a:off x="7315200" y="4160520"/>
            <a:ext cx="4343400" cy="320040"/>
          </a:xfrm>
          <a:prstGeom prst="rect">
            <a:avLst/>
          </a:prstGeom>
          <a:noFill/>
          <a:ln/>
        </p:spPr>
        <p:txBody>
          <a:bodyPr wrap="square" lIns="0" tIns="0" rIns="0" bIns="0" rtlCol="0" anchor="t"/>
          <a:lstStyle/>
          <a:p>
            <a:pPr indent="0" marL="0">
              <a:buNone/>
            </a:pPr>
            <a:r>
              <a:rPr lang="en-US" sz="1400" b="1" dirty="0">
                <a:solidFill>
                  <a:srgbClr val="1D2430"/>
                </a:solidFill>
              </a:rPr>
              <a:t>해당자만 묻는 세부 문항</a:t>
            </a:r>
            <a:endParaRPr lang="en-US" sz="1400" dirty="0"/>
          </a:p>
        </p:txBody>
      </p:sp>
      <p:sp>
        <p:nvSpPr>
          <p:cNvPr id="26" name="Text 23"/>
          <p:cNvSpPr txBox="1"/>
          <p:nvPr/>
        </p:nvSpPr>
        <p:spPr>
          <a:xfrm>
            <a:off x="7315200" y="4507992"/>
            <a:ext cx="4343400" cy="365760"/>
          </a:xfrm>
          <a:prstGeom prst="rect">
            <a:avLst/>
          </a:prstGeom>
          <a:noFill/>
          <a:ln/>
        </p:spPr>
        <p:txBody>
          <a:bodyPr wrap="square" lIns="0" tIns="0" rIns="0" bIns="0" rtlCol="0" anchor="t"/>
          <a:lstStyle/>
          <a:p>
            <a:pPr indent="0" marL="0">
              <a:buNone/>
            </a:pPr>
            <a:r>
              <a:rPr lang="en-US" sz="1200" dirty="0">
                <a:solidFill>
                  <a:srgbClr val="5B6472"/>
                </a:solidFill>
              </a:rPr>
              <a:t>고혈압·당뇨 치료·교육, 흡연량 → 상위 문항으로 대표</a:t>
            </a:r>
            <a:endParaRPr lang="en-US" sz="1200" dirty="0"/>
          </a:p>
        </p:txBody>
      </p:sp>
      <p:sp>
        <p:nvSpPr>
          <p:cNvPr id="27" name="Text 24"/>
          <p:cNvSpPr txBox="1"/>
          <p:nvPr/>
        </p:nvSpPr>
        <p:spPr>
          <a:xfrm>
            <a:off x="548640" y="5047488"/>
            <a:ext cx="9601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지식</a:t>
            </a:r>
            <a:endParaRPr lang="en-US" sz="1200" dirty="0"/>
          </a:p>
        </p:txBody>
      </p:sp>
      <p:sp>
        <p:nvSpPr>
          <p:cNvPr id="28" name="Text 25"/>
          <p:cNvSpPr txBox="1"/>
          <p:nvPr/>
        </p:nvSpPr>
        <p:spPr>
          <a:xfrm>
            <a:off x="1691640" y="5029200"/>
            <a:ext cx="4343400" cy="320040"/>
          </a:xfrm>
          <a:prstGeom prst="rect">
            <a:avLst/>
          </a:prstGeom>
          <a:noFill/>
          <a:ln/>
        </p:spPr>
        <p:txBody>
          <a:bodyPr wrap="square" lIns="0" tIns="0" rIns="0" bIns="0" rtlCol="0" anchor="t"/>
          <a:lstStyle/>
          <a:p>
            <a:pPr indent="0" marL="0">
              <a:buNone/>
            </a:pPr>
            <a:r>
              <a:rPr lang="en-US" sz="1400" b="1" dirty="0">
                <a:solidFill>
                  <a:srgbClr val="1D2430"/>
                </a:solidFill>
              </a:rPr>
              <a:t>지식·인지 문항</a:t>
            </a:r>
            <a:endParaRPr lang="en-US" sz="1400" dirty="0"/>
          </a:p>
        </p:txBody>
      </p:sp>
      <p:sp>
        <p:nvSpPr>
          <p:cNvPr id="29" name="Text 26"/>
          <p:cNvSpPr txBox="1"/>
          <p:nvPr/>
        </p:nvSpPr>
        <p:spPr>
          <a:xfrm>
            <a:off x="1691640" y="5376672"/>
            <a:ext cx="4343400" cy="365760"/>
          </a:xfrm>
          <a:prstGeom prst="rect">
            <a:avLst/>
          </a:prstGeom>
          <a:noFill/>
          <a:ln/>
        </p:spPr>
        <p:txBody>
          <a:bodyPr wrap="square" lIns="0" tIns="0" rIns="0" bIns="0" rtlCol="0" anchor="t"/>
          <a:lstStyle/>
          <a:p>
            <a:pPr indent="0" marL="0">
              <a:buNone/>
            </a:pPr>
            <a:r>
              <a:rPr lang="en-US" sz="1200" dirty="0">
                <a:solidFill>
                  <a:srgbClr val="5B6472"/>
                </a:solidFill>
              </a:rPr>
              <a:t>뇌졸중·심근경색 조기증상 인지 → 교육·건강정보 이해로 대표</a:t>
            </a:r>
            <a:endParaRPr lang="en-US" sz="1200" dirty="0"/>
          </a:p>
        </p:txBody>
      </p:sp>
      <p:sp>
        <p:nvSpPr>
          <p:cNvPr id="30" name="Text 27"/>
          <p:cNvSpPr txBox="1"/>
          <p:nvPr/>
        </p:nvSpPr>
        <p:spPr>
          <a:xfrm>
            <a:off x="6172200" y="5047488"/>
            <a:ext cx="9601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영역</a:t>
            </a:r>
            <a:endParaRPr lang="en-US" sz="1200" dirty="0"/>
          </a:p>
        </p:txBody>
      </p:sp>
      <p:sp>
        <p:nvSpPr>
          <p:cNvPr id="31" name="Text 28"/>
          <p:cNvSpPr txBox="1"/>
          <p:nvPr/>
        </p:nvSpPr>
        <p:spPr>
          <a:xfrm>
            <a:off x="7315200" y="5029200"/>
            <a:ext cx="4343400" cy="320040"/>
          </a:xfrm>
          <a:prstGeom prst="rect">
            <a:avLst/>
          </a:prstGeom>
          <a:noFill/>
          <a:ln/>
        </p:spPr>
        <p:txBody>
          <a:bodyPr wrap="square" lIns="0" tIns="0" rIns="0" bIns="0" rtlCol="0" anchor="t"/>
          <a:lstStyle/>
          <a:p>
            <a:pPr indent="0" marL="0">
              <a:buNone/>
            </a:pPr>
            <a:r>
              <a:rPr lang="en-US" sz="1400" b="1" dirty="0">
                <a:solidFill>
                  <a:srgbClr val="1D2430"/>
                </a:solidFill>
              </a:rPr>
              <a:t>영역 전체 제외 3개</a:t>
            </a:r>
            <a:endParaRPr lang="en-US" sz="1400" dirty="0"/>
          </a:p>
        </p:txBody>
      </p:sp>
      <p:sp>
        <p:nvSpPr>
          <p:cNvPr id="32" name="Text 29"/>
          <p:cNvSpPr txBox="1"/>
          <p:nvPr/>
        </p:nvSpPr>
        <p:spPr>
          <a:xfrm>
            <a:off x="7315200" y="5376672"/>
            <a:ext cx="4343400" cy="365760"/>
          </a:xfrm>
          <a:prstGeom prst="rect">
            <a:avLst/>
          </a:prstGeom>
          <a:noFill/>
          <a:ln/>
        </p:spPr>
        <p:txBody>
          <a:bodyPr wrap="square" lIns="0" tIns="0" rIns="0" bIns="0" rtlCol="0" anchor="t"/>
          <a:lstStyle/>
          <a:p>
            <a:pPr indent="0" marL="0">
              <a:buNone/>
            </a:pPr>
            <a:r>
              <a:rPr lang="en-US" sz="1200" dirty="0">
                <a:solidFill>
                  <a:srgbClr val="5B6472"/>
                </a:solidFill>
              </a:rPr>
              <a:t>안전의식 · 개인위생 · 여성건강 — 우울과의 경로 근거가 약함</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두 가지 방법이 같은 질문을 서로 다른 각도에서 확인한다</a:t>
            </a:r>
            <a:endParaRPr lang="en-US" sz="2800" dirty="0"/>
          </a:p>
        </p:txBody>
      </p:sp>
      <p:sp>
        <p:nvSpPr>
          <p:cNvPr id="4" name="Shape 1"/>
          <p:cNvSpPr/>
          <p:nvPr/>
        </p:nvSpPr>
        <p:spPr>
          <a:xfrm>
            <a:off x="548640" y="1737360"/>
            <a:ext cx="11094415" cy="566928"/>
          </a:xfrm>
          <a:prstGeom prst="roundRect">
            <a:avLst>
              <a:gd name="adj" fmla="val 16129"/>
            </a:avLst>
          </a:prstGeom>
          <a:solidFill>
            <a:srgbClr val="1D2430"/>
          </a:solidFill>
          <a:ln w="9525">
            <a:solidFill>
              <a:srgbClr val="1D2430"/>
            </a:solidFill>
            <a:prstDash val="solid"/>
          </a:ln>
        </p:spPr>
      </p:sp>
      <p:sp>
        <p:nvSpPr>
          <p:cNvPr id="5" name="Text 2"/>
          <p:cNvSpPr txBox="1"/>
          <p:nvPr/>
        </p:nvSpPr>
        <p:spPr>
          <a:xfrm>
            <a:off x="822960" y="1737360"/>
            <a:ext cx="10545775" cy="566928"/>
          </a:xfrm>
          <a:prstGeom prst="rect">
            <a:avLst/>
          </a:prstGeom>
          <a:noFill/>
          <a:ln/>
        </p:spPr>
        <p:txBody>
          <a:bodyPr wrap="square" lIns="0" tIns="0" rIns="0" bIns="0" rtlCol="0" anchor="ctr"/>
          <a:lstStyle/>
          <a:p>
            <a:pPr indent="0" marL="0">
              <a:buNone/>
            </a:pPr>
            <a:r>
              <a:rPr lang="en-US" sz="1500" b="1" dirty="0">
                <a:solidFill>
                  <a:srgbClr val="5BC596"/>
                </a:solidFill>
              </a:rPr>
              <a:t>결과변수   </a:t>
            </a:r>
            <a:pPr indent="0" marL="0">
              <a:buNone/>
            </a:pPr>
            <a:r>
              <a:rPr lang="en-US" sz="1500" b="1" dirty="0">
                <a:solidFill>
                  <a:srgbClr val="FFFFFF"/>
                </a:solidFill>
              </a:rPr>
              <a:t>PHQ-9 총점 10점 이상 = 우울 증상 기준 충족 (가중 3.76%)</a:t>
            </a:r>
            <a:endParaRPr lang="en-US" sz="1500" dirty="0"/>
          </a:p>
        </p:txBody>
      </p:sp>
      <p:sp>
        <p:nvSpPr>
          <p:cNvPr id="6" name="Text 3"/>
          <p:cNvSpPr txBox="1"/>
          <p:nvPr/>
        </p:nvSpPr>
        <p:spPr>
          <a:xfrm>
            <a:off x="548640" y="2560320"/>
            <a:ext cx="100584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방법 ①</a:t>
            </a:r>
            <a:endParaRPr lang="en-US" sz="1200" dirty="0"/>
          </a:p>
        </p:txBody>
      </p:sp>
      <p:sp>
        <p:nvSpPr>
          <p:cNvPr id="7" name="Text 4"/>
          <p:cNvSpPr txBox="1"/>
          <p:nvPr/>
        </p:nvSpPr>
        <p:spPr>
          <a:xfrm>
            <a:off x="548640" y="2971800"/>
            <a:ext cx="5394960" cy="411480"/>
          </a:xfrm>
          <a:prstGeom prst="rect">
            <a:avLst/>
          </a:prstGeom>
          <a:noFill/>
          <a:ln/>
        </p:spPr>
        <p:txBody>
          <a:bodyPr wrap="square" lIns="0" tIns="0" rIns="0" bIns="0" rtlCol="0" anchor="t"/>
          <a:lstStyle/>
          <a:p>
            <a:pPr indent="0" marL="0">
              <a:buNone/>
            </a:pPr>
            <a:r>
              <a:rPr lang="en-US" sz="1800" b="1" dirty="0">
                <a:solidFill>
                  <a:srgbClr val="1D2430"/>
                </a:solidFill>
              </a:rPr>
              <a:t>머신러닝 — 어느 영역이 정보를 많이 갖나</a:t>
            </a:r>
            <a:endParaRPr lang="en-US" sz="1800" dirty="0"/>
          </a:p>
        </p:txBody>
      </p:sp>
      <p:sp>
        <p:nvSpPr>
          <p:cNvPr id="8" name="Text 5"/>
          <p:cNvSpPr txBox="1"/>
          <p:nvPr/>
        </p:nvSpPr>
        <p:spPr>
          <a:xfrm>
            <a:off x="548640" y="3566160"/>
            <a:ext cx="7315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모형</a:t>
            </a:r>
            <a:endParaRPr lang="en-US" sz="1200" dirty="0"/>
          </a:p>
        </p:txBody>
      </p:sp>
      <p:sp>
        <p:nvSpPr>
          <p:cNvPr id="9" name="Text 6"/>
          <p:cNvSpPr txBox="1"/>
          <p:nvPr/>
        </p:nvSpPr>
        <p:spPr>
          <a:xfrm>
            <a:off x="1463040" y="3566160"/>
            <a:ext cx="4480560" cy="292608"/>
          </a:xfrm>
          <a:prstGeom prst="rect">
            <a:avLst/>
          </a:prstGeom>
          <a:noFill/>
          <a:ln/>
        </p:spPr>
        <p:txBody>
          <a:bodyPr wrap="square" lIns="0" tIns="0" rIns="0" bIns="0" rtlCol="0" anchor="ctr"/>
          <a:lstStyle/>
          <a:p>
            <a:pPr indent="0" marL="0">
              <a:buNone/>
            </a:pPr>
            <a:r>
              <a:rPr lang="en-US" sz="1400" dirty="0">
                <a:solidFill>
                  <a:srgbClr val="1D2430"/>
                </a:solidFill>
              </a:rPr>
              <a:t>CatBoost 등 6개 알고리즘, 하이퍼파라미터 사전 고정</a:t>
            </a:r>
            <a:endParaRPr lang="en-US" sz="1400" dirty="0"/>
          </a:p>
        </p:txBody>
      </p:sp>
      <p:sp>
        <p:nvSpPr>
          <p:cNvPr id="10" name="Text 7"/>
          <p:cNvSpPr txBox="1"/>
          <p:nvPr/>
        </p:nvSpPr>
        <p:spPr>
          <a:xfrm>
            <a:off x="548640" y="4069080"/>
            <a:ext cx="7315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분할</a:t>
            </a:r>
            <a:endParaRPr lang="en-US" sz="1200" dirty="0"/>
          </a:p>
        </p:txBody>
      </p:sp>
      <p:sp>
        <p:nvSpPr>
          <p:cNvPr id="11" name="Text 8"/>
          <p:cNvSpPr txBox="1"/>
          <p:nvPr/>
        </p:nvSpPr>
        <p:spPr>
          <a:xfrm>
            <a:off x="1463040" y="4069080"/>
            <a:ext cx="4480560" cy="292608"/>
          </a:xfrm>
          <a:prstGeom prst="rect">
            <a:avLst/>
          </a:prstGeom>
          <a:noFill/>
          <a:ln/>
        </p:spPr>
        <p:txBody>
          <a:bodyPr wrap="square" lIns="0" tIns="0" rIns="0" bIns="0" rtlCol="0" anchor="ctr"/>
          <a:lstStyle/>
          <a:p>
            <a:pPr indent="0" marL="0">
              <a:buNone/>
            </a:pPr>
            <a:r>
              <a:rPr lang="en-US" sz="1400" dirty="0">
                <a:solidFill>
                  <a:srgbClr val="1D2430"/>
                </a:solidFill>
              </a:rPr>
              <a:t>가구 단위 학습·시험 분할(같은 가구 섞임 방지)</a:t>
            </a:r>
            <a:endParaRPr lang="en-US" sz="1400" dirty="0"/>
          </a:p>
        </p:txBody>
      </p:sp>
      <p:sp>
        <p:nvSpPr>
          <p:cNvPr id="12" name="Text 9"/>
          <p:cNvSpPr txBox="1"/>
          <p:nvPr/>
        </p:nvSpPr>
        <p:spPr>
          <a:xfrm>
            <a:off x="548640" y="4572000"/>
            <a:ext cx="7315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지표</a:t>
            </a:r>
            <a:endParaRPr lang="en-US" sz="1200" dirty="0"/>
          </a:p>
        </p:txBody>
      </p:sp>
      <p:sp>
        <p:nvSpPr>
          <p:cNvPr id="13" name="Text 10"/>
          <p:cNvSpPr txBox="1"/>
          <p:nvPr/>
        </p:nvSpPr>
        <p:spPr>
          <a:xfrm>
            <a:off x="1463040" y="4572000"/>
            <a:ext cx="4480560" cy="292608"/>
          </a:xfrm>
          <a:prstGeom prst="rect">
            <a:avLst/>
          </a:prstGeom>
          <a:noFill/>
          <a:ln/>
        </p:spPr>
        <p:txBody>
          <a:bodyPr wrap="square" lIns="0" tIns="0" rIns="0" bIns="0" rtlCol="0" anchor="ctr"/>
          <a:lstStyle/>
          <a:p>
            <a:pPr indent="0" marL="0">
              <a:buNone/>
            </a:pPr>
            <a:r>
              <a:rPr lang="en-US" sz="1400" dirty="0">
                <a:solidFill>
                  <a:srgbClr val="1D2430"/>
                </a:solidFill>
              </a:rPr>
              <a:t>영역 추가·제거 ΔAP + 가구 부트스트랩 95% CI</a:t>
            </a:r>
            <a:endParaRPr lang="en-US" sz="1400" dirty="0"/>
          </a:p>
        </p:txBody>
      </p:sp>
      <p:sp>
        <p:nvSpPr>
          <p:cNvPr id="14" name="Text 11"/>
          <p:cNvSpPr txBox="1"/>
          <p:nvPr/>
        </p:nvSpPr>
        <p:spPr>
          <a:xfrm>
            <a:off x="548640" y="5074920"/>
            <a:ext cx="73152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확인</a:t>
            </a:r>
            <a:endParaRPr lang="en-US" sz="1200" dirty="0"/>
          </a:p>
        </p:txBody>
      </p:sp>
      <p:sp>
        <p:nvSpPr>
          <p:cNvPr id="15" name="Text 12"/>
          <p:cNvSpPr txBox="1"/>
          <p:nvPr/>
        </p:nvSpPr>
        <p:spPr>
          <a:xfrm>
            <a:off x="1463040" y="5074920"/>
            <a:ext cx="4480560" cy="292608"/>
          </a:xfrm>
          <a:prstGeom prst="rect">
            <a:avLst/>
          </a:prstGeom>
          <a:noFill/>
          <a:ln/>
        </p:spPr>
        <p:txBody>
          <a:bodyPr wrap="square" lIns="0" tIns="0" rIns="0" bIns="0" rtlCol="0" anchor="ctr"/>
          <a:lstStyle/>
          <a:p>
            <a:pPr indent="0" marL="0">
              <a:buNone/>
            </a:pPr>
            <a:r>
              <a:rPr lang="en-US" sz="1400" dirty="0">
                <a:solidFill>
                  <a:srgbClr val="1D2430"/>
                </a:solidFill>
              </a:rPr>
              <a:t>SHAP · 영역 순열 중요도</a:t>
            </a:r>
            <a:endParaRPr lang="en-US" sz="1400" dirty="0"/>
          </a:p>
        </p:txBody>
      </p:sp>
      <p:sp>
        <p:nvSpPr>
          <p:cNvPr id="16" name="Shape 13"/>
          <p:cNvSpPr/>
          <p:nvPr/>
        </p:nvSpPr>
        <p:spPr>
          <a:xfrm>
            <a:off x="6099048" y="2560320"/>
            <a:ext cx="0" cy="2971800"/>
          </a:xfrm>
          <a:prstGeom prst="line">
            <a:avLst/>
          </a:prstGeom>
          <a:noFill/>
          <a:ln w="12700">
            <a:solidFill>
              <a:srgbClr val="E3E6EA"/>
            </a:solidFill>
            <a:prstDash val="solid"/>
          </a:ln>
        </p:spPr>
      </p:sp>
      <p:sp>
        <p:nvSpPr>
          <p:cNvPr id="17" name="Text 14"/>
          <p:cNvSpPr txBox="1"/>
          <p:nvPr/>
        </p:nvSpPr>
        <p:spPr>
          <a:xfrm>
            <a:off x="6217920" y="2560320"/>
            <a:ext cx="1005840" cy="292608"/>
          </a:xfrm>
          <a:prstGeom prst="roundRect">
            <a:avLst>
              <a:gd name="adj" fmla="val 46875"/>
            </a:avLst>
          </a:prstGeom>
          <a:solidFill>
            <a:srgbClr val="E3ECFB"/>
          </a:solidFill>
          <a:ln>
            <a:solidFill>
              <a:srgbClr val="E3ECFB"/>
            </a:solidFill>
          </a:ln>
        </p:spPr>
        <p:txBody>
          <a:bodyPr wrap="square" lIns="0" tIns="0" rIns="0" bIns="0" rtlCol="0" anchor="ctr"/>
          <a:lstStyle/>
          <a:p>
            <a:pPr algn="ctr" indent="0" marL="0">
              <a:buNone/>
            </a:pPr>
            <a:r>
              <a:rPr lang="en-US" sz="1200" b="1" dirty="0">
                <a:solidFill>
                  <a:srgbClr val="2F5FB3"/>
                </a:solidFill>
              </a:rPr>
              <a:t>방법 ②</a:t>
            </a:r>
            <a:endParaRPr lang="en-US" sz="1200" dirty="0"/>
          </a:p>
        </p:txBody>
      </p:sp>
      <p:sp>
        <p:nvSpPr>
          <p:cNvPr id="18" name="Text 15"/>
          <p:cNvSpPr txBox="1"/>
          <p:nvPr/>
        </p:nvSpPr>
        <p:spPr>
          <a:xfrm>
            <a:off x="6217920" y="2971800"/>
            <a:ext cx="5394960" cy="411480"/>
          </a:xfrm>
          <a:prstGeom prst="rect">
            <a:avLst/>
          </a:prstGeom>
          <a:noFill/>
          <a:ln/>
        </p:spPr>
        <p:txBody>
          <a:bodyPr wrap="square" lIns="0" tIns="0" rIns="0" bIns="0" rtlCol="0" anchor="t"/>
          <a:lstStyle/>
          <a:p>
            <a:pPr indent="0" marL="0">
              <a:buNone/>
            </a:pPr>
            <a:r>
              <a:rPr lang="en-US" sz="1800" b="1" dirty="0">
                <a:solidFill>
                  <a:srgbClr val="1D2430"/>
                </a:solidFill>
              </a:rPr>
              <a:t>조사설계 회귀 — 다른 요인을 고정해도 남나</a:t>
            </a:r>
            <a:endParaRPr lang="en-US" sz="1800" dirty="0"/>
          </a:p>
        </p:txBody>
      </p:sp>
      <p:sp>
        <p:nvSpPr>
          <p:cNvPr id="19" name="Text 16"/>
          <p:cNvSpPr txBox="1"/>
          <p:nvPr/>
        </p:nvSpPr>
        <p:spPr>
          <a:xfrm>
            <a:off x="6217920" y="3566160"/>
            <a:ext cx="731520" cy="292608"/>
          </a:xfrm>
          <a:prstGeom prst="roundRect">
            <a:avLst>
              <a:gd name="adj" fmla="val 46875"/>
            </a:avLst>
          </a:prstGeom>
          <a:solidFill>
            <a:srgbClr val="E3ECFB"/>
          </a:solidFill>
          <a:ln>
            <a:solidFill>
              <a:srgbClr val="E3ECFB"/>
            </a:solidFill>
          </a:ln>
        </p:spPr>
        <p:txBody>
          <a:bodyPr wrap="square" lIns="0" tIns="0" rIns="0" bIns="0" rtlCol="0" anchor="ctr"/>
          <a:lstStyle/>
          <a:p>
            <a:pPr algn="ctr" indent="0" marL="0">
              <a:buNone/>
            </a:pPr>
            <a:r>
              <a:rPr lang="en-US" sz="1200" b="1" dirty="0">
                <a:solidFill>
                  <a:srgbClr val="2F5FB3"/>
                </a:solidFill>
              </a:rPr>
              <a:t>설계</a:t>
            </a:r>
            <a:endParaRPr lang="en-US" sz="1200" dirty="0"/>
          </a:p>
        </p:txBody>
      </p:sp>
      <p:sp>
        <p:nvSpPr>
          <p:cNvPr id="20" name="Text 17"/>
          <p:cNvSpPr txBox="1"/>
          <p:nvPr/>
        </p:nvSpPr>
        <p:spPr>
          <a:xfrm>
            <a:off x="7132320" y="3566160"/>
            <a:ext cx="4480560" cy="292608"/>
          </a:xfrm>
          <a:prstGeom prst="rect">
            <a:avLst/>
          </a:prstGeom>
          <a:noFill/>
          <a:ln/>
        </p:spPr>
        <p:txBody>
          <a:bodyPr wrap="square" lIns="0" tIns="0" rIns="0" bIns="0" rtlCol="0" anchor="ctr"/>
          <a:lstStyle/>
          <a:p>
            <a:pPr indent="0" marL="0">
              <a:buNone/>
            </a:pPr>
            <a:r>
              <a:rPr lang="en-US" sz="1400" dirty="0">
                <a:solidFill>
                  <a:srgbClr val="1D2430"/>
                </a:solidFill>
              </a:rPr>
              <a:t>가중치 · 층 · 집락 반영(테일러 선형화)</a:t>
            </a:r>
            <a:endParaRPr lang="en-US" sz="1400" dirty="0"/>
          </a:p>
        </p:txBody>
      </p:sp>
      <p:sp>
        <p:nvSpPr>
          <p:cNvPr id="21" name="Text 18"/>
          <p:cNvSpPr txBox="1"/>
          <p:nvPr/>
        </p:nvSpPr>
        <p:spPr>
          <a:xfrm>
            <a:off x="6217920" y="4069080"/>
            <a:ext cx="731520" cy="292608"/>
          </a:xfrm>
          <a:prstGeom prst="roundRect">
            <a:avLst>
              <a:gd name="adj" fmla="val 46875"/>
            </a:avLst>
          </a:prstGeom>
          <a:solidFill>
            <a:srgbClr val="E3ECFB"/>
          </a:solidFill>
          <a:ln>
            <a:solidFill>
              <a:srgbClr val="E3ECFB"/>
            </a:solidFill>
          </a:ln>
        </p:spPr>
        <p:txBody>
          <a:bodyPr wrap="square" lIns="0" tIns="0" rIns="0" bIns="0" rtlCol="0" anchor="ctr"/>
          <a:lstStyle/>
          <a:p>
            <a:pPr algn="ctr" indent="0" marL="0">
              <a:buNone/>
            </a:pPr>
            <a:r>
              <a:rPr lang="en-US" sz="1200" b="1" dirty="0">
                <a:solidFill>
                  <a:srgbClr val="2F5FB3"/>
                </a:solidFill>
              </a:rPr>
              <a:t>조정</a:t>
            </a:r>
            <a:endParaRPr lang="en-US" sz="1200" dirty="0"/>
          </a:p>
        </p:txBody>
      </p:sp>
      <p:sp>
        <p:nvSpPr>
          <p:cNvPr id="22" name="Text 19"/>
          <p:cNvSpPr txBox="1"/>
          <p:nvPr/>
        </p:nvSpPr>
        <p:spPr>
          <a:xfrm>
            <a:off x="7132320" y="4069080"/>
            <a:ext cx="4480560" cy="292608"/>
          </a:xfrm>
          <a:prstGeom prst="rect">
            <a:avLst/>
          </a:prstGeom>
          <a:noFill/>
          <a:ln/>
        </p:spPr>
        <p:txBody>
          <a:bodyPr wrap="square" lIns="0" tIns="0" rIns="0" bIns="0" rtlCol="0" anchor="ctr"/>
          <a:lstStyle/>
          <a:p>
            <a:pPr indent="0" marL="0">
              <a:buNone/>
            </a:pPr>
            <a:r>
              <a:rPr lang="en-US" sz="1400" dirty="0">
                <a:solidFill>
                  <a:srgbClr val="1D2430"/>
                </a:solidFill>
              </a:rPr>
              <a:t>주 분석 53개 변수 동시 투입 → 조정 OR</a:t>
            </a:r>
            <a:endParaRPr lang="en-US" sz="1400" dirty="0"/>
          </a:p>
        </p:txBody>
      </p:sp>
      <p:sp>
        <p:nvSpPr>
          <p:cNvPr id="23" name="Text 20"/>
          <p:cNvSpPr txBox="1"/>
          <p:nvPr/>
        </p:nvSpPr>
        <p:spPr>
          <a:xfrm>
            <a:off x="6217920" y="4572000"/>
            <a:ext cx="731520" cy="292608"/>
          </a:xfrm>
          <a:prstGeom prst="roundRect">
            <a:avLst>
              <a:gd name="adj" fmla="val 46875"/>
            </a:avLst>
          </a:prstGeom>
          <a:solidFill>
            <a:srgbClr val="E3ECFB"/>
          </a:solidFill>
          <a:ln>
            <a:solidFill>
              <a:srgbClr val="E3ECFB"/>
            </a:solidFill>
          </a:ln>
        </p:spPr>
        <p:txBody>
          <a:bodyPr wrap="square" lIns="0" tIns="0" rIns="0" bIns="0" rtlCol="0" anchor="ctr"/>
          <a:lstStyle/>
          <a:p>
            <a:pPr algn="ctr" indent="0" marL="0">
              <a:buNone/>
            </a:pPr>
            <a:r>
              <a:rPr lang="en-US" sz="1200" b="1" dirty="0">
                <a:solidFill>
                  <a:srgbClr val="2F5FB3"/>
                </a:solidFill>
              </a:rPr>
              <a:t>기준</a:t>
            </a:r>
            <a:endParaRPr lang="en-US" sz="1200" dirty="0"/>
          </a:p>
        </p:txBody>
      </p:sp>
      <p:sp>
        <p:nvSpPr>
          <p:cNvPr id="24" name="Text 21"/>
          <p:cNvSpPr txBox="1"/>
          <p:nvPr/>
        </p:nvSpPr>
        <p:spPr>
          <a:xfrm>
            <a:off x="7132320" y="4572000"/>
            <a:ext cx="4480560" cy="292608"/>
          </a:xfrm>
          <a:prstGeom prst="rect">
            <a:avLst/>
          </a:prstGeom>
          <a:noFill/>
          <a:ln/>
        </p:spPr>
        <p:txBody>
          <a:bodyPr wrap="square" lIns="0" tIns="0" rIns="0" bIns="0" rtlCol="0" anchor="ctr"/>
          <a:lstStyle/>
          <a:p>
            <a:pPr indent="0" marL="0">
              <a:buNone/>
            </a:pPr>
            <a:r>
              <a:rPr lang="en-US" sz="1400" dirty="0">
                <a:solidFill>
                  <a:srgbClr val="1D2430"/>
                </a:solidFill>
              </a:rPr>
              <a:t>기준범주 = 건강한 상태(위험 쪽 OR &gt; 1)</a:t>
            </a:r>
            <a:endParaRPr lang="en-US" sz="1400" dirty="0"/>
          </a:p>
        </p:txBody>
      </p:sp>
      <p:sp>
        <p:nvSpPr>
          <p:cNvPr id="25" name="Text 22"/>
          <p:cNvSpPr txBox="1"/>
          <p:nvPr/>
        </p:nvSpPr>
        <p:spPr>
          <a:xfrm>
            <a:off x="6217920" y="5074920"/>
            <a:ext cx="731520" cy="292608"/>
          </a:xfrm>
          <a:prstGeom prst="roundRect">
            <a:avLst>
              <a:gd name="adj" fmla="val 46875"/>
            </a:avLst>
          </a:prstGeom>
          <a:solidFill>
            <a:srgbClr val="E3ECFB"/>
          </a:solidFill>
          <a:ln>
            <a:solidFill>
              <a:srgbClr val="E3ECFB"/>
            </a:solidFill>
          </a:ln>
        </p:spPr>
        <p:txBody>
          <a:bodyPr wrap="square" lIns="0" tIns="0" rIns="0" bIns="0" rtlCol="0" anchor="ctr"/>
          <a:lstStyle/>
          <a:p>
            <a:pPr algn="ctr" indent="0" marL="0">
              <a:buNone/>
            </a:pPr>
            <a:r>
              <a:rPr lang="en-US" sz="1200" b="1" dirty="0">
                <a:solidFill>
                  <a:srgbClr val="2F5FB3"/>
                </a:solidFill>
              </a:rPr>
              <a:t>조합</a:t>
            </a:r>
            <a:endParaRPr lang="en-US" sz="1200" dirty="0"/>
          </a:p>
        </p:txBody>
      </p:sp>
      <p:sp>
        <p:nvSpPr>
          <p:cNvPr id="26" name="Text 23"/>
          <p:cNvSpPr txBox="1"/>
          <p:nvPr/>
        </p:nvSpPr>
        <p:spPr>
          <a:xfrm>
            <a:off x="7132320" y="5074920"/>
            <a:ext cx="4480560" cy="292608"/>
          </a:xfrm>
          <a:prstGeom prst="rect">
            <a:avLst/>
          </a:prstGeom>
          <a:noFill/>
          <a:ln/>
        </p:spPr>
        <p:txBody>
          <a:bodyPr wrap="square" lIns="0" tIns="0" rIns="0" bIns="0" rtlCol="0" anchor="ctr"/>
          <a:lstStyle/>
          <a:p>
            <a:pPr indent="0" marL="0">
              <a:buNone/>
            </a:pPr>
            <a:r>
              <a:rPr lang="en-US" sz="1400" dirty="0">
                <a:solidFill>
                  <a:srgbClr val="1D2430"/>
                </a:solidFill>
              </a:rPr>
              <a:t>신체활동 × 생활요인 조정 유병률</a:t>
            </a:r>
            <a:endParaRPr lang="en-US" sz="1400" dirty="0"/>
          </a:p>
        </p:txBody>
      </p:sp>
      <p:sp>
        <p:nvSpPr>
          <p:cNvPr id="27" name="Shape 24"/>
          <p:cNvSpPr/>
          <p:nvPr/>
        </p:nvSpPr>
        <p:spPr>
          <a:xfrm>
            <a:off x="548640" y="5742432"/>
            <a:ext cx="11094415" cy="475488"/>
          </a:xfrm>
          <a:prstGeom prst="roundRect">
            <a:avLst>
              <a:gd name="adj" fmla="val 19231"/>
            </a:avLst>
          </a:prstGeom>
          <a:solidFill>
            <a:srgbClr val="FDEBC8"/>
          </a:solidFill>
          <a:ln w="9525">
            <a:solidFill>
              <a:srgbClr val="FDEBC8"/>
            </a:solidFill>
            <a:prstDash val="solid"/>
          </a:ln>
        </p:spPr>
      </p:sp>
      <p:sp>
        <p:nvSpPr>
          <p:cNvPr id="28" name="Text 25"/>
          <p:cNvSpPr txBox="1"/>
          <p:nvPr/>
        </p:nvSpPr>
        <p:spPr>
          <a:xfrm>
            <a:off x="777240" y="5742432"/>
            <a:ext cx="10637215" cy="475488"/>
          </a:xfrm>
          <a:prstGeom prst="rect">
            <a:avLst/>
          </a:prstGeom>
          <a:noFill/>
          <a:ln/>
        </p:spPr>
        <p:txBody>
          <a:bodyPr wrap="square" lIns="0" tIns="0" rIns="0" bIns="0" rtlCol="0" anchor="ctr"/>
          <a:lstStyle/>
          <a:p>
            <a:pPr indent="0" marL="0">
              <a:buNone/>
            </a:pPr>
            <a:r>
              <a:rPr lang="en-US" sz="1300" b="1" dirty="0">
                <a:solidFill>
                  <a:srgbClr val="A86400"/>
                </a:solidFill>
              </a:rPr>
              <a:t>원칙   </a:t>
            </a:r>
            <a:pPr indent="0" marL="0">
              <a:buNone/>
            </a:pPr>
            <a:r>
              <a:rPr lang="en-US" sz="1300" dirty="0">
                <a:solidFill>
                  <a:srgbClr val="1D2430"/>
                </a:solidFill>
              </a:rPr>
              <a:t>증상근접 13개는 두 방법 모두 주 분석에서 빼고, 넣었을 때의 변화만 따로 보고한다(순환 추론 방지)</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모든 영역이 고유한 정보를 더하고, 신체건강이 가장 크다</a:t>
            </a:r>
            <a:endParaRPr lang="en-US" sz="2800" dirty="0"/>
          </a:p>
        </p:txBody>
      </p:sp>
      <p:graphicFrame>
        <p:nvGraphicFramePr>
          <p:cNvPr id="4" name="Chart 0" descr=""/>
          <p:cNvGraphicFramePr/>
          <p:nvPr/>
        </p:nvGraphicFramePr>
        <p:xfrm>
          <a:off x="548640" y="1691640"/>
          <a:ext cx="7315200" cy="39319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8183880" y="1783080"/>
            <a:ext cx="3474720" cy="822960"/>
          </a:xfrm>
          <a:prstGeom prst="rect">
            <a:avLst/>
          </a:prstGeom>
          <a:noFill/>
          <a:ln/>
        </p:spPr>
        <p:txBody>
          <a:bodyPr wrap="square" lIns="0" tIns="0" rIns="0" bIns="0" rtlCol="0" anchor="t"/>
          <a:lstStyle/>
          <a:p>
            <a:pPr indent="0" marL="0">
              <a:buNone/>
            </a:pPr>
            <a:r>
              <a:rPr lang="en-US" sz="4400" b="1" dirty="0">
                <a:solidFill>
                  <a:srgbClr val="1F8A5B"/>
                </a:solidFill>
              </a:rPr>
              <a:t>+0.090</a:t>
            </a:r>
            <a:pPr indent="0" marL="0">
              <a:buNone/>
            </a:pPr>
            <a:r>
              <a:rPr lang="en-US" sz="1600" dirty="0">
                <a:solidFill>
                  <a:srgbClr val="5B6472"/>
                </a:solidFill>
              </a:rPr>
              <a:t>  ΔAP</a:t>
            </a:r>
            <a:endParaRPr lang="en-US" sz="1400" dirty="0"/>
          </a:p>
        </p:txBody>
      </p:sp>
      <p:sp>
        <p:nvSpPr>
          <p:cNvPr id="6" name="Text 2"/>
          <p:cNvSpPr txBox="1"/>
          <p:nvPr/>
        </p:nvSpPr>
        <p:spPr>
          <a:xfrm>
            <a:off x="8183880" y="2606040"/>
            <a:ext cx="3474720" cy="320040"/>
          </a:xfrm>
          <a:prstGeom prst="rect">
            <a:avLst/>
          </a:prstGeom>
          <a:noFill/>
          <a:ln/>
        </p:spPr>
        <p:txBody>
          <a:bodyPr wrap="square" lIns="0" tIns="0" rIns="0" bIns="0" rtlCol="0" anchor="t"/>
          <a:lstStyle/>
          <a:p>
            <a:pPr indent="0" marL="0">
              <a:buNone/>
            </a:pPr>
            <a:r>
              <a:rPr lang="en-US" sz="1300" dirty="0">
                <a:solidFill>
                  <a:srgbClr val="5B6472"/>
                </a:solidFill>
              </a:rPr>
              <a:t>신체건강 단독 정보량 — 네 지표 모두 1위</a:t>
            </a:r>
            <a:endParaRPr lang="en-US" sz="1300" dirty="0"/>
          </a:p>
        </p:txBody>
      </p:sp>
      <p:sp>
        <p:nvSpPr>
          <p:cNvPr id="7" name="Shape 3"/>
          <p:cNvSpPr/>
          <p:nvPr/>
        </p:nvSpPr>
        <p:spPr>
          <a:xfrm>
            <a:off x="8183880" y="3154680"/>
            <a:ext cx="3456432" cy="1051560"/>
          </a:xfrm>
          <a:prstGeom prst="roundRect">
            <a:avLst>
              <a:gd name="adj" fmla="val 8696"/>
            </a:avLst>
          </a:prstGeom>
          <a:solidFill>
            <a:srgbClr val="F3F5F8"/>
          </a:solidFill>
          <a:ln w="9525">
            <a:solidFill>
              <a:srgbClr val="F3F5F8"/>
            </a:solidFill>
            <a:prstDash val="solid"/>
          </a:ln>
        </p:spPr>
      </p:sp>
      <p:sp>
        <p:nvSpPr>
          <p:cNvPr id="8" name="Text 4"/>
          <p:cNvSpPr txBox="1"/>
          <p:nvPr/>
        </p:nvSpPr>
        <p:spPr>
          <a:xfrm>
            <a:off x="8412480" y="3246120"/>
            <a:ext cx="3108960" cy="914400"/>
          </a:xfrm>
          <a:prstGeom prst="rect">
            <a:avLst/>
          </a:prstGeom>
          <a:noFill/>
          <a:ln/>
        </p:spPr>
        <p:txBody>
          <a:bodyPr wrap="square" lIns="0" tIns="0" rIns="0" bIns="0" rtlCol="0" anchor="t"/>
          <a:lstStyle/>
          <a:p>
            <a:pPr indent="0" marL="0">
              <a:buNone/>
            </a:pPr>
            <a:r>
              <a:rPr lang="en-US" sz="2200" b="1" dirty="0">
                <a:solidFill>
                  <a:srgbClr val="1D2430"/>
                </a:solidFill>
              </a:rPr>
              <a:t>7 / 7</a:t>
            </a:r>
            <a:endParaRPr lang="en-US" sz="1400" dirty="0"/>
          </a:p>
          <a:p>
            <a:pPr indent="0" marL="0">
              <a:buNone/>
            </a:pPr>
            <a:r>
              <a:rPr lang="en-US" sz="1200" dirty="0">
                <a:solidFill>
                  <a:srgbClr val="5B6472"/>
                </a:solidFill>
              </a:rPr>
              <a:t>어느 영역을 빼도 성능 하락(95% CI &gt; 0)</a:t>
            </a:r>
            <a:endParaRPr lang="en-US" sz="1400" dirty="0"/>
          </a:p>
        </p:txBody>
      </p:sp>
      <p:sp>
        <p:nvSpPr>
          <p:cNvPr id="9" name="Shape 5"/>
          <p:cNvSpPr/>
          <p:nvPr/>
        </p:nvSpPr>
        <p:spPr>
          <a:xfrm>
            <a:off x="8183880" y="4343400"/>
            <a:ext cx="3456432" cy="1051560"/>
          </a:xfrm>
          <a:prstGeom prst="roundRect">
            <a:avLst>
              <a:gd name="adj" fmla="val 8696"/>
            </a:avLst>
          </a:prstGeom>
          <a:solidFill>
            <a:srgbClr val="F3F5F8"/>
          </a:solidFill>
          <a:ln w="9525">
            <a:solidFill>
              <a:srgbClr val="F3F5F8"/>
            </a:solidFill>
            <a:prstDash val="solid"/>
          </a:ln>
        </p:spPr>
      </p:sp>
      <p:sp>
        <p:nvSpPr>
          <p:cNvPr id="10" name="Text 6"/>
          <p:cNvSpPr txBox="1"/>
          <p:nvPr/>
        </p:nvSpPr>
        <p:spPr>
          <a:xfrm>
            <a:off x="8412480" y="4434840"/>
            <a:ext cx="3108960" cy="914400"/>
          </a:xfrm>
          <a:prstGeom prst="rect">
            <a:avLst/>
          </a:prstGeom>
          <a:noFill/>
          <a:ln/>
        </p:spPr>
        <p:txBody>
          <a:bodyPr wrap="square" lIns="0" tIns="0" rIns="0" bIns="0" rtlCol="0" anchor="t"/>
          <a:lstStyle/>
          <a:p>
            <a:pPr indent="0" marL="0">
              <a:buNone/>
            </a:pPr>
            <a:r>
              <a:rPr lang="en-US" sz="2200" b="1" dirty="0">
                <a:solidFill>
                  <a:srgbClr val="1D2430"/>
                </a:solidFill>
              </a:rPr>
              <a:t>0.283</a:t>
            </a:r>
            <a:endParaRPr lang="en-US" sz="1400" dirty="0"/>
          </a:p>
          <a:p>
            <a:pPr indent="0" marL="0">
              <a:buNone/>
            </a:pPr>
            <a:r>
              <a:rPr lang="en-US" sz="1200" dirty="0">
                <a:solidFill>
                  <a:srgbClr val="5B6472"/>
                </a:solidFill>
              </a:rPr>
              <a:t>주 분석 AP · 인구만 0.086</a:t>
            </a:r>
            <a:endParaRPr lang="en-US" sz="1400" dirty="0"/>
          </a:p>
        </p:txBody>
      </p:sp>
      <p:sp>
        <p:nvSpPr>
          <p:cNvPr id="11" name="Shape 7"/>
          <p:cNvSpPr/>
          <p:nvPr/>
        </p:nvSpPr>
        <p:spPr>
          <a:xfrm>
            <a:off x="548640" y="5742432"/>
            <a:ext cx="11094415" cy="475488"/>
          </a:xfrm>
          <a:prstGeom prst="roundRect">
            <a:avLst>
              <a:gd name="adj" fmla="val 19231"/>
            </a:avLst>
          </a:prstGeom>
          <a:solidFill>
            <a:srgbClr val="FDEBC8"/>
          </a:solidFill>
          <a:ln w="9525">
            <a:solidFill>
              <a:srgbClr val="FDEBC8"/>
            </a:solidFill>
            <a:prstDash val="solid"/>
          </a:ln>
        </p:spPr>
      </p:sp>
      <p:sp>
        <p:nvSpPr>
          <p:cNvPr id="12" name="Text 8"/>
          <p:cNvSpPr txBox="1"/>
          <p:nvPr/>
        </p:nvSpPr>
        <p:spPr>
          <a:xfrm>
            <a:off x="777240" y="5742432"/>
            <a:ext cx="10637215" cy="475488"/>
          </a:xfrm>
          <a:prstGeom prst="rect">
            <a:avLst/>
          </a:prstGeom>
          <a:noFill/>
          <a:ln/>
        </p:spPr>
        <p:txBody>
          <a:bodyPr wrap="square" lIns="0" tIns="0" rIns="0" bIns="0" rtlCol="0" anchor="ctr"/>
          <a:lstStyle/>
          <a:p>
            <a:pPr indent="0" marL="0">
              <a:buNone/>
            </a:pPr>
            <a:r>
              <a:rPr lang="en-US" sz="1300" b="1" dirty="0">
                <a:solidFill>
                  <a:srgbClr val="A86400"/>
                </a:solidFill>
              </a:rPr>
              <a:t>읽는 법   </a:t>
            </a:r>
            <a:pPr indent="0" marL="0">
              <a:buNone/>
            </a:pPr>
            <a:r>
              <a:rPr lang="en-US" sz="1300" dirty="0">
                <a:solidFill>
                  <a:srgbClr val="1D2430"/>
                </a:solidFill>
              </a:rPr>
              <a:t>단독 = 인구 정보에 이 영역만 더했을 때 오른 만큼 · 고유 = 전부 넣은 모형에서 이 영역만 뺐을 때 떨어진 만큼</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바꿀 수 있는 요인 중 식품 불안정과 구강 문제의 연관이 가장 크다</a:t>
            </a:r>
            <a:endParaRPr lang="en-US" sz="2800" dirty="0"/>
          </a:p>
        </p:txBody>
      </p:sp>
      <p:sp>
        <p:nvSpPr>
          <p:cNvPr id="4" name="Text 1"/>
          <p:cNvSpPr txBox="1"/>
          <p:nvPr/>
        </p:nvSpPr>
        <p:spPr>
          <a:xfrm>
            <a:off x="548640" y="1737360"/>
            <a:ext cx="2377440" cy="292608"/>
          </a:xfrm>
          <a:prstGeom prst="roundRect">
            <a:avLst>
              <a:gd name="adj" fmla="val 46875"/>
            </a:avLst>
          </a:prstGeom>
          <a:solidFill>
            <a:srgbClr val="E3ECFB"/>
          </a:solidFill>
          <a:ln>
            <a:solidFill>
              <a:srgbClr val="E3ECFB"/>
            </a:solidFill>
          </a:ln>
        </p:spPr>
        <p:txBody>
          <a:bodyPr wrap="square" lIns="0" tIns="0" rIns="0" bIns="0" rtlCol="0" anchor="ctr"/>
          <a:lstStyle/>
          <a:p>
            <a:pPr algn="ctr" indent="0" marL="0">
              <a:buNone/>
            </a:pPr>
            <a:r>
              <a:rPr lang="en-US" sz="1200" b="1" dirty="0">
                <a:solidFill>
                  <a:srgbClr val="2F5FB3"/>
                </a:solidFill>
              </a:rPr>
              <a:t>B 서비스·정책·환경</a:t>
            </a:r>
            <a:endParaRPr lang="en-US" sz="1200" dirty="0"/>
          </a:p>
        </p:txBody>
      </p:sp>
      <p:sp>
        <p:nvSpPr>
          <p:cNvPr id="5" name="Text 2"/>
          <p:cNvSpPr txBox="1"/>
          <p:nvPr/>
        </p:nvSpPr>
        <p:spPr>
          <a:xfrm>
            <a:off x="3063240" y="1737360"/>
            <a:ext cx="2926080" cy="292608"/>
          </a:xfrm>
          <a:prstGeom prst="rect">
            <a:avLst/>
          </a:prstGeom>
          <a:noFill/>
          <a:ln/>
        </p:spPr>
        <p:txBody>
          <a:bodyPr wrap="square" lIns="0" tIns="0" rIns="0" bIns="0" rtlCol="0" anchor="ctr"/>
          <a:lstStyle/>
          <a:p>
            <a:pPr indent="0" marL="0">
              <a:buNone/>
            </a:pPr>
            <a:r>
              <a:rPr lang="en-US" sz="1200" dirty="0">
                <a:solidFill>
                  <a:srgbClr val="5B6472"/>
                </a:solidFill>
              </a:rPr>
              <a:t>변수마다 위험이 가장 큰 수준</a:t>
            </a:r>
            <a:endParaRPr lang="en-US" sz="1200" dirty="0"/>
          </a:p>
        </p:txBody>
      </p:sp>
      <p:graphicFrame>
        <p:nvGraphicFramePr>
          <p:cNvPr id="6" name="Chart 0" descr=""/>
          <p:cNvGraphicFramePr/>
          <p:nvPr/>
        </p:nvGraphicFramePr>
        <p:xfrm>
          <a:off x="548640" y="2103120"/>
          <a:ext cx="5440680" cy="347472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6199632" y="1737360"/>
            <a:ext cx="237744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A 개인 행동</a:t>
            </a:r>
            <a:endParaRPr lang="en-US" sz="1200" dirty="0"/>
          </a:p>
        </p:txBody>
      </p:sp>
      <p:sp>
        <p:nvSpPr>
          <p:cNvPr id="8" name="Text 4"/>
          <p:cNvSpPr txBox="1"/>
          <p:nvPr/>
        </p:nvSpPr>
        <p:spPr>
          <a:xfrm>
            <a:off x="8714232" y="1737360"/>
            <a:ext cx="2926080" cy="292608"/>
          </a:xfrm>
          <a:prstGeom prst="rect">
            <a:avLst/>
          </a:prstGeom>
          <a:noFill/>
          <a:ln/>
        </p:spPr>
        <p:txBody>
          <a:bodyPr wrap="square" lIns="0" tIns="0" rIns="0" bIns="0" rtlCol="0" anchor="ctr"/>
          <a:lstStyle/>
          <a:p>
            <a:pPr indent="0" marL="0">
              <a:buNone/>
            </a:pPr>
            <a:r>
              <a:rPr lang="en-US" sz="1200" dirty="0">
                <a:solidFill>
                  <a:srgbClr val="5B6472"/>
                </a:solidFill>
              </a:rPr>
              <a:t>대표 행동 5개</a:t>
            </a:r>
            <a:endParaRPr lang="en-US" sz="1200" dirty="0"/>
          </a:p>
        </p:txBody>
      </p:sp>
      <p:graphicFrame>
        <p:nvGraphicFramePr>
          <p:cNvPr id="9" name="Chart 1" descr=""/>
          <p:cNvGraphicFramePr/>
          <p:nvPr/>
        </p:nvGraphicFramePr>
        <p:xfrm>
          <a:off x="6199632" y="2103120"/>
          <a:ext cx="5440680" cy="3474720"/>
        </p:xfrm>
        <a:graphic xmlns:a="http://schemas.openxmlformats.org/drawingml/2006/main">
          <a:graphicData uri="http://schemas.openxmlformats.org/drawingml/2006/chart">
            <c:chart xmlns:c="http://schemas.openxmlformats.org/drawingml/2006/chart" r:id="rId2"/>
          </a:graphicData>
        </a:graphic>
      </p:graphicFrame>
      <p:sp>
        <p:nvSpPr>
          <p:cNvPr id="10" name="Shape 5"/>
          <p:cNvSpPr/>
          <p:nvPr/>
        </p:nvSpPr>
        <p:spPr>
          <a:xfrm>
            <a:off x="548640" y="5742432"/>
            <a:ext cx="11094415" cy="475488"/>
          </a:xfrm>
          <a:prstGeom prst="roundRect">
            <a:avLst>
              <a:gd name="adj" fmla="val 19231"/>
            </a:avLst>
          </a:prstGeom>
          <a:solidFill>
            <a:srgbClr val="FDEBC8"/>
          </a:solidFill>
          <a:ln w="9525">
            <a:solidFill>
              <a:srgbClr val="FDEBC8"/>
            </a:solidFill>
            <a:prstDash val="solid"/>
          </a:ln>
        </p:spPr>
      </p:sp>
      <p:sp>
        <p:nvSpPr>
          <p:cNvPr id="11" name="Text 6"/>
          <p:cNvSpPr txBox="1"/>
          <p:nvPr/>
        </p:nvSpPr>
        <p:spPr>
          <a:xfrm>
            <a:off x="777240" y="5742432"/>
            <a:ext cx="10637215" cy="475488"/>
          </a:xfrm>
          <a:prstGeom prst="rect">
            <a:avLst/>
          </a:prstGeom>
          <a:noFill/>
          <a:ln/>
        </p:spPr>
        <p:txBody>
          <a:bodyPr wrap="square" lIns="0" tIns="0" rIns="0" bIns="0" rtlCol="0" anchor="ctr"/>
          <a:lstStyle/>
          <a:p>
            <a:pPr indent="0" marL="0">
              <a:buNone/>
            </a:pPr>
            <a:r>
              <a:rPr lang="en-US" sz="1300" b="1" dirty="0">
                <a:solidFill>
                  <a:srgbClr val="A86400"/>
                </a:solidFill>
              </a:rPr>
              <a:t>읽는 법   </a:t>
            </a:r>
            <a:pPr indent="0" marL="0">
              <a:buNone/>
            </a:pPr>
            <a:r>
              <a:rPr lang="en-US" sz="1300" dirty="0">
                <a:solidFill>
                  <a:srgbClr val="1D2430"/>
                </a:solidFill>
              </a:rPr>
              <a:t>조정 OR = 53개 변수를 동시에 고정했을 때 오즈가 몇 배인가 · 기준은 건강한 상태 · 모두 p &lt; .05</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연령대마다 우울과 가장 관련된 영역이 다르다</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858000" cy="914400"/>
        </p:xfrm>
        <a:graphic>
          <a:graphicData uri="http://schemas.openxmlformats.org/drawingml/2006/table">
            <a:tbl>
              <a:tblPr/>
              <a:tblGrid>
                <a:gridCol w="2194560"/>
                <a:gridCol w="1554480"/>
                <a:gridCol w="1554480"/>
                <a:gridCol w="1554480"/>
              </a:tblGrid>
              <a:tr h="530352">
                <a:tc>
                  <a:txBody>
                    <a:bodyPr/>
                    <a:lstStyle/>
                    <a:p>
                      <a:pPr algn="l" indent="0" marL="0">
                        <a:buNone/>
                      </a:pPr>
                      <a:r>
                        <a:rPr lang="en-US" sz="1500" b="1" dirty="0">
                          <a:solidFill>
                            <a:srgbClr val="5B6472"/>
                          </a:solidFill>
                          <a:latin typeface="맑은 고딕" pitchFamily="34" charset="0"/>
                          <a:ea typeface="맑은 고딕" pitchFamily="34" charset="-122"/>
                          <a:cs typeface="맑은 고딕" pitchFamily="34" charset="-120"/>
                        </a:rPr>
                        <a:t>영역</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5B6472"/>
                          </a:solidFill>
                          <a:latin typeface="맑은 고딕" pitchFamily="34" charset="0"/>
                          <a:ea typeface="맑은 고딕" pitchFamily="34" charset="-122"/>
                          <a:cs typeface="맑은 고딕" pitchFamily="34" charset="-120"/>
                        </a:rPr>
                        <a:t>19~39세</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5B6472"/>
                          </a:solidFill>
                          <a:latin typeface="맑은 고딕" pitchFamily="34" charset="0"/>
                          <a:ea typeface="맑은 고딕" pitchFamily="34" charset="-122"/>
                          <a:cs typeface="맑은 고딕" pitchFamily="34" charset="-120"/>
                        </a:rPr>
                        <a:t>40~64세</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5B6472"/>
                          </a:solidFill>
                          <a:latin typeface="맑은 고딕" pitchFamily="34" charset="0"/>
                          <a:ea typeface="맑은 고딕" pitchFamily="34" charset="-122"/>
                          <a:cs typeface="맑은 고딕" pitchFamily="34" charset="-120"/>
                        </a:rPr>
                        <a:t>65세 이상</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30352">
                <a:tc>
                  <a:txBody>
                    <a:bodyPr/>
                    <a:lstStyle/>
                    <a:p>
                      <a:pPr algn="l" indent="0" marL="0">
                        <a:buNone/>
                      </a:pPr>
                      <a:r>
                        <a:rPr lang="en-US" sz="1500" b="1" dirty="0">
                          <a:solidFill>
                            <a:srgbClr val="000000"/>
                          </a:solidFill>
                          <a:latin typeface="맑은 고딕" pitchFamily="34" charset="0"/>
                          <a:ea typeface="맑은 고딕" pitchFamily="34" charset="-122"/>
                          <a:cs typeface="맑은 고딕" pitchFamily="34" charset="-120"/>
                        </a:rPr>
                        <a:t>신체건강</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1D2430"/>
                          </a:solidFill>
                          <a:latin typeface="맑은 고딕" pitchFamily="34" charset="0"/>
                          <a:ea typeface="맑은 고딕" pitchFamily="34" charset="-122"/>
                          <a:cs typeface="맑은 고딕" pitchFamily="34" charset="-120"/>
                        </a:rPr>
                        <a:t>+0.052</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5C8B1"/>
                    </a:solidFill>
                  </a:tcPr>
                </a:tc>
                <a:tc>
                  <a:txBody>
                    <a:bodyPr/>
                    <a:lstStyle/>
                    <a:p>
                      <a:pPr algn="ctr" indent="0" marL="0">
                        <a:buNone/>
                      </a:pPr>
                      <a:r>
                        <a:rPr lang="en-US" sz="1500" dirty="0">
                          <a:solidFill>
                            <a:srgbClr val="FFFFFF"/>
                          </a:solidFill>
                          <a:latin typeface="맑은 고딕" pitchFamily="34" charset="0"/>
                          <a:ea typeface="맑은 고딕" pitchFamily="34" charset="-122"/>
                          <a:cs typeface="맑은 고딕" pitchFamily="34" charset="-120"/>
                        </a:rPr>
                        <a:t>+0.065</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BBA9E"/>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+0.099</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5966B"/>
                    </a:solidFill>
                  </a:tcPr>
                </a:tc>
              </a:tr>
              <a:tr h="530352">
                <a:tc>
                  <a:txBody>
                    <a:bodyPr/>
                    <a:lstStyle/>
                    <a:p>
                      <a:pPr algn="l" indent="0" marL="0">
                        <a:buNone/>
                      </a:pPr>
                      <a:r>
                        <a:rPr lang="en-US" sz="1500" b="1" dirty="0">
                          <a:solidFill>
                            <a:srgbClr val="000000"/>
                          </a:solidFill>
                          <a:latin typeface="맑은 고딕" pitchFamily="34" charset="0"/>
                          <a:ea typeface="맑은 고딕" pitchFamily="34" charset="-122"/>
                          <a:cs typeface="맑은 고딕" pitchFamily="34" charset="-120"/>
                        </a:rPr>
                        <a:t>의료접근·건강정보</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+0.041</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ACD3C2"/>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+0.038</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B2D7C6"/>
                    </a:solidFill>
                  </a:tcPr>
                </a:tc>
                <a:tc>
                  <a:txBody>
                    <a:bodyPr/>
                    <a:lstStyle/>
                    <a:p>
                      <a:pPr algn="ctr" indent="0" marL="0">
                        <a:buNone/>
                      </a:pPr>
                      <a:r>
                        <a:rPr lang="en-US" sz="1500" dirty="0">
                          <a:solidFill>
                            <a:srgbClr val="FFFFFF"/>
                          </a:solidFill>
                          <a:latin typeface="맑은 고딕" pitchFamily="34" charset="0"/>
                          <a:ea typeface="맑은 고딕" pitchFamily="34" charset="-122"/>
                          <a:cs typeface="맑은 고딕" pitchFamily="34" charset="-120"/>
                        </a:rPr>
                        <a:t>+0.085</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2A580"/>
                    </a:solidFill>
                  </a:tcPr>
                </a:tc>
              </a:tr>
              <a:tr h="530352">
                <a:tc>
                  <a:txBody>
                    <a:bodyPr/>
                    <a:lstStyle/>
                    <a:p>
                      <a:pPr algn="l" indent="0" marL="0">
                        <a:buNone/>
                      </a:pPr>
                      <a:r>
                        <a:rPr lang="en-US" sz="1500" b="1" dirty="0">
                          <a:solidFill>
                            <a:srgbClr val="000000"/>
                          </a:solidFill>
                          <a:latin typeface="맑은 고딕" pitchFamily="34" charset="0"/>
                          <a:ea typeface="맑은 고딕" pitchFamily="34" charset="-122"/>
                          <a:cs typeface="맑은 고딕" pitchFamily="34" charset="-120"/>
                        </a:rPr>
                        <a:t>경제</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+0.016</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EEEE7"/>
                    </a:solidFill>
                  </a:tcPr>
                </a:tc>
                <a:tc>
                  <a:txBody>
                    <a:bodyPr/>
                    <a:lstStyle/>
                    <a:p>
                      <a:pPr algn="ctr" indent="0" marL="0">
                        <a:buNone/>
                      </a:pPr>
                      <a:r>
                        <a:rPr lang="en-US" sz="1500" b="1" dirty="0">
                          <a:solidFill>
                            <a:srgbClr val="FFFFFF"/>
                          </a:solidFill>
                          <a:latin typeface="맑은 고딕" pitchFamily="34" charset="0"/>
                          <a:ea typeface="맑은 고딕" pitchFamily="34" charset="-122"/>
                          <a:cs typeface="맑은 고딕" pitchFamily="34" charset="-120"/>
                        </a:rPr>
                        <a:t>+0.069</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72B698"/>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+0.055</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8FC5AD"/>
                    </a:solidFill>
                  </a:tcPr>
                </a:tc>
              </a:tr>
              <a:tr h="530352">
                <a:tc>
                  <a:txBody>
                    <a:bodyPr/>
                    <a:lstStyle/>
                    <a:p>
                      <a:pPr algn="l" indent="0" marL="0">
                        <a:buNone/>
                      </a:pPr>
                      <a:r>
                        <a:rPr lang="en-US" sz="1500" b="1" dirty="0">
                          <a:solidFill>
                            <a:srgbClr val="000000"/>
                          </a:solidFill>
                          <a:latin typeface="맑은 고딕" pitchFamily="34" charset="0"/>
                          <a:ea typeface="맑은 고딕" pitchFamily="34" charset="-122"/>
                          <a:cs typeface="맑은 고딕" pitchFamily="34" charset="-120"/>
                        </a:rPr>
                        <a:t>건강행태</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+0.051</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7C9B3"/>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+0.031</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0DED1"/>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+0.048</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DCCB7"/>
                    </a:solidFill>
                  </a:tcPr>
                </a:tc>
              </a:tr>
              <a:tr h="530352">
                <a:tc>
                  <a:txBody>
                    <a:bodyPr/>
                    <a:lstStyle/>
                    <a:p>
                      <a:pPr algn="l" indent="0" marL="0">
                        <a:buNone/>
                      </a:pPr>
                      <a:r>
                        <a:rPr lang="en-US" sz="1500" b="1" dirty="0">
                          <a:solidFill>
                            <a:srgbClr val="000000"/>
                          </a:solidFill>
                          <a:latin typeface="맑은 고딕" pitchFamily="34" charset="0"/>
                          <a:ea typeface="맑은 고딕" pitchFamily="34" charset="-122"/>
                          <a:cs typeface="맑은 고딕" pitchFamily="34" charset="-120"/>
                        </a:rPr>
                        <a:t>사회관계</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+0.021</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4E9E0"/>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+0.041</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ACD3C2"/>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+0.048</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9DCCB7"/>
                    </a:solidFill>
                  </a:tcPr>
                </a:tc>
              </a:tr>
              <a:tr h="530352">
                <a:tc>
                  <a:txBody>
                    <a:bodyPr/>
                    <a:lstStyle/>
                    <a:p>
                      <a:pPr algn="l" indent="0" marL="0">
                        <a:buNone/>
                      </a:pPr>
                      <a:r>
                        <a:rPr lang="en-US" sz="1500" b="1" dirty="0">
                          <a:solidFill>
                            <a:srgbClr val="000000"/>
                          </a:solidFill>
                          <a:latin typeface="맑은 고딕" pitchFamily="34" charset="0"/>
                          <a:ea typeface="맑은 고딕" pitchFamily="34" charset="-122"/>
                          <a:cs typeface="맑은 고딕" pitchFamily="34" charset="-120"/>
                        </a:rPr>
                        <a:t>생활환경</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+0.017</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CEDE6"/>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+0.016</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EEEE7"/>
                    </a:solidFill>
                  </a:tcPr>
                </a:tc>
                <a:tc>
                  <a:txBody>
                    <a:bodyPr/>
                    <a:lstStyle/>
                    <a:p>
                      <a:pPr algn="ctr" indent="0" marL="0">
                        <a:buNone/>
                      </a:pPr>
                      <a:r>
                        <a:rPr lang="en-US" sz="1500" dirty="0">
                          <a:solidFill>
                            <a:srgbClr val="1D2430"/>
                          </a:solidFill>
                          <a:latin typeface="맑은 고딕" pitchFamily="34" charset="0"/>
                          <a:ea typeface="맑은 고딕" pitchFamily="34" charset="-122"/>
                          <a:cs typeface="맑은 고딕" pitchFamily="34" charset="-120"/>
                        </a:rPr>
                        <a:t>+0.027</a:t>
                      </a:r>
                      <a:endParaRPr lang="en-US" sz="1500" dirty="0">
                        <a:latin typeface="맑은 고딕" charset="0"/>
                        <a:ea typeface="맑은 고딕" charset="0"/>
                        <a:cs typeface="맑은 고딕" charset="0"/>
                      </a:endParaRPr>
                    </a:p>
                  </a:txBody>
                  <a:tcPr marL="91440" marR="91440"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8E2D7"/>
                    </a:solidFill>
                  </a:tcPr>
                </a:tc>
              </a:tr>
            </a:tbl>
          </a:graphicData>
        </a:graphic>
      </p:graphicFrame>
      <p:sp>
        <p:nvSpPr>
          <p:cNvPr id="5" name="Text 1"/>
          <p:cNvSpPr txBox="1"/>
          <p:nvPr/>
        </p:nvSpPr>
        <p:spPr>
          <a:xfrm>
            <a:off x="548640" y="5486400"/>
            <a:ext cx="6858000" cy="274320"/>
          </a:xfrm>
          <a:prstGeom prst="rect">
            <a:avLst/>
          </a:prstGeom>
          <a:noFill/>
          <a:ln/>
        </p:spPr>
        <p:txBody>
          <a:bodyPr wrap="square" lIns="0" tIns="0" rIns="0" bIns="0" rtlCol="0" anchor="t"/>
          <a:lstStyle/>
          <a:p>
            <a:pPr indent="0" marL="0">
              <a:buNone/>
            </a:pPr>
            <a:r>
              <a:rPr lang="en-US" sz="1100" dirty="0">
                <a:solidFill>
                  <a:srgbClr val="6B7280"/>
                </a:solidFill>
              </a:rPr>
              <a:t>인구 영역에 각 영역을 더했을 때의 AP 증가(LightGBM, 연령대별 재학습) · 굵은 글씨 = 그 연령대의 최대</a:t>
            </a:r>
            <a:endParaRPr lang="en-US" sz="1100" dirty="0"/>
          </a:p>
        </p:txBody>
      </p:sp>
      <p:sp>
        <p:nvSpPr>
          <p:cNvPr id="6" name="Shape 2"/>
          <p:cNvSpPr/>
          <p:nvPr/>
        </p:nvSpPr>
        <p:spPr>
          <a:xfrm>
            <a:off x="7726680" y="1737360"/>
            <a:ext cx="3913632" cy="1161288"/>
          </a:xfrm>
          <a:prstGeom prst="roundRect">
            <a:avLst>
              <a:gd name="adj" fmla="val 7874"/>
            </a:avLst>
          </a:prstGeom>
          <a:solidFill>
            <a:srgbClr val="DDF3E8"/>
          </a:solidFill>
          <a:ln w="9525">
            <a:solidFill>
              <a:srgbClr val="DDF3E8"/>
            </a:solidFill>
            <a:prstDash val="solid"/>
          </a:ln>
        </p:spPr>
      </p:sp>
      <p:sp>
        <p:nvSpPr>
          <p:cNvPr id="7" name="Text 3"/>
          <p:cNvSpPr txBox="1"/>
          <p:nvPr/>
        </p:nvSpPr>
        <p:spPr>
          <a:xfrm>
            <a:off x="7955280" y="1874520"/>
            <a:ext cx="1188720" cy="292608"/>
          </a:xfrm>
          <a:prstGeom prst="roundRect">
            <a:avLst>
              <a:gd name="adj" fmla="val 46875"/>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1F8A5B"/>
                </a:solidFill>
              </a:rPr>
              <a:t>19~39세</a:t>
            </a:r>
            <a:endParaRPr lang="en-US" sz="1200" dirty="0"/>
          </a:p>
        </p:txBody>
      </p:sp>
      <p:sp>
        <p:nvSpPr>
          <p:cNvPr id="8" name="Text 4"/>
          <p:cNvSpPr txBox="1"/>
          <p:nvPr/>
        </p:nvSpPr>
        <p:spPr>
          <a:xfrm>
            <a:off x="7955280" y="2212848"/>
            <a:ext cx="3566160" cy="347472"/>
          </a:xfrm>
          <a:prstGeom prst="rect">
            <a:avLst/>
          </a:prstGeom>
          <a:noFill/>
          <a:ln/>
        </p:spPr>
        <p:txBody>
          <a:bodyPr wrap="square" lIns="0" tIns="0" rIns="0" bIns="0" rtlCol="0" anchor="t"/>
          <a:lstStyle/>
          <a:p>
            <a:pPr indent="0" marL="0">
              <a:buNone/>
            </a:pPr>
            <a:r>
              <a:rPr lang="en-US" sz="1800" b="1" dirty="0">
                <a:solidFill>
                  <a:srgbClr val="1F8A5B"/>
                </a:solidFill>
              </a:rPr>
              <a:t>건강행태 ≈ 신체건강</a:t>
            </a:r>
            <a:endParaRPr lang="en-US" sz="1800" dirty="0"/>
          </a:p>
        </p:txBody>
      </p:sp>
      <p:sp>
        <p:nvSpPr>
          <p:cNvPr id="9" name="Text 5"/>
          <p:cNvSpPr txBox="1"/>
          <p:nvPr/>
        </p:nvSpPr>
        <p:spPr>
          <a:xfrm>
            <a:off x="7955280" y="2560320"/>
            <a:ext cx="3566160" cy="274320"/>
          </a:xfrm>
          <a:prstGeom prst="rect">
            <a:avLst/>
          </a:prstGeom>
          <a:noFill/>
          <a:ln/>
        </p:spPr>
        <p:txBody>
          <a:bodyPr wrap="square" lIns="0" tIns="0" rIns="0" bIns="0" rtlCol="0" anchor="t"/>
          <a:lstStyle/>
          <a:p>
            <a:pPr indent="0" marL="0">
              <a:buNone/>
            </a:pPr>
            <a:r>
              <a:rPr lang="en-US" sz="1200" dirty="0">
                <a:solidFill>
                  <a:srgbClr val="5B6472"/>
                </a:solidFill>
              </a:rPr>
              <a:t>운동·식사·흡연 같은 생활습관이 핵심</a:t>
            </a:r>
            <a:endParaRPr lang="en-US" sz="1200" dirty="0"/>
          </a:p>
        </p:txBody>
      </p:sp>
      <p:sp>
        <p:nvSpPr>
          <p:cNvPr id="10" name="Shape 6"/>
          <p:cNvSpPr/>
          <p:nvPr/>
        </p:nvSpPr>
        <p:spPr>
          <a:xfrm>
            <a:off x="7726680" y="3035808"/>
            <a:ext cx="3913632" cy="1161288"/>
          </a:xfrm>
          <a:prstGeom prst="roundRect">
            <a:avLst>
              <a:gd name="adj" fmla="val 7874"/>
            </a:avLst>
          </a:prstGeom>
          <a:solidFill>
            <a:srgbClr val="FDEBC8"/>
          </a:solidFill>
          <a:ln w="9525">
            <a:solidFill>
              <a:srgbClr val="FDEBC8"/>
            </a:solidFill>
            <a:prstDash val="solid"/>
          </a:ln>
        </p:spPr>
      </p:sp>
      <p:sp>
        <p:nvSpPr>
          <p:cNvPr id="11" name="Text 7"/>
          <p:cNvSpPr txBox="1"/>
          <p:nvPr/>
        </p:nvSpPr>
        <p:spPr>
          <a:xfrm>
            <a:off x="7955280" y="3172968"/>
            <a:ext cx="1188720" cy="292608"/>
          </a:xfrm>
          <a:prstGeom prst="roundRect">
            <a:avLst>
              <a:gd name="adj" fmla="val 46875"/>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A86400"/>
                </a:solidFill>
              </a:rPr>
              <a:t>40~64세</a:t>
            </a:r>
            <a:endParaRPr lang="en-US" sz="1200" dirty="0"/>
          </a:p>
        </p:txBody>
      </p:sp>
      <p:sp>
        <p:nvSpPr>
          <p:cNvPr id="12" name="Text 8"/>
          <p:cNvSpPr txBox="1"/>
          <p:nvPr/>
        </p:nvSpPr>
        <p:spPr>
          <a:xfrm>
            <a:off x="7955280" y="3511296"/>
            <a:ext cx="3566160" cy="347472"/>
          </a:xfrm>
          <a:prstGeom prst="rect">
            <a:avLst/>
          </a:prstGeom>
          <a:noFill/>
          <a:ln/>
        </p:spPr>
        <p:txBody>
          <a:bodyPr wrap="square" lIns="0" tIns="0" rIns="0" bIns="0" rtlCol="0" anchor="t"/>
          <a:lstStyle/>
          <a:p>
            <a:pPr indent="0" marL="0">
              <a:buNone/>
            </a:pPr>
            <a:r>
              <a:rPr lang="en-US" sz="1800" b="1" dirty="0">
                <a:solidFill>
                  <a:srgbClr val="A86400"/>
                </a:solidFill>
              </a:rPr>
              <a:t>경제</a:t>
            </a:r>
            <a:endParaRPr lang="en-US" sz="1800" dirty="0"/>
          </a:p>
        </p:txBody>
      </p:sp>
      <p:sp>
        <p:nvSpPr>
          <p:cNvPr id="13" name="Text 9"/>
          <p:cNvSpPr txBox="1"/>
          <p:nvPr/>
        </p:nvSpPr>
        <p:spPr>
          <a:xfrm>
            <a:off x="7955280" y="3858768"/>
            <a:ext cx="3566160" cy="274320"/>
          </a:xfrm>
          <a:prstGeom prst="rect">
            <a:avLst/>
          </a:prstGeom>
          <a:noFill/>
          <a:ln/>
        </p:spPr>
        <p:txBody>
          <a:bodyPr wrap="square" lIns="0" tIns="0" rIns="0" bIns="0" rtlCol="0" anchor="t"/>
          <a:lstStyle/>
          <a:p>
            <a:pPr indent="0" marL="0">
              <a:buNone/>
            </a:pPr>
            <a:r>
              <a:rPr lang="en-US" sz="1200" dirty="0">
                <a:solidFill>
                  <a:srgbClr val="5B6472"/>
                </a:solidFill>
              </a:rPr>
              <a:t>소득·식품안정성·경제활동이 가장 큼</a:t>
            </a:r>
            <a:endParaRPr lang="en-US" sz="1200" dirty="0"/>
          </a:p>
        </p:txBody>
      </p:sp>
      <p:sp>
        <p:nvSpPr>
          <p:cNvPr id="14" name="Shape 10"/>
          <p:cNvSpPr/>
          <p:nvPr/>
        </p:nvSpPr>
        <p:spPr>
          <a:xfrm>
            <a:off x="7726680" y="4334256"/>
            <a:ext cx="3913632" cy="1161288"/>
          </a:xfrm>
          <a:prstGeom prst="roundRect">
            <a:avLst>
              <a:gd name="adj" fmla="val 7874"/>
            </a:avLst>
          </a:prstGeom>
          <a:solidFill>
            <a:srgbClr val="E3ECFB"/>
          </a:solidFill>
          <a:ln w="9525">
            <a:solidFill>
              <a:srgbClr val="E3ECFB"/>
            </a:solidFill>
            <a:prstDash val="solid"/>
          </a:ln>
        </p:spPr>
      </p:sp>
      <p:sp>
        <p:nvSpPr>
          <p:cNvPr id="15" name="Text 11"/>
          <p:cNvSpPr txBox="1"/>
          <p:nvPr/>
        </p:nvSpPr>
        <p:spPr>
          <a:xfrm>
            <a:off x="7955280" y="4471416"/>
            <a:ext cx="1188720" cy="292608"/>
          </a:xfrm>
          <a:prstGeom prst="roundRect">
            <a:avLst>
              <a:gd name="adj" fmla="val 46875"/>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2F5FB3"/>
                </a:solidFill>
              </a:rPr>
              <a:t>65세 이상</a:t>
            </a:r>
            <a:endParaRPr lang="en-US" sz="1200" dirty="0"/>
          </a:p>
        </p:txBody>
      </p:sp>
      <p:sp>
        <p:nvSpPr>
          <p:cNvPr id="16" name="Text 12"/>
          <p:cNvSpPr txBox="1"/>
          <p:nvPr/>
        </p:nvSpPr>
        <p:spPr>
          <a:xfrm>
            <a:off x="7955280" y="4809744"/>
            <a:ext cx="3566160" cy="347472"/>
          </a:xfrm>
          <a:prstGeom prst="rect">
            <a:avLst/>
          </a:prstGeom>
          <a:noFill/>
          <a:ln/>
        </p:spPr>
        <p:txBody>
          <a:bodyPr wrap="square" lIns="0" tIns="0" rIns="0" bIns="0" rtlCol="0" anchor="t"/>
          <a:lstStyle/>
          <a:p>
            <a:pPr indent="0" marL="0">
              <a:buNone/>
            </a:pPr>
            <a:r>
              <a:rPr lang="en-US" sz="1800" b="1" dirty="0">
                <a:solidFill>
                  <a:srgbClr val="2F5FB3"/>
                </a:solidFill>
              </a:rPr>
              <a:t>신체건강 · 의료접근</a:t>
            </a:r>
            <a:endParaRPr lang="en-US" sz="1800" dirty="0"/>
          </a:p>
        </p:txBody>
      </p:sp>
      <p:sp>
        <p:nvSpPr>
          <p:cNvPr id="17" name="Text 13"/>
          <p:cNvSpPr txBox="1"/>
          <p:nvPr/>
        </p:nvSpPr>
        <p:spPr>
          <a:xfrm>
            <a:off x="7955280" y="5157216"/>
            <a:ext cx="3566160" cy="274320"/>
          </a:xfrm>
          <a:prstGeom prst="rect">
            <a:avLst/>
          </a:prstGeom>
          <a:noFill/>
          <a:ln/>
        </p:spPr>
        <p:txBody>
          <a:bodyPr wrap="square" lIns="0" tIns="0" rIns="0" bIns="0" rtlCol="0" anchor="t"/>
          <a:lstStyle/>
          <a:p>
            <a:pPr indent="0" marL="0">
              <a:buNone/>
            </a:pPr>
            <a:r>
              <a:rPr lang="en-US" sz="1200" dirty="0">
                <a:solidFill>
                  <a:srgbClr val="5B6472"/>
                </a:solidFill>
              </a:rPr>
              <a:t>구강·낙상·미충족 의료가 압도적</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규칙으로 고른 생활요인은 함께 지킬수록 우울 비율이 낮다</a:t>
            </a:r>
            <a:endParaRPr lang="en-US" sz="2800" dirty="0"/>
          </a:p>
        </p:txBody>
      </p:sp>
      <p:sp>
        <p:nvSpPr>
          <p:cNvPr id="4" name="Shape 1"/>
          <p:cNvSpPr/>
          <p:nvPr/>
        </p:nvSpPr>
        <p:spPr>
          <a:xfrm>
            <a:off x="548640" y="1737360"/>
            <a:ext cx="5120640" cy="2286000"/>
          </a:xfrm>
          <a:prstGeom prst="roundRect">
            <a:avLst>
              <a:gd name="adj" fmla="val 4000"/>
            </a:avLst>
          </a:prstGeom>
          <a:solidFill>
            <a:srgbClr val="F3F5F8"/>
          </a:solidFill>
          <a:ln w="9525">
            <a:solidFill>
              <a:srgbClr val="F3F5F8"/>
            </a:solidFill>
            <a:prstDash val="solid"/>
          </a:ln>
        </p:spPr>
      </p:sp>
      <p:sp>
        <p:nvSpPr>
          <p:cNvPr id="5" name="Text 2"/>
          <p:cNvSpPr txBox="1"/>
          <p:nvPr/>
        </p:nvSpPr>
        <p:spPr>
          <a:xfrm>
            <a:off x="777240" y="1847088"/>
            <a:ext cx="4572000" cy="274320"/>
          </a:xfrm>
          <a:prstGeom prst="rect">
            <a:avLst/>
          </a:prstGeom>
          <a:noFill/>
          <a:ln/>
        </p:spPr>
        <p:txBody>
          <a:bodyPr wrap="square" lIns="0" tIns="0" rIns="0" bIns="0" rtlCol="0" anchor="t"/>
          <a:lstStyle/>
          <a:p>
            <a:pPr indent="0" marL="0">
              <a:buNone/>
            </a:pPr>
            <a:r>
              <a:rPr lang="en-US" sz="1200" b="1" dirty="0">
                <a:solidFill>
                  <a:srgbClr val="5B6472"/>
                </a:solidFill>
              </a:rPr>
              <a:t>선정 규칙 (분석 전에 정함)</a:t>
            </a:r>
            <a:endParaRPr lang="en-US" sz="1200" dirty="0"/>
          </a:p>
        </p:txBody>
      </p:sp>
      <p:sp>
        <p:nvSpPr>
          <p:cNvPr id="6" name="Text 3"/>
          <p:cNvSpPr txBox="1"/>
          <p:nvPr/>
        </p:nvSpPr>
        <p:spPr>
          <a:xfrm>
            <a:off x="777240" y="2212848"/>
            <a:ext cx="274320" cy="274320"/>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188720" y="2212848"/>
            <a:ext cx="4389120" cy="274320"/>
          </a:xfrm>
          <a:prstGeom prst="rect">
            <a:avLst/>
          </a:prstGeom>
          <a:noFill/>
          <a:ln/>
        </p:spPr>
        <p:txBody>
          <a:bodyPr wrap="square" lIns="0" tIns="0" rIns="0" bIns="0" rtlCol="0" anchor="ctr"/>
          <a:lstStyle/>
          <a:p>
            <a:pPr indent="0" marL="0">
              <a:buNone/>
            </a:pPr>
            <a:r>
              <a:rPr lang="en-US" sz="1300" dirty="0">
                <a:solidFill>
                  <a:srgbClr val="1D2430"/>
                </a:solidFill>
              </a:rPr>
              <a:t>개인 행동(수정 유형 A)</a:t>
            </a:r>
            <a:endParaRPr lang="en-US" sz="1300" dirty="0"/>
          </a:p>
        </p:txBody>
      </p:sp>
      <p:sp>
        <p:nvSpPr>
          <p:cNvPr id="8" name="Text 5"/>
          <p:cNvSpPr txBox="1"/>
          <p:nvPr/>
        </p:nvSpPr>
        <p:spPr>
          <a:xfrm>
            <a:off x="777240" y="2560320"/>
            <a:ext cx="274320" cy="274320"/>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6"/>
          <p:cNvSpPr txBox="1"/>
          <p:nvPr/>
        </p:nvSpPr>
        <p:spPr>
          <a:xfrm>
            <a:off x="1188720" y="2560320"/>
            <a:ext cx="4389120" cy="274320"/>
          </a:xfrm>
          <a:prstGeom prst="rect">
            <a:avLst/>
          </a:prstGeom>
          <a:noFill/>
          <a:ln/>
        </p:spPr>
        <p:txBody>
          <a:bodyPr wrap="square" lIns="0" tIns="0" rIns="0" bIns="0" rtlCol="0" anchor="ctr"/>
          <a:lstStyle/>
          <a:p>
            <a:pPr indent="0" marL="0">
              <a:buNone/>
            </a:pPr>
            <a:r>
              <a:rPr lang="en-US" sz="1300" dirty="0">
                <a:solidFill>
                  <a:srgbClr val="1D2430"/>
                </a:solidFill>
              </a:rPr>
              <a:t>우울 관련 생활 영역(Zhao 등, 2023 + HP2030)</a:t>
            </a:r>
            <a:endParaRPr lang="en-US" sz="1300" dirty="0"/>
          </a:p>
        </p:txBody>
      </p:sp>
      <p:sp>
        <p:nvSpPr>
          <p:cNvPr id="10" name="Text 7"/>
          <p:cNvSpPr txBox="1"/>
          <p:nvPr/>
        </p:nvSpPr>
        <p:spPr>
          <a:xfrm>
            <a:off x="777240" y="2907792"/>
            <a:ext cx="274320" cy="274320"/>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8"/>
          <p:cNvSpPr txBox="1"/>
          <p:nvPr/>
        </p:nvSpPr>
        <p:spPr>
          <a:xfrm>
            <a:off x="1188720" y="2907792"/>
            <a:ext cx="4389120" cy="274320"/>
          </a:xfrm>
          <a:prstGeom prst="rect">
            <a:avLst/>
          </a:prstGeom>
          <a:noFill/>
          <a:ln/>
        </p:spPr>
        <p:txBody>
          <a:bodyPr wrap="square" lIns="0" tIns="0" rIns="0" bIns="0" rtlCol="0" anchor="ctr"/>
          <a:lstStyle/>
          <a:p>
            <a:pPr indent="0" marL="0">
              <a:buNone/>
            </a:pPr>
            <a:r>
              <a:rPr lang="en-US" sz="1300" dirty="0">
                <a:solidFill>
                  <a:srgbClr val="1D2430"/>
                </a:solidFill>
              </a:rPr>
              <a:t>공식 지표·권고로 충족 기준이 있음</a:t>
            </a:r>
            <a:endParaRPr lang="en-US" sz="1300" dirty="0"/>
          </a:p>
        </p:txBody>
      </p:sp>
      <p:sp>
        <p:nvSpPr>
          <p:cNvPr id="12" name="Text 9"/>
          <p:cNvSpPr txBox="1"/>
          <p:nvPr/>
        </p:nvSpPr>
        <p:spPr>
          <a:xfrm>
            <a:off x="777240" y="3255264"/>
            <a:ext cx="274320" cy="274320"/>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3" name="Text 10"/>
          <p:cNvSpPr txBox="1"/>
          <p:nvPr/>
        </p:nvSpPr>
        <p:spPr>
          <a:xfrm>
            <a:off x="1188720" y="3255264"/>
            <a:ext cx="4389120" cy="274320"/>
          </a:xfrm>
          <a:prstGeom prst="rect">
            <a:avLst/>
          </a:prstGeom>
          <a:noFill/>
          <a:ln/>
        </p:spPr>
        <p:txBody>
          <a:bodyPr wrap="square" lIns="0" tIns="0" rIns="0" bIns="0" rtlCol="0" anchor="ctr"/>
          <a:lstStyle/>
          <a:p>
            <a:pPr indent="0" marL="0">
              <a:buNone/>
            </a:pPr>
            <a:r>
              <a:rPr lang="en-US" sz="1300" dirty="0">
                <a:solidFill>
                  <a:srgbClr val="1D2430"/>
                </a:solidFill>
              </a:rPr>
              <a:t>영역당 대표 문항 1개</a:t>
            </a:r>
            <a:endParaRPr lang="en-US" sz="1300" dirty="0"/>
          </a:p>
        </p:txBody>
      </p:sp>
      <p:sp>
        <p:nvSpPr>
          <p:cNvPr id="14" name="Text 11"/>
          <p:cNvSpPr txBox="1"/>
          <p:nvPr/>
        </p:nvSpPr>
        <p:spPr>
          <a:xfrm>
            <a:off x="777240" y="3602736"/>
            <a:ext cx="274320" cy="274320"/>
          </a:xfrm>
          <a:prstGeom prst="ellipse">
            <a:avLst/>
          </a:prstGeom>
          <a:solidFill>
            <a:srgbClr val="1D2430"/>
          </a:solidFill>
          <a:ln>
            <a:solidFill>
              <a:srgbClr val="1D2430"/>
            </a:solid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5" name="Text 12"/>
          <p:cNvSpPr txBox="1"/>
          <p:nvPr/>
        </p:nvSpPr>
        <p:spPr>
          <a:xfrm>
            <a:off x="1188720" y="3602736"/>
            <a:ext cx="4389120" cy="274320"/>
          </a:xfrm>
          <a:prstGeom prst="rect">
            <a:avLst/>
          </a:prstGeom>
          <a:noFill/>
          <a:ln/>
        </p:spPr>
        <p:txBody>
          <a:bodyPr wrap="square" lIns="0" tIns="0" rIns="0" bIns="0" rtlCol="0" anchor="ctr"/>
          <a:lstStyle/>
          <a:p>
            <a:pPr indent="0" marL="0">
              <a:buNone/>
            </a:pPr>
            <a:r>
              <a:rPr lang="en-US" sz="1300" dirty="0">
                <a:solidFill>
                  <a:srgbClr val="1D2430"/>
                </a:solidFill>
              </a:rPr>
              <a:t>PHQ-9와 겹치는 수면은 민감도로만</a:t>
            </a:r>
            <a:endParaRPr lang="en-US" sz="1300" dirty="0"/>
          </a:p>
        </p:txBody>
      </p:sp>
      <p:sp>
        <p:nvSpPr>
          <p:cNvPr id="16" name="Text 13"/>
          <p:cNvSpPr txBox="1"/>
          <p:nvPr/>
        </p:nvSpPr>
        <p:spPr>
          <a:xfrm>
            <a:off x="548640" y="4206240"/>
            <a:ext cx="1627632" cy="292608"/>
          </a:xfrm>
          <a:prstGeom prst="roundRect">
            <a:avLst>
              <a:gd name="adj" fmla="val 46875"/>
            </a:avLst>
          </a:prstGeom>
          <a:solidFill>
            <a:srgbClr val="1D2430"/>
          </a:solidFill>
          <a:ln>
            <a:solidFill>
              <a:srgbClr val="1D2430"/>
            </a:solidFill>
          </a:ln>
        </p:spPr>
        <p:txBody>
          <a:bodyPr wrap="square" lIns="0" tIns="0" rIns="0" bIns="0" rtlCol="0" anchor="ctr"/>
          <a:lstStyle/>
          <a:p>
            <a:pPr algn="ctr" indent="0" marL="0">
              <a:buNone/>
            </a:pPr>
            <a:r>
              <a:rPr lang="en-US" sz="1200" b="1" dirty="0">
                <a:solidFill>
                  <a:srgbClr val="FFFFFF"/>
                </a:solidFill>
              </a:rPr>
              <a:t>신체활동 권고</a:t>
            </a:r>
            <a:endParaRPr lang="en-US" sz="1200" dirty="0"/>
          </a:p>
        </p:txBody>
      </p:sp>
      <p:sp>
        <p:nvSpPr>
          <p:cNvPr id="17" name="Text 14"/>
          <p:cNvSpPr txBox="1"/>
          <p:nvPr/>
        </p:nvSpPr>
        <p:spPr>
          <a:xfrm>
            <a:off x="2267712" y="4206240"/>
            <a:ext cx="1627632"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담배제품 미사용</a:t>
            </a:r>
            <a:endParaRPr lang="en-US" sz="1200" dirty="0"/>
          </a:p>
        </p:txBody>
      </p:sp>
      <p:sp>
        <p:nvSpPr>
          <p:cNvPr id="18" name="Text 15"/>
          <p:cNvSpPr txBox="1"/>
          <p:nvPr/>
        </p:nvSpPr>
        <p:spPr>
          <a:xfrm>
            <a:off x="3986784" y="4206240"/>
            <a:ext cx="1627632"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고위험음주 아님</a:t>
            </a:r>
            <a:endParaRPr lang="en-US" sz="1200" dirty="0"/>
          </a:p>
        </p:txBody>
      </p:sp>
      <p:sp>
        <p:nvSpPr>
          <p:cNvPr id="19" name="Text 16"/>
          <p:cNvSpPr txBox="1"/>
          <p:nvPr/>
        </p:nvSpPr>
        <p:spPr>
          <a:xfrm>
            <a:off x="548640" y="4645152"/>
            <a:ext cx="1627632"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아침식사 주 5회+</a:t>
            </a:r>
            <a:endParaRPr lang="en-US" sz="1200" dirty="0"/>
          </a:p>
        </p:txBody>
      </p:sp>
      <p:sp>
        <p:nvSpPr>
          <p:cNvPr id="20" name="Text 17"/>
          <p:cNvSpPr txBox="1"/>
          <p:nvPr/>
        </p:nvSpPr>
        <p:spPr>
          <a:xfrm>
            <a:off x="2267712" y="4645152"/>
            <a:ext cx="1627632"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사회적 연결</a:t>
            </a:r>
            <a:endParaRPr lang="en-US" sz="1200" dirty="0"/>
          </a:p>
        </p:txBody>
      </p:sp>
      <p:sp>
        <p:nvSpPr>
          <p:cNvPr id="21" name="Text 18"/>
          <p:cNvSpPr txBox="1"/>
          <p:nvPr/>
        </p:nvSpPr>
        <p:spPr>
          <a:xfrm>
            <a:off x="3986784" y="4645152"/>
            <a:ext cx="1627632"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잠자기 전 칫솔질</a:t>
            </a:r>
            <a:endParaRPr lang="en-US" sz="1200" dirty="0"/>
          </a:p>
        </p:txBody>
      </p:sp>
      <p:sp>
        <p:nvSpPr>
          <p:cNvPr id="22" name="Text 19"/>
          <p:cNvSpPr txBox="1"/>
          <p:nvPr/>
        </p:nvSpPr>
        <p:spPr>
          <a:xfrm>
            <a:off x="548640" y="5166360"/>
            <a:ext cx="5120640" cy="274320"/>
          </a:xfrm>
          <a:prstGeom prst="rect">
            <a:avLst/>
          </a:prstGeom>
          <a:noFill/>
          <a:ln/>
        </p:spPr>
        <p:txBody>
          <a:bodyPr wrap="square" lIns="0" tIns="0" rIns="0" bIns="0" rtlCol="0" anchor="t"/>
          <a:lstStyle/>
          <a:p>
            <a:pPr indent="0" marL="0">
              <a:buNone/>
            </a:pPr>
            <a:r>
              <a:rPr lang="en-US" sz="1200" dirty="0">
                <a:solidFill>
                  <a:srgbClr val="6B7280"/>
                </a:solidFill>
              </a:rPr>
              <a:t>이웃 신뢰·동네 안전은 생활습관이 아닌 맥락 요인 → 부록</a:t>
            </a:r>
            <a:endParaRPr lang="en-US" sz="1200" dirty="0"/>
          </a:p>
        </p:txBody>
      </p:sp>
      <p:graphicFrame>
        <p:nvGraphicFramePr>
          <p:cNvPr id="23" name="Chart 0" descr=""/>
          <p:cNvGraphicFramePr/>
          <p:nvPr/>
        </p:nvGraphicFramePr>
        <p:xfrm>
          <a:off x="5897880" y="1691640"/>
          <a:ext cx="5742432" cy="3246120"/>
        </p:xfrm>
        <a:graphic xmlns:a="http://schemas.openxmlformats.org/drawingml/2006/main">
          <a:graphicData uri="http://schemas.openxmlformats.org/drawingml/2006/chart">
            <c:chart xmlns:c="http://schemas.openxmlformats.org/drawingml/2006/chart" r:id="rId1"/>
          </a:graphicData>
        </a:graphic>
      </p:graphicFrame>
      <p:sp>
        <p:nvSpPr>
          <p:cNvPr id="24" name="Shape 20"/>
          <p:cNvSpPr/>
          <p:nvPr/>
        </p:nvSpPr>
        <p:spPr>
          <a:xfrm>
            <a:off x="5897880" y="5029200"/>
            <a:ext cx="2788920" cy="566928"/>
          </a:xfrm>
          <a:prstGeom prst="roundRect">
            <a:avLst>
              <a:gd name="adj" fmla="val 16129"/>
            </a:avLst>
          </a:prstGeom>
          <a:solidFill>
            <a:srgbClr val="DDF3E8"/>
          </a:solidFill>
          <a:ln w="9525">
            <a:solidFill>
              <a:srgbClr val="DDF3E8"/>
            </a:solidFill>
            <a:prstDash val="solid"/>
          </a:ln>
        </p:spPr>
      </p:sp>
      <p:sp>
        <p:nvSpPr>
          <p:cNvPr id="25" name="Text 21"/>
          <p:cNvSpPr txBox="1"/>
          <p:nvPr/>
        </p:nvSpPr>
        <p:spPr>
          <a:xfrm>
            <a:off x="6080760" y="5029200"/>
            <a:ext cx="2560320" cy="566928"/>
          </a:xfrm>
          <a:prstGeom prst="rect">
            <a:avLst/>
          </a:prstGeom>
          <a:noFill/>
          <a:ln/>
        </p:spPr>
        <p:txBody>
          <a:bodyPr wrap="square" lIns="0" tIns="0" rIns="0" bIns="0" rtlCol="0" anchor="ctr"/>
          <a:lstStyle/>
          <a:p>
            <a:pPr indent="0" marL="0">
              <a:buNone/>
            </a:pPr>
            <a:r>
              <a:rPr lang="en-US" sz="1800" b="1" dirty="0">
                <a:solidFill>
                  <a:srgbClr val="1F8A5B"/>
                </a:solidFill>
              </a:rPr>
              <a:t>OR 0.70</a:t>
            </a:r>
            <a:pPr indent="0" marL="0">
              <a:buNone/>
            </a:pPr>
            <a:r>
              <a:rPr lang="en-US" sz="1200" dirty="0">
                <a:solidFill>
                  <a:srgbClr val="5B6472"/>
                </a:solidFill>
              </a:rPr>
              <a:t>  1개 늘 때마다</a:t>
            </a:r>
            <a:endParaRPr lang="en-US" sz="1400" dirty="0"/>
          </a:p>
        </p:txBody>
      </p:sp>
      <p:sp>
        <p:nvSpPr>
          <p:cNvPr id="26" name="Shape 22"/>
          <p:cNvSpPr/>
          <p:nvPr/>
        </p:nvSpPr>
        <p:spPr>
          <a:xfrm>
            <a:off x="8823960" y="5029200"/>
            <a:ext cx="2816352" cy="566928"/>
          </a:xfrm>
          <a:prstGeom prst="roundRect">
            <a:avLst>
              <a:gd name="adj" fmla="val 16129"/>
            </a:avLst>
          </a:prstGeom>
          <a:solidFill>
            <a:srgbClr val="F3F5F8"/>
          </a:solidFill>
          <a:ln w="9525">
            <a:solidFill>
              <a:srgbClr val="F3F5F8"/>
            </a:solidFill>
            <a:prstDash val="solid"/>
          </a:ln>
        </p:spPr>
      </p:sp>
      <p:sp>
        <p:nvSpPr>
          <p:cNvPr id="27" name="Text 23"/>
          <p:cNvSpPr txBox="1"/>
          <p:nvPr/>
        </p:nvSpPr>
        <p:spPr>
          <a:xfrm>
            <a:off x="9006840" y="5029200"/>
            <a:ext cx="2560320" cy="566928"/>
          </a:xfrm>
          <a:prstGeom prst="rect">
            <a:avLst/>
          </a:prstGeom>
          <a:noFill/>
          <a:ln/>
        </p:spPr>
        <p:txBody>
          <a:bodyPr wrap="square" lIns="0" tIns="0" rIns="0" bIns="0" rtlCol="0" anchor="ctr"/>
          <a:lstStyle/>
          <a:p>
            <a:pPr indent="0" marL="0">
              <a:buNone/>
            </a:pPr>
            <a:r>
              <a:rPr lang="en-US" sz="1800" b="1" dirty="0">
                <a:solidFill>
                  <a:srgbClr val="1D2430"/>
                </a:solidFill>
              </a:rPr>
              <a:t>0.67~0.72</a:t>
            </a:r>
            <a:pPr indent="0" marL="0">
              <a:buNone/>
            </a:pPr>
            <a:r>
              <a:rPr lang="en-US" sz="1200" dirty="0">
                <a:solidFill>
                  <a:srgbClr val="5B6472"/>
                </a:solidFill>
              </a:rPr>
              <a:t>  하나씩 빼도</a:t>
            </a:r>
            <a:endParaRPr lang="en-US" sz="1400" dirty="0"/>
          </a:p>
        </p:txBody>
      </p:sp>
      <p:sp>
        <p:nvSpPr>
          <p:cNvPr id="28" name="Shape 24"/>
          <p:cNvSpPr/>
          <p:nvPr/>
        </p:nvSpPr>
        <p:spPr>
          <a:xfrm>
            <a:off x="548640" y="5742432"/>
            <a:ext cx="11094415" cy="475488"/>
          </a:xfrm>
          <a:prstGeom prst="roundRect">
            <a:avLst>
              <a:gd name="adj" fmla="val 19231"/>
            </a:avLst>
          </a:prstGeom>
          <a:solidFill>
            <a:srgbClr val="FDEBC8"/>
          </a:solidFill>
          <a:ln w="9525">
            <a:solidFill>
              <a:srgbClr val="FDEBC8"/>
            </a:solidFill>
            <a:prstDash val="solid"/>
          </a:ln>
        </p:spPr>
      </p:sp>
      <p:sp>
        <p:nvSpPr>
          <p:cNvPr id="29" name="Text 25"/>
          <p:cNvSpPr txBox="1"/>
          <p:nvPr/>
        </p:nvSpPr>
        <p:spPr>
          <a:xfrm>
            <a:off x="777240" y="5742432"/>
            <a:ext cx="10637215" cy="475488"/>
          </a:xfrm>
          <a:prstGeom prst="rect">
            <a:avLst/>
          </a:prstGeom>
          <a:noFill/>
          <a:ln/>
        </p:spPr>
        <p:txBody>
          <a:bodyPr wrap="square" lIns="0" tIns="0" rIns="0" bIns="0" rtlCol="0" anchor="ctr"/>
          <a:lstStyle/>
          <a:p>
            <a:pPr indent="0" marL="0">
              <a:buNone/>
            </a:pPr>
            <a:r>
              <a:rPr lang="en-US" sz="1300" b="1" dirty="0">
                <a:solidFill>
                  <a:srgbClr val="A86400"/>
                </a:solidFill>
              </a:rPr>
              <a:t>읽는 법   </a:t>
            </a:r>
            <a:pPr indent="0" marL="0">
              <a:buNone/>
            </a:pPr>
            <a:r>
              <a:rPr lang="en-US" sz="1300" dirty="0">
                <a:solidFill>
                  <a:srgbClr val="1D2430"/>
                </a:solidFill>
              </a:rPr>
              <a:t>점수 = 충족한 요인의 수(순서 없음, 비가중 합산) · 인구·경제·신체건강 조정 · 0점이 1,000명 미만이라 0~1개로 합침</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같은 조사를 쓴 선행연구보다 해석의 근거를 단단하게 했다</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2286000"/>
                <a:gridCol w="4114800"/>
                <a:gridCol w="4693615"/>
              </a:tblGrid>
              <a:tr h="475488">
                <a:tc>
                  <a:txBody>
                    <a:bodyPr/>
                    <a:lstStyle/>
                    <a:p>
                      <a:pPr indent="0" marL="0">
                        <a:buNone/>
                      </a:pP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FFFFF"/>
                    </a:solidFill>
                  </a:tcPr>
                </a:tc>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Han &amp; Park (2025, JKDISS)</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이 연구 (v2.1)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DDF3E8"/>
                    </a:solidFill>
                  </a:tcPr>
                </a:tc>
              </a:tr>
              <a:tr h="475488">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자료</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지역사회건강조사 2022 · 227,366명</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지역사회건강조사 2025 · 231,290명</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1FAF5"/>
                    </a:solidFill>
                  </a:tcPr>
                </a:tc>
              </a:tr>
              <a:tr h="475488">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변수</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18개 → ML 중요도로 14개 선별</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8개 영역 66개 · 선정 기준 사전 지정</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1FAF5"/>
                    </a:solidFill>
                  </a:tcPr>
                </a:tc>
              </a:tr>
              <a:tr h="475488">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스트레스·주관적 건강</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핵심 위험요인(OR 9.65, 3.38)</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PHQ-9와 겹쳐 주 분석에서 분리</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1FAF5"/>
                    </a:solidFill>
                  </a:tcPr>
                </a:tc>
              </a:tr>
              <a:tr h="475488">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학습·시험 분할</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개인 단위 무작위 70/30 + SMOTE</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가구 단위 분할(가구원 섞임 방지)</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1FAF5"/>
                    </a:solidFill>
                  </a:tcPr>
                </a:tc>
              </a:tr>
              <a:tr h="475488">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성능 지표</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Accuracy · macro F1 · ROC-AUC 0.841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AP 0.283 · ROC-AUC 0.846 · 보정 1.02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1FAF5"/>
                    </a:solidFill>
                  </a:tcPr>
                </a:tc>
              </a:tr>
              <a:tr h="475488">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같은 판정 비율 18.4%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민감도 약 67% · 정밀도 약 14%(역산)</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민감도 68.7% · 정밀도 14.5%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1FAF5"/>
                    </a:solidFill>
                  </a:tcPr>
                </a:tc>
              </a:tr>
              <a:tr h="475488">
                <a:tc>
                  <a:txBody>
                    <a:bodyPr/>
                    <a:lstStyle/>
                    <a:p>
                      <a:pPr indent="0" marL="0">
                        <a:buNone/>
                      </a:pPr>
                      <a:r>
                        <a:rPr lang="en-US" sz="1400" b="1" dirty="0">
                          <a:solidFill>
                            <a:srgbClr val="5B6472"/>
                          </a:solidFill>
                          <a:latin typeface="맑은 고딕" pitchFamily="34" charset="0"/>
                          <a:ea typeface="맑은 고딕" pitchFamily="34" charset="-122"/>
                          <a:cs typeface="맑은 고딕" pitchFamily="34" charset="-120"/>
                        </a:rPr>
                        <a:t>회귀</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가중 로지스틱 회귀</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b="1" dirty="0">
                          <a:solidFill>
                            <a:srgbClr val="1F8A5B"/>
                          </a:solidFill>
                          <a:latin typeface="맑은 고딕" pitchFamily="34" charset="0"/>
                          <a:ea typeface="맑은 고딕" pitchFamily="34" charset="-122"/>
                          <a:cs typeface="맑은 고딕" pitchFamily="34" charset="-120"/>
                        </a:rPr>
                        <a:t>가중치·층·집락 반영, 53개 동시 조정</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1FAF5"/>
                    </a:solidFill>
                  </a:tcPr>
                </a:tc>
              </a:tr>
            </a:tbl>
          </a:graphicData>
        </a:graphic>
      </p:graphicFrame>
      <p:sp>
        <p:nvSpPr>
          <p:cNvPr id="5" name="Shape 1"/>
          <p:cNvSpPr/>
          <p:nvPr/>
        </p:nvSpPr>
        <p:spPr>
          <a:xfrm>
            <a:off x="548640" y="5742432"/>
            <a:ext cx="11094415" cy="475488"/>
          </a:xfrm>
          <a:prstGeom prst="roundRect">
            <a:avLst>
              <a:gd name="adj" fmla="val 19231"/>
            </a:avLst>
          </a:prstGeom>
          <a:solidFill>
            <a:srgbClr val="FDEBC8"/>
          </a:solidFill>
          <a:ln w="9525">
            <a:solidFill>
              <a:srgbClr val="FDEBC8"/>
            </a:solidFill>
            <a:prstDash val="solid"/>
          </a:ln>
        </p:spPr>
      </p:sp>
      <p:sp>
        <p:nvSpPr>
          <p:cNvPr id="6" name="Text 2"/>
          <p:cNvSpPr txBox="1"/>
          <p:nvPr/>
        </p:nvSpPr>
        <p:spPr>
          <a:xfrm>
            <a:off x="777240" y="5742432"/>
            <a:ext cx="10637215" cy="475488"/>
          </a:xfrm>
          <a:prstGeom prst="rect">
            <a:avLst/>
          </a:prstGeom>
          <a:noFill/>
          <a:ln/>
        </p:spPr>
        <p:txBody>
          <a:bodyPr wrap="square" lIns="0" tIns="0" rIns="0" bIns="0" rtlCol="0" anchor="ctr"/>
          <a:lstStyle/>
          <a:p>
            <a:pPr indent="0" marL="0">
              <a:buNone/>
            </a:pPr>
            <a:r>
              <a:rPr lang="en-US" sz="1300" b="1" dirty="0">
                <a:solidFill>
                  <a:srgbClr val="A86400"/>
                </a:solidFill>
              </a:rPr>
              <a:t>주의   </a:t>
            </a:r>
            <a:pPr indent="0" marL="0">
              <a:buNone/>
            </a:pPr>
            <a:r>
              <a:rPr lang="en-US" sz="1300" dirty="0">
                <a:solidFill>
                  <a:srgbClr val="1D2430"/>
                </a:solidFill>
              </a:rPr>
              <a:t>조사 연도(2022 vs 2025)와 분할 방식이 달라 성능 수치는 엄밀한 일대일 비교가 아니다</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이 모형은 개인 선별 도구가 아니라 영역별 정보량을 재는 도구다</a:t>
            </a:r>
            <a:endParaRPr lang="en-US" sz="2800" dirty="0"/>
          </a:p>
        </p:txBody>
      </p:sp>
      <p:sp>
        <p:nvSpPr>
          <p:cNvPr id="4" name="Text 1"/>
          <p:cNvSpPr txBox="1"/>
          <p:nvPr/>
        </p:nvSpPr>
        <p:spPr>
          <a:xfrm>
            <a:off x="548640" y="1737360"/>
            <a:ext cx="2468880" cy="685800"/>
          </a:xfrm>
          <a:prstGeom prst="rect">
            <a:avLst/>
          </a:prstGeom>
          <a:noFill/>
          <a:ln/>
        </p:spPr>
        <p:txBody>
          <a:bodyPr wrap="square" lIns="0" tIns="0" rIns="0" bIns="0" rtlCol="0" anchor="t"/>
          <a:lstStyle/>
          <a:p>
            <a:pPr indent="0" marL="0">
              <a:buNone/>
            </a:pPr>
            <a:r>
              <a:rPr lang="en-US" sz="3600" b="1" dirty="0">
                <a:solidFill>
                  <a:srgbClr val="1F8A5B"/>
                </a:solidFill>
              </a:rPr>
              <a:t>0.283</a:t>
            </a:r>
            <a:endParaRPr lang="en-US" sz="3600" dirty="0"/>
          </a:p>
        </p:txBody>
      </p:sp>
      <p:sp>
        <p:nvSpPr>
          <p:cNvPr id="5" name="Text 2"/>
          <p:cNvSpPr txBox="1"/>
          <p:nvPr/>
        </p:nvSpPr>
        <p:spPr>
          <a:xfrm>
            <a:off x="548640" y="2423160"/>
            <a:ext cx="2468880" cy="320040"/>
          </a:xfrm>
          <a:prstGeom prst="rect">
            <a:avLst/>
          </a:prstGeom>
          <a:noFill/>
          <a:ln/>
        </p:spPr>
        <p:txBody>
          <a:bodyPr wrap="square" lIns="0" tIns="0" rIns="0" bIns="0" rtlCol="0" anchor="t"/>
          <a:lstStyle/>
          <a:p>
            <a:pPr indent="0" marL="0">
              <a:buNone/>
            </a:pPr>
            <a:r>
              <a:rPr lang="en-US" sz="1200" dirty="0">
                <a:solidFill>
                  <a:srgbClr val="5B6472"/>
                </a:solidFill>
              </a:rPr>
              <a:t>AP · 무작위 0.039의 약 7배</a:t>
            </a:r>
            <a:endParaRPr lang="en-US" sz="1200" dirty="0"/>
          </a:p>
        </p:txBody>
      </p:sp>
      <p:sp>
        <p:nvSpPr>
          <p:cNvPr id="6" name="Text 3"/>
          <p:cNvSpPr txBox="1"/>
          <p:nvPr/>
        </p:nvSpPr>
        <p:spPr>
          <a:xfrm>
            <a:off x="3154680" y="1737360"/>
            <a:ext cx="2468880" cy="685800"/>
          </a:xfrm>
          <a:prstGeom prst="rect">
            <a:avLst/>
          </a:prstGeom>
          <a:noFill/>
          <a:ln/>
        </p:spPr>
        <p:txBody>
          <a:bodyPr wrap="square" lIns="0" tIns="0" rIns="0" bIns="0" rtlCol="0" anchor="t"/>
          <a:lstStyle/>
          <a:p>
            <a:pPr indent="0" marL="0">
              <a:buNone/>
            </a:pPr>
            <a:r>
              <a:rPr lang="en-US" sz="3600" b="1" dirty="0">
                <a:solidFill>
                  <a:srgbClr val="2F5FB3"/>
                </a:solidFill>
              </a:rPr>
              <a:t>0.846</a:t>
            </a:r>
            <a:endParaRPr lang="en-US" sz="3600" dirty="0"/>
          </a:p>
        </p:txBody>
      </p:sp>
      <p:sp>
        <p:nvSpPr>
          <p:cNvPr id="7" name="Text 4"/>
          <p:cNvSpPr txBox="1"/>
          <p:nvPr/>
        </p:nvSpPr>
        <p:spPr>
          <a:xfrm>
            <a:off x="3154680" y="2423160"/>
            <a:ext cx="2468880" cy="320040"/>
          </a:xfrm>
          <a:prstGeom prst="rect">
            <a:avLst/>
          </a:prstGeom>
          <a:noFill/>
          <a:ln/>
        </p:spPr>
        <p:txBody>
          <a:bodyPr wrap="square" lIns="0" tIns="0" rIns="0" bIns="0" rtlCol="0" anchor="t"/>
          <a:lstStyle/>
          <a:p>
            <a:pPr indent="0" marL="0">
              <a:buNone/>
            </a:pPr>
            <a:r>
              <a:rPr lang="en-US" sz="1200" dirty="0">
                <a:solidFill>
                  <a:srgbClr val="5B6472"/>
                </a:solidFill>
              </a:rPr>
              <a:t>ROC-AUC · 판별력 우수 구간</a:t>
            </a:r>
            <a:endParaRPr lang="en-US" sz="1200" dirty="0"/>
          </a:p>
        </p:txBody>
      </p:sp>
      <p:sp>
        <p:nvSpPr>
          <p:cNvPr id="8" name="Text 5"/>
          <p:cNvSpPr txBox="1"/>
          <p:nvPr/>
        </p:nvSpPr>
        <p:spPr>
          <a:xfrm>
            <a:off x="5760720" y="1737360"/>
            <a:ext cx="2468880" cy="685800"/>
          </a:xfrm>
          <a:prstGeom prst="rect">
            <a:avLst/>
          </a:prstGeom>
          <a:noFill/>
          <a:ln/>
        </p:spPr>
        <p:txBody>
          <a:bodyPr wrap="square" lIns="0" tIns="0" rIns="0" bIns="0" rtlCol="0" anchor="t"/>
          <a:lstStyle/>
          <a:p>
            <a:pPr indent="0" marL="0">
              <a:buNone/>
            </a:pPr>
            <a:r>
              <a:rPr lang="en-US" sz="3600" b="1" dirty="0">
                <a:solidFill>
                  <a:srgbClr val="1D2430"/>
                </a:solidFill>
              </a:rPr>
              <a:t>1.02</a:t>
            </a:r>
            <a:endParaRPr lang="en-US" sz="3600" dirty="0"/>
          </a:p>
        </p:txBody>
      </p:sp>
      <p:sp>
        <p:nvSpPr>
          <p:cNvPr id="9" name="Text 6"/>
          <p:cNvSpPr txBox="1"/>
          <p:nvPr/>
        </p:nvSpPr>
        <p:spPr>
          <a:xfrm>
            <a:off x="5760720" y="2423160"/>
            <a:ext cx="2468880" cy="320040"/>
          </a:xfrm>
          <a:prstGeom prst="rect">
            <a:avLst/>
          </a:prstGeom>
          <a:noFill/>
          <a:ln/>
        </p:spPr>
        <p:txBody>
          <a:bodyPr wrap="square" lIns="0" tIns="0" rIns="0" bIns="0" rtlCol="0" anchor="t"/>
          <a:lstStyle/>
          <a:p>
            <a:pPr indent="0" marL="0">
              <a:buNone/>
            </a:pPr>
            <a:r>
              <a:rPr lang="en-US" sz="1200" dirty="0">
                <a:solidFill>
                  <a:srgbClr val="5B6472"/>
                </a:solidFill>
              </a:rPr>
              <a:t>보정 기울기 · 1에 가까울수록 정확</a:t>
            </a:r>
            <a:endParaRPr lang="en-US" sz="1200" dirty="0"/>
          </a:p>
        </p:txBody>
      </p:sp>
      <p:sp>
        <p:nvSpPr>
          <p:cNvPr id="10" name="Text 7"/>
          <p:cNvSpPr txBox="1"/>
          <p:nvPr/>
        </p:nvSpPr>
        <p:spPr>
          <a:xfrm>
            <a:off x="548640" y="3063240"/>
            <a:ext cx="7589520" cy="320040"/>
          </a:xfrm>
          <a:prstGeom prst="rect">
            <a:avLst/>
          </a:prstGeom>
          <a:noFill/>
          <a:ln/>
        </p:spPr>
        <p:txBody>
          <a:bodyPr wrap="square" lIns="0" tIns="0" rIns="0" bIns="0" rtlCol="0" anchor="t"/>
          <a:lstStyle/>
          <a:p>
            <a:pPr indent="0" marL="0">
              <a:buNone/>
            </a:pPr>
            <a:r>
              <a:rPr lang="en-US" sz="1500" b="1" dirty="0">
                <a:solidFill>
                  <a:srgbClr val="1D2430"/>
                </a:solidFill>
              </a:rPr>
              <a:t>민감도 80% 기준으로 1만 명에게 적용하면 (실제 우울 약 390명)</a:t>
            </a:r>
            <a:endParaRPr lang="en-US" sz="1500" dirty="0"/>
          </a:p>
        </p:txBody>
      </p:sp>
      <p:sp>
        <p:nvSpPr>
          <p:cNvPr id="11" name="Shape 8"/>
          <p:cNvSpPr/>
          <p:nvPr/>
        </p:nvSpPr>
        <p:spPr>
          <a:xfrm>
            <a:off x="548640" y="3520440"/>
            <a:ext cx="1755648" cy="1325880"/>
          </a:xfrm>
          <a:prstGeom prst="roundRect">
            <a:avLst>
              <a:gd name="adj" fmla="val 6897"/>
            </a:avLst>
          </a:prstGeom>
          <a:solidFill>
            <a:srgbClr val="F3F5F8"/>
          </a:solidFill>
          <a:ln w="9525">
            <a:solidFill>
              <a:srgbClr val="F3F5F8"/>
            </a:solidFill>
            <a:prstDash val="solid"/>
          </a:ln>
        </p:spPr>
      </p:sp>
      <p:sp>
        <p:nvSpPr>
          <p:cNvPr id="12" name="Text 9"/>
          <p:cNvSpPr txBox="1"/>
          <p:nvPr/>
        </p:nvSpPr>
        <p:spPr>
          <a:xfrm>
            <a:off x="731520" y="3657600"/>
            <a:ext cx="1463040" cy="548640"/>
          </a:xfrm>
          <a:prstGeom prst="rect">
            <a:avLst/>
          </a:prstGeom>
          <a:noFill/>
          <a:ln/>
        </p:spPr>
        <p:txBody>
          <a:bodyPr wrap="square" lIns="0" tIns="0" rIns="0" bIns="0" rtlCol="0" anchor="t"/>
          <a:lstStyle/>
          <a:p>
            <a:pPr indent="0" marL="0">
              <a:buNone/>
            </a:pPr>
            <a:r>
              <a:rPr lang="en-US" sz="2600" b="1" dirty="0">
                <a:solidFill>
                  <a:srgbClr val="1D2430"/>
                </a:solidFill>
              </a:rPr>
              <a:t>2,914</a:t>
            </a:r>
            <a:endParaRPr lang="en-US" sz="2600" dirty="0"/>
          </a:p>
        </p:txBody>
      </p:sp>
      <p:sp>
        <p:nvSpPr>
          <p:cNvPr id="13" name="Text 10"/>
          <p:cNvSpPr txBox="1"/>
          <p:nvPr/>
        </p:nvSpPr>
        <p:spPr>
          <a:xfrm>
            <a:off x="731520" y="4251960"/>
            <a:ext cx="1463040" cy="320040"/>
          </a:xfrm>
          <a:prstGeom prst="rect">
            <a:avLst/>
          </a:prstGeom>
          <a:noFill/>
          <a:ln/>
        </p:spPr>
        <p:txBody>
          <a:bodyPr wrap="square" lIns="0" tIns="0" rIns="0" bIns="0" rtlCol="0" anchor="t"/>
          <a:lstStyle/>
          <a:p>
            <a:pPr indent="0" marL="0">
              <a:buNone/>
            </a:pPr>
            <a:r>
              <a:rPr lang="en-US" sz="1200" dirty="0">
                <a:solidFill>
                  <a:srgbClr val="1D2430"/>
                </a:solidFill>
              </a:rPr>
              <a:t>고위험 판정</a:t>
            </a:r>
            <a:endParaRPr lang="en-US" sz="1200" dirty="0"/>
          </a:p>
        </p:txBody>
      </p:sp>
      <p:sp>
        <p:nvSpPr>
          <p:cNvPr id="14" name="Shape 11"/>
          <p:cNvSpPr/>
          <p:nvPr/>
        </p:nvSpPr>
        <p:spPr>
          <a:xfrm>
            <a:off x="2441448" y="3520440"/>
            <a:ext cx="1755648" cy="1325880"/>
          </a:xfrm>
          <a:prstGeom prst="roundRect">
            <a:avLst>
              <a:gd name="adj" fmla="val 6897"/>
            </a:avLst>
          </a:prstGeom>
          <a:solidFill>
            <a:srgbClr val="DDF3E8"/>
          </a:solidFill>
          <a:ln w="9525">
            <a:solidFill>
              <a:srgbClr val="DDF3E8"/>
            </a:solidFill>
            <a:prstDash val="solid"/>
          </a:ln>
        </p:spPr>
      </p:sp>
      <p:sp>
        <p:nvSpPr>
          <p:cNvPr id="15" name="Text 12"/>
          <p:cNvSpPr txBox="1"/>
          <p:nvPr/>
        </p:nvSpPr>
        <p:spPr>
          <a:xfrm>
            <a:off x="2624328" y="3657600"/>
            <a:ext cx="1463040" cy="548640"/>
          </a:xfrm>
          <a:prstGeom prst="rect">
            <a:avLst/>
          </a:prstGeom>
          <a:noFill/>
          <a:ln/>
        </p:spPr>
        <p:txBody>
          <a:bodyPr wrap="square" lIns="0" tIns="0" rIns="0" bIns="0" rtlCol="0" anchor="t"/>
          <a:lstStyle/>
          <a:p>
            <a:pPr indent="0" marL="0">
              <a:buNone/>
            </a:pPr>
            <a:r>
              <a:rPr lang="en-US" sz="2600" b="1" dirty="0">
                <a:solidFill>
                  <a:srgbClr val="1F8A5B"/>
                </a:solidFill>
              </a:rPr>
              <a:t>312</a:t>
            </a:r>
            <a:endParaRPr lang="en-US" sz="2600" dirty="0"/>
          </a:p>
        </p:txBody>
      </p:sp>
      <p:sp>
        <p:nvSpPr>
          <p:cNvPr id="16" name="Text 13"/>
          <p:cNvSpPr txBox="1"/>
          <p:nvPr/>
        </p:nvSpPr>
        <p:spPr>
          <a:xfrm>
            <a:off x="2624328" y="4251960"/>
            <a:ext cx="1463040" cy="320040"/>
          </a:xfrm>
          <a:prstGeom prst="rect">
            <a:avLst/>
          </a:prstGeom>
          <a:noFill/>
          <a:ln/>
        </p:spPr>
        <p:txBody>
          <a:bodyPr wrap="square" lIns="0" tIns="0" rIns="0" bIns="0" rtlCol="0" anchor="t"/>
          <a:lstStyle/>
          <a:p>
            <a:pPr indent="0" marL="0">
              <a:buNone/>
            </a:pPr>
            <a:r>
              <a:rPr lang="en-US" sz="1200" dirty="0">
                <a:solidFill>
                  <a:srgbClr val="1D2430"/>
                </a:solidFill>
              </a:rPr>
              <a:t>실제 우울을 잡음</a:t>
            </a:r>
            <a:endParaRPr lang="en-US" sz="1200" dirty="0"/>
          </a:p>
        </p:txBody>
      </p:sp>
      <p:sp>
        <p:nvSpPr>
          <p:cNvPr id="17" name="Shape 14"/>
          <p:cNvSpPr/>
          <p:nvPr/>
        </p:nvSpPr>
        <p:spPr>
          <a:xfrm>
            <a:off x="4334256" y="3520440"/>
            <a:ext cx="1755648" cy="1325880"/>
          </a:xfrm>
          <a:prstGeom prst="roundRect">
            <a:avLst>
              <a:gd name="adj" fmla="val 6897"/>
            </a:avLst>
          </a:prstGeom>
          <a:solidFill>
            <a:srgbClr val="FBE0DA"/>
          </a:solidFill>
          <a:ln w="9525">
            <a:solidFill>
              <a:srgbClr val="FBE0DA"/>
            </a:solidFill>
            <a:prstDash val="solid"/>
          </a:ln>
        </p:spPr>
      </p:sp>
      <p:sp>
        <p:nvSpPr>
          <p:cNvPr id="18" name="Text 15"/>
          <p:cNvSpPr txBox="1"/>
          <p:nvPr/>
        </p:nvSpPr>
        <p:spPr>
          <a:xfrm>
            <a:off x="4517136" y="3657600"/>
            <a:ext cx="1463040" cy="548640"/>
          </a:xfrm>
          <a:prstGeom prst="rect">
            <a:avLst/>
          </a:prstGeom>
          <a:noFill/>
          <a:ln/>
        </p:spPr>
        <p:txBody>
          <a:bodyPr wrap="square" lIns="0" tIns="0" rIns="0" bIns="0" rtlCol="0" anchor="t"/>
          <a:lstStyle/>
          <a:p>
            <a:pPr indent="0" marL="0">
              <a:buNone/>
            </a:pPr>
            <a:r>
              <a:rPr lang="en-US" sz="2600" b="1" dirty="0">
                <a:solidFill>
                  <a:srgbClr val="C2412D"/>
                </a:solidFill>
              </a:rPr>
              <a:t>2,602</a:t>
            </a:r>
            <a:endParaRPr lang="en-US" sz="2600" dirty="0"/>
          </a:p>
        </p:txBody>
      </p:sp>
      <p:sp>
        <p:nvSpPr>
          <p:cNvPr id="19" name="Text 16"/>
          <p:cNvSpPr txBox="1"/>
          <p:nvPr/>
        </p:nvSpPr>
        <p:spPr>
          <a:xfrm>
            <a:off x="4517136" y="4251960"/>
            <a:ext cx="1463040" cy="320040"/>
          </a:xfrm>
          <a:prstGeom prst="rect">
            <a:avLst/>
          </a:prstGeom>
          <a:noFill/>
          <a:ln/>
        </p:spPr>
        <p:txBody>
          <a:bodyPr wrap="square" lIns="0" tIns="0" rIns="0" bIns="0" rtlCol="0" anchor="t"/>
          <a:lstStyle/>
          <a:p>
            <a:pPr indent="0" marL="0">
              <a:buNone/>
            </a:pPr>
            <a:r>
              <a:rPr lang="en-US" sz="1200" dirty="0">
                <a:solidFill>
                  <a:srgbClr val="1D2430"/>
                </a:solidFill>
              </a:rPr>
              <a:t>헛경보</a:t>
            </a:r>
            <a:endParaRPr lang="en-US" sz="1200" dirty="0"/>
          </a:p>
        </p:txBody>
      </p:sp>
      <p:sp>
        <p:nvSpPr>
          <p:cNvPr id="20" name="Shape 17"/>
          <p:cNvSpPr/>
          <p:nvPr/>
        </p:nvSpPr>
        <p:spPr>
          <a:xfrm>
            <a:off x="6227064" y="3520440"/>
            <a:ext cx="1755648" cy="1325880"/>
          </a:xfrm>
          <a:prstGeom prst="roundRect">
            <a:avLst>
              <a:gd name="adj" fmla="val 6897"/>
            </a:avLst>
          </a:prstGeom>
          <a:solidFill>
            <a:srgbClr val="FDEBC8"/>
          </a:solidFill>
          <a:ln w="9525">
            <a:solidFill>
              <a:srgbClr val="FDEBC8"/>
            </a:solidFill>
            <a:prstDash val="solid"/>
          </a:ln>
        </p:spPr>
      </p:sp>
      <p:sp>
        <p:nvSpPr>
          <p:cNvPr id="21" name="Text 18"/>
          <p:cNvSpPr txBox="1"/>
          <p:nvPr/>
        </p:nvSpPr>
        <p:spPr>
          <a:xfrm>
            <a:off x="6409944" y="3657600"/>
            <a:ext cx="1463040" cy="548640"/>
          </a:xfrm>
          <a:prstGeom prst="rect">
            <a:avLst/>
          </a:prstGeom>
          <a:noFill/>
          <a:ln/>
        </p:spPr>
        <p:txBody>
          <a:bodyPr wrap="square" lIns="0" tIns="0" rIns="0" bIns="0" rtlCol="0" anchor="t"/>
          <a:lstStyle/>
          <a:p>
            <a:pPr indent="0" marL="0">
              <a:buNone/>
            </a:pPr>
            <a:r>
              <a:rPr lang="en-US" sz="2600" b="1" dirty="0">
                <a:solidFill>
                  <a:srgbClr val="A86400"/>
                </a:solidFill>
              </a:rPr>
              <a:t>78</a:t>
            </a:r>
            <a:endParaRPr lang="en-US" sz="2600" dirty="0"/>
          </a:p>
        </p:txBody>
      </p:sp>
      <p:sp>
        <p:nvSpPr>
          <p:cNvPr id="22" name="Text 19"/>
          <p:cNvSpPr txBox="1"/>
          <p:nvPr/>
        </p:nvSpPr>
        <p:spPr>
          <a:xfrm>
            <a:off x="6409944" y="4251960"/>
            <a:ext cx="1463040" cy="320040"/>
          </a:xfrm>
          <a:prstGeom prst="rect">
            <a:avLst/>
          </a:prstGeom>
          <a:noFill/>
          <a:ln/>
        </p:spPr>
        <p:txBody>
          <a:bodyPr wrap="square" lIns="0" tIns="0" rIns="0" bIns="0" rtlCol="0" anchor="t"/>
          <a:lstStyle/>
          <a:p>
            <a:pPr indent="0" marL="0">
              <a:buNone/>
            </a:pPr>
            <a:r>
              <a:rPr lang="en-US" sz="1200" dirty="0">
                <a:solidFill>
                  <a:srgbClr val="1D2430"/>
                </a:solidFill>
              </a:rPr>
              <a:t>놓친 우울</a:t>
            </a:r>
            <a:endParaRPr lang="en-US" sz="1200" dirty="0"/>
          </a:p>
        </p:txBody>
      </p:sp>
      <p:sp>
        <p:nvSpPr>
          <p:cNvPr id="23" name="Shape 20"/>
          <p:cNvSpPr/>
          <p:nvPr/>
        </p:nvSpPr>
        <p:spPr>
          <a:xfrm>
            <a:off x="8229600" y="1737360"/>
            <a:ext cx="3410712" cy="3108960"/>
          </a:xfrm>
          <a:prstGeom prst="roundRect">
            <a:avLst>
              <a:gd name="adj" fmla="val 2941"/>
            </a:avLst>
          </a:prstGeom>
          <a:solidFill>
            <a:srgbClr val="1D2430"/>
          </a:solidFill>
          <a:ln w="9525">
            <a:solidFill>
              <a:srgbClr val="1D2430"/>
            </a:solidFill>
            <a:prstDash val="solid"/>
          </a:ln>
        </p:spPr>
      </p:sp>
      <p:sp>
        <p:nvSpPr>
          <p:cNvPr id="24" name="Text 21"/>
          <p:cNvSpPr txBox="1"/>
          <p:nvPr/>
        </p:nvSpPr>
        <p:spPr>
          <a:xfrm>
            <a:off x="8458200" y="1920240"/>
            <a:ext cx="2743200" cy="365760"/>
          </a:xfrm>
          <a:prstGeom prst="rect">
            <a:avLst/>
          </a:prstGeom>
          <a:noFill/>
          <a:ln/>
        </p:spPr>
        <p:txBody>
          <a:bodyPr wrap="square" lIns="0" tIns="0" rIns="0" bIns="0" rtlCol="0" anchor="t"/>
          <a:lstStyle/>
          <a:p>
            <a:pPr indent="0" marL="0">
              <a:buNone/>
            </a:pPr>
            <a:r>
              <a:rPr lang="en-US" sz="1800" b="1" dirty="0">
                <a:solidFill>
                  <a:srgbClr val="FFFFFF"/>
                </a:solidFill>
              </a:rPr>
              <a:t>판정</a:t>
            </a:r>
            <a:endParaRPr lang="en-US" sz="1800" dirty="0"/>
          </a:p>
        </p:txBody>
      </p:sp>
      <p:sp>
        <p:nvSpPr>
          <p:cNvPr id="25" name="Text 22"/>
          <p:cNvSpPr txBox="1"/>
          <p:nvPr/>
        </p:nvSpPr>
        <p:spPr>
          <a:xfrm>
            <a:off x="8458200" y="2377440"/>
            <a:ext cx="3017520" cy="2286000"/>
          </a:xfrm>
          <a:prstGeom prst="rect">
            <a:avLst/>
          </a:prstGeom>
          <a:noFill/>
          <a:ln/>
        </p:spPr>
        <p:txBody>
          <a:bodyPr wrap="square" lIns="0" tIns="0" rIns="0" bIns="0" rtlCol="0" anchor="t"/>
          <a:lstStyle/>
          <a:p>
            <a:pPr indent="0" marL="0">
              <a:buNone/>
            </a:pPr>
            <a:r>
              <a:rPr lang="en-US" sz="1400" b="1" dirty="0">
                <a:solidFill>
                  <a:srgbClr val="5BC596"/>
                </a:solidFill>
              </a:rPr>
              <a:t>선별 도구로는 쓰지 않는다</a:t>
            </a:r>
            <a:endParaRPr lang="en-US" sz="1400" dirty="0"/>
          </a:p>
          <a:p>
            <a:pPr indent="0" marL="0">
              <a:buNone/>
            </a:pPr>
            <a:r>
              <a:rPr lang="en-US" sz="600" dirty="0">
                <a:solidFill>
                  <a:srgbClr val="1D2430"/>
                </a:solidFill>
              </a:rPr>
              <a:t> </a:t>
            </a:r>
            <a:endParaRPr lang="en-US" sz="1400" dirty="0"/>
          </a:p>
          <a:p>
            <a:pPr indent="0" marL="0">
              <a:buNone/>
            </a:pPr>
            <a:r>
              <a:rPr lang="en-US" sz="1400" dirty="0">
                <a:solidFill>
                  <a:srgbClr val="F3F5F8"/>
                </a:solidFill>
              </a:rPr>
              <a:t>결과변수가 PHQ-9 점수 자체라서 개인 판정은 9문항을 직접 묻는 편이 더 싸고 정확하다. 머신러닝의 역할은 영역 간 정보량 비교다.</a:t>
            </a:r>
            <a:endParaRPr lang="en-US" sz="1400" dirty="0"/>
          </a:p>
        </p:txBody>
      </p:sp>
      <p:sp>
        <p:nvSpPr>
          <p:cNvPr id="26" name="Shape 23"/>
          <p:cNvSpPr/>
          <p:nvPr/>
        </p:nvSpPr>
        <p:spPr>
          <a:xfrm>
            <a:off x="548640" y="5120640"/>
            <a:ext cx="11094415" cy="475488"/>
          </a:xfrm>
          <a:prstGeom prst="roundRect">
            <a:avLst>
              <a:gd name="adj" fmla="val 19231"/>
            </a:avLst>
          </a:prstGeom>
          <a:solidFill>
            <a:srgbClr val="FDEBC8"/>
          </a:solidFill>
          <a:ln w="9525">
            <a:solidFill>
              <a:srgbClr val="FDEBC8"/>
            </a:solidFill>
            <a:prstDash val="solid"/>
          </a:ln>
        </p:spPr>
      </p:sp>
      <p:sp>
        <p:nvSpPr>
          <p:cNvPr id="27" name="Text 24"/>
          <p:cNvSpPr txBox="1"/>
          <p:nvPr/>
        </p:nvSpPr>
        <p:spPr>
          <a:xfrm>
            <a:off x="777240" y="5120640"/>
            <a:ext cx="10637215" cy="475488"/>
          </a:xfrm>
          <a:prstGeom prst="rect">
            <a:avLst/>
          </a:prstGeom>
          <a:noFill/>
          <a:ln/>
        </p:spPr>
        <p:txBody>
          <a:bodyPr wrap="square" lIns="0" tIns="0" rIns="0" bIns="0" rtlCol="0" anchor="ctr"/>
          <a:lstStyle/>
          <a:p>
            <a:pPr indent="0" marL="0">
              <a:buNone/>
            </a:pPr>
            <a:r>
              <a:rPr lang="en-US" sz="1300" b="1" dirty="0">
                <a:solidFill>
                  <a:srgbClr val="A86400"/>
                </a:solidFill>
              </a:rPr>
              <a:t>읽는 법   </a:t>
            </a:r>
            <a:pPr indent="0" marL="0">
              <a:buNone/>
            </a:pPr>
            <a:r>
              <a:rPr lang="en-US" sz="1300" dirty="0">
                <a:solidFill>
                  <a:srgbClr val="1D2430"/>
                </a:solidFill>
              </a:rPr>
              <a:t>AP = 고위험 순으로 찍어 갈 때 찍힌 사람 중 실제 우울 비율의 평균 · 바닥값은 유병률(0.039)</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FFFFFF"/>
                </a:solidFill>
              </a:rPr>
              <a:t>제언: 운동은 사람·생활습관과 함께할 때 우울 비율이 가장 낮다</a:t>
            </a:r>
            <a:endParaRPr lang="en-US" sz="2800" dirty="0"/>
          </a:p>
        </p:txBody>
      </p:sp>
      <p:sp>
        <p:nvSpPr>
          <p:cNvPr id="4" name="Shape 1"/>
          <p:cNvSpPr/>
          <p:nvPr/>
        </p:nvSpPr>
        <p:spPr>
          <a:xfrm>
            <a:off x="548640" y="1737360"/>
            <a:ext cx="3557016" cy="2514600"/>
          </a:xfrm>
          <a:prstGeom prst="roundRect">
            <a:avLst>
              <a:gd name="adj" fmla="val 3636"/>
            </a:avLst>
          </a:prstGeom>
          <a:solidFill>
            <a:srgbClr val="2A3342"/>
          </a:solidFill>
          <a:ln w="9525">
            <a:solidFill>
              <a:srgbClr val="2A3342"/>
            </a:solidFill>
            <a:prstDash val="solid"/>
          </a:ln>
        </p:spPr>
      </p:sp>
      <p:sp>
        <p:nvSpPr>
          <p:cNvPr id="5" name="Text 2"/>
          <p:cNvSpPr txBox="1"/>
          <p:nvPr/>
        </p:nvSpPr>
        <p:spPr>
          <a:xfrm>
            <a:off x="822960" y="1901952"/>
            <a:ext cx="1828800" cy="274320"/>
          </a:xfrm>
          <a:prstGeom prst="rect">
            <a:avLst/>
          </a:prstGeom>
          <a:noFill/>
          <a:ln/>
        </p:spPr>
        <p:txBody>
          <a:bodyPr wrap="square" lIns="0" tIns="0" rIns="0" bIns="0" rtlCol="0" anchor="t"/>
          <a:lstStyle/>
          <a:p>
            <a:pPr indent="0" marL="0">
              <a:buNone/>
            </a:pPr>
            <a:r>
              <a:rPr lang="en-US" sz="1300" b="1" dirty="0">
                <a:solidFill>
                  <a:srgbClr val="5BC596"/>
                </a:solidFill>
              </a:rPr>
              <a:t>제언 ①</a:t>
            </a:r>
            <a:endParaRPr lang="en-US" sz="1300" dirty="0"/>
          </a:p>
        </p:txBody>
      </p:sp>
      <p:sp>
        <p:nvSpPr>
          <p:cNvPr id="6" name="Text 3"/>
          <p:cNvSpPr txBox="1"/>
          <p:nvPr/>
        </p:nvSpPr>
        <p:spPr>
          <a:xfrm>
            <a:off x="822960" y="2240280"/>
            <a:ext cx="3017520" cy="502920"/>
          </a:xfrm>
          <a:prstGeom prst="rect">
            <a:avLst/>
          </a:prstGeom>
          <a:noFill/>
          <a:ln/>
        </p:spPr>
        <p:txBody>
          <a:bodyPr wrap="square" lIns="0" tIns="0" rIns="0" bIns="0" rtlCol="0" anchor="t"/>
          <a:lstStyle/>
          <a:p>
            <a:pPr indent="0" marL="0">
              <a:buNone/>
            </a:pPr>
            <a:r>
              <a:rPr lang="en-US" sz="2400" b="1" dirty="0">
                <a:solidFill>
                  <a:srgbClr val="FFFFFF"/>
                </a:solidFill>
              </a:rPr>
              <a:t>교류형 운동</a:t>
            </a:r>
            <a:endParaRPr lang="en-US" sz="2400" dirty="0"/>
          </a:p>
        </p:txBody>
      </p:sp>
      <p:sp>
        <p:nvSpPr>
          <p:cNvPr id="7" name="Text 4"/>
          <p:cNvSpPr txBox="1"/>
          <p:nvPr/>
        </p:nvSpPr>
        <p:spPr>
          <a:xfrm>
            <a:off x="822960" y="2834640"/>
            <a:ext cx="3017520" cy="594360"/>
          </a:xfrm>
          <a:prstGeom prst="rect">
            <a:avLst/>
          </a:prstGeom>
          <a:noFill/>
          <a:ln/>
        </p:spPr>
        <p:txBody>
          <a:bodyPr wrap="square" lIns="0" tIns="0" rIns="0" bIns="0" rtlCol="0" anchor="t"/>
          <a:lstStyle/>
          <a:p>
            <a:pPr indent="0" marL="0">
              <a:buNone/>
            </a:pPr>
            <a:r>
              <a:rPr lang="en-US" sz="1300" dirty="0">
                <a:solidFill>
                  <a:srgbClr val="F3F5F8"/>
                </a:solidFill>
              </a:rPr>
              <a:t>신체활동 + 사회적 연결 2.46% (둘 다 아님 5.34%)</a:t>
            </a:r>
            <a:endParaRPr lang="en-US" sz="1300" dirty="0"/>
          </a:p>
        </p:txBody>
      </p:sp>
      <p:sp>
        <p:nvSpPr>
          <p:cNvPr id="8" name="Text 5"/>
          <p:cNvSpPr txBox="1"/>
          <p:nvPr/>
        </p:nvSpPr>
        <p:spPr>
          <a:xfrm>
            <a:off x="822960" y="3520440"/>
            <a:ext cx="3017520" cy="594360"/>
          </a:xfrm>
          <a:prstGeom prst="rect">
            <a:avLst/>
          </a:prstGeom>
          <a:noFill/>
          <a:ln/>
        </p:spPr>
        <p:txBody>
          <a:bodyPr wrap="square" lIns="0" tIns="0" rIns="0" bIns="0" rtlCol="0" anchor="t"/>
          <a:lstStyle/>
          <a:p>
            <a:pPr indent="0" marL="0">
              <a:buNone/>
            </a:pPr>
            <a:r>
              <a:rPr lang="en-US" sz="1300" dirty="0">
                <a:solidFill>
                  <a:srgbClr val="A9B2C0"/>
                </a:solidFill>
              </a:rPr>
              <a:t>동네 걷기 모임·동호회처럼 사람과 함께하는 형태</a:t>
            </a:r>
            <a:endParaRPr lang="en-US" sz="1300" dirty="0"/>
          </a:p>
        </p:txBody>
      </p:sp>
      <p:sp>
        <p:nvSpPr>
          <p:cNvPr id="9" name="Shape 6"/>
          <p:cNvSpPr/>
          <p:nvPr/>
        </p:nvSpPr>
        <p:spPr>
          <a:xfrm>
            <a:off x="4315968" y="1737360"/>
            <a:ext cx="3557016" cy="2514600"/>
          </a:xfrm>
          <a:prstGeom prst="roundRect">
            <a:avLst>
              <a:gd name="adj" fmla="val 3636"/>
            </a:avLst>
          </a:prstGeom>
          <a:solidFill>
            <a:srgbClr val="2A3342"/>
          </a:solidFill>
          <a:ln w="9525">
            <a:solidFill>
              <a:srgbClr val="2A3342"/>
            </a:solidFill>
            <a:prstDash val="solid"/>
          </a:ln>
        </p:spPr>
      </p:sp>
      <p:sp>
        <p:nvSpPr>
          <p:cNvPr id="10" name="Text 7"/>
          <p:cNvSpPr txBox="1"/>
          <p:nvPr/>
        </p:nvSpPr>
        <p:spPr>
          <a:xfrm>
            <a:off x="4590288" y="1901952"/>
            <a:ext cx="1828800" cy="274320"/>
          </a:xfrm>
          <a:prstGeom prst="rect">
            <a:avLst/>
          </a:prstGeom>
          <a:noFill/>
          <a:ln/>
        </p:spPr>
        <p:txBody>
          <a:bodyPr wrap="square" lIns="0" tIns="0" rIns="0" bIns="0" rtlCol="0" anchor="t"/>
          <a:lstStyle/>
          <a:p>
            <a:pPr indent="0" marL="0">
              <a:buNone/>
            </a:pPr>
            <a:r>
              <a:rPr lang="en-US" sz="1300" b="1" dirty="0">
                <a:solidFill>
                  <a:srgbClr val="5BC596"/>
                </a:solidFill>
              </a:rPr>
              <a:t>제언 ②</a:t>
            </a:r>
            <a:endParaRPr lang="en-US" sz="1300" dirty="0"/>
          </a:p>
        </p:txBody>
      </p:sp>
      <p:sp>
        <p:nvSpPr>
          <p:cNvPr id="11" name="Text 8"/>
          <p:cNvSpPr txBox="1"/>
          <p:nvPr/>
        </p:nvSpPr>
        <p:spPr>
          <a:xfrm>
            <a:off x="4590288" y="2240280"/>
            <a:ext cx="3017520" cy="502920"/>
          </a:xfrm>
          <a:prstGeom prst="rect">
            <a:avLst/>
          </a:prstGeom>
          <a:noFill/>
          <a:ln/>
        </p:spPr>
        <p:txBody>
          <a:bodyPr wrap="square" lIns="0" tIns="0" rIns="0" bIns="0" rtlCol="0" anchor="t"/>
          <a:lstStyle/>
          <a:p>
            <a:pPr indent="0" marL="0">
              <a:buNone/>
            </a:pPr>
            <a:r>
              <a:rPr lang="en-US" sz="2400" b="1" dirty="0">
                <a:solidFill>
                  <a:srgbClr val="FFFFFF"/>
                </a:solidFill>
              </a:rPr>
              <a:t>생활 단위 실천</a:t>
            </a:r>
            <a:endParaRPr lang="en-US" sz="2400" dirty="0"/>
          </a:p>
        </p:txBody>
      </p:sp>
      <p:sp>
        <p:nvSpPr>
          <p:cNvPr id="12" name="Text 9"/>
          <p:cNvSpPr txBox="1"/>
          <p:nvPr/>
        </p:nvSpPr>
        <p:spPr>
          <a:xfrm>
            <a:off x="4590288" y="2834640"/>
            <a:ext cx="3017520" cy="594360"/>
          </a:xfrm>
          <a:prstGeom prst="rect">
            <a:avLst/>
          </a:prstGeom>
          <a:noFill/>
          <a:ln/>
        </p:spPr>
        <p:txBody>
          <a:bodyPr wrap="square" lIns="0" tIns="0" rIns="0" bIns="0" rtlCol="0" anchor="t"/>
          <a:lstStyle/>
          <a:p>
            <a:pPr indent="0" marL="0">
              <a:buNone/>
            </a:pPr>
            <a:r>
              <a:rPr lang="en-US" sz="1300" dirty="0">
                <a:solidFill>
                  <a:srgbClr val="F3F5F8"/>
                </a:solidFill>
              </a:rPr>
              <a:t>건강 생활요인 0~1개 9.0% → 6개 2.1%</a:t>
            </a:r>
            <a:endParaRPr lang="en-US" sz="1300" dirty="0"/>
          </a:p>
        </p:txBody>
      </p:sp>
      <p:sp>
        <p:nvSpPr>
          <p:cNvPr id="13" name="Text 10"/>
          <p:cNvSpPr txBox="1"/>
          <p:nvPr/>
        </p:nvSpPr>
        <p:spPr>
          <a:xfrm>
            <a:off x="4590288" y="3520440"/>
            <a:ext cx="3017520" cy="594360"/>
          </a:xfrm>
          <a:prstGeom prst="rect">
            <a:avLst/>
          </a:prstGeom>
          <a:noFill/>
          <a:ln/>
        </p:spPr>
        <p:txBody>
          <a:bodyPr wrap="square" lIns="0" tIns="0" rIns="0" bIns="0" rtlCol="0" anchor="t"/>
          <a:lstStyle/>
          <a:p>
            <a:pPr indent="0" marL="0">
              <a:buNone/>
            </a:pPr>
            <a:r>
              <a:rPr lang="en-US" sz="1300" dirty="0">
                <a:solidFill>
                  <a:srgbClr val="A9B2C0"/>
                </a:solidFill>
              </a:rPr>
              <a:t>운동·아침식사·금연·절주·칫솔질을 함께</a:t>
            </a:r>
            <a:endParaRPr lang="en-US" sz="1300" dirty="0"/>
          </a:p>
        </p:txBody>
      </p:sp>
      <p:sp>
        <p:nvSpPr>
          <p:cNvPr id="14" name="Shape 11"/>
          <p:cNvSpPr/>
          <p:nvPr/>
        </p:nvSpPr>
        <p:spPr>
          <a:xfrm>
            <a:off x="8083296" y="1737360"/>
            <a:ext cx="3557016" cy="2514600"/>
          </a:xfrm>
          <a:prstGeom prst="roundRect">
            <a:avLst>
              <a:gd name="adj" fmla="val 3636"/>
            </a:avLst>
          </a:prstGeom>
          <a:solidFill>
            <a:srgbClr val="2A3342"/>
          </a:solidFill>
          <a:ln w="9525">
            <a:solidFill>
              <a:srgbClr val="2A3342"/>
            </a:solidFill>
            <a:prstDash val="solid"/>
          </a:ln>
        </p:spPr>
      </p:sp>
      <p:sp>
        <p:nvSpPr>
          <p:cNvPr id="15" name="Text 12"/>
          <p:cNvSpPr txBox="1"/>
          <p:nvPr/>
        </p:nvSpPr>
        <p:spPr>
          <a:xfrm>
            <a:off x="8357616" y="1901952"/>
            <a:ext cx="1828800" cy="274320"/>
          </a:xfrm>
          <a:prstGeom prst="rect">
            <a:avLst/>
          </a:prstGeom>
          <a:noFill/>
          <a:ln/>
        </p:spPr>
        <p:txBody>
          <a:bodyPr wrap="square" lIns="0" tIns="0" rIns="0" bIns="0" rtlCol="0" anchor="t"/>
          <a:lstStyle/>
          <a:p>
            <a:pPr indent="0" marL="0">
              <a:buNone/>
            </a:pPr>
            <a:r>
              <a:rPr lang="en-US" sz="1300" b="1" dirty="0">
                <a:solidFill>
                  <a:srgbClr val="5BC596"/>
                </a:solidFill>
              </a:rPr>
              <a:t>제언 ③</a:t>
            </a:r>
            <a:endParaRPr lang="en-US" sz="1300" dirty="0"/>
          </a:p>
        </p:txBody>
      </p:sp>
      <p:sp>
        <p:nvSpPr>
          <p:cNvPr id="16" name="Text 13"/>
          <p:cNvSpPr txBox="1"/>
          <p:nvPr/>
        </p:nvSpPr>
        <p:spPr>
          <a:xfrm>
            <a:off x="8357616" y="2240280"/>
            <a:ext cx="3017520" cy="502920"/>
          </a:xfrm>
          <a:prstGeom prst="rect">
            <a:avLst/>
          </a:prstGeom>
          <a:noFill/>
          <a:ln/>
        </p:spPr>
        <p:txBody>
          <a:bodyPr wrap="square" lIns="0" tIns="0" rIns="0" bIns="0" rtlCol="0" anchor="t"/>
          <a:lstStyle/>
          <a:p>
            <a:pPr indent="0" marL="0">
              <a:buNone/>
            </a:pPr>
            <a:r>
              <a:rPr lang="en-US" sz="2400" b="1" dirty="0">
                <a:solidFill>
                  <a:srgbClr val="FFFFFF"/>
                </a:solidFill>
              </a:rPr>
              <a:t>연령별 맞춤</a:t>
            </a:r>
            <a:endParaRPr lang="en-US" sz="2400" dirty="0"/>
          </a:p>
        </p:txBody>
      </p:sp>
      <p:sp>
        <p:nvSpPr>
          <p:cNvPr id="17" name="Text 14"/>
          <p:cNvSpPr txBox="1"/>
          <p:nvPr/>
        </p:nvSpPr>
        <p:spPr>
          <a:xfrm>
            <a:off x="8357616" y="2834640"/>
            <a:ext cx="3017520" cy="594360"/>
          </a:xfrm>
          <a:prstGeom prst="rect">
            <a:avLst/>
          </a:prstGeom>
          <a:noFill/>
          <a:ln/>
        </p:spPr>
        <p:txBody>
          <a:bodyPr wrap="square" lIns="0" tIns="0" rIns="0" bIns="0" rtlCol="0" anchor="t"/>
          <a:lstStyle/>
          <a:p>
            <a:pPr indent="0" marL="0">
              <a:buNone/>
            </a:pPr>
            <a:r>
              <a:rPr lang="en-US" sz="1300" dirty="0">
                <a:solidFill>
                  <a:srgbClr val="F3F5F8"/>
                </a:solidFill>
              </a:rPr>
              <a:t>청년 생활습관 · 중장년 경제 · 노년 신체건강과 의료접근</a:t>
            </a:r>
            <a:endParaRPr lang="en-US" sz="1300" dirty="0"/>
          </a:p>
        </p:txBody>
      </p:sp>
      <p:sp>
        <p:nvSpPr>
          <p:cNvPr id="18" name="Text 15"/>
          <p:cNvSpPr txBox="1"/>
          <p:nvPr/>
        </p:nvSpPr>
        <p:spPr>
          <a:xfrm>
            <a:off x="8357616" y="3520440"/>
            <a:ext cx="3017520" cy="594360"/>
          </a:xfrm>
          <a:prstGeom prst="rect">
            <a:avLst/>
          </a:prstGeom>
          <a:noFill/>
          <a:ln/>
        </p:spPr>
        <p:txBody>
          <a:bodyPr wrap="square" lIns="0" tIns="0" rIns="0" bIns="0" rtlCol="0" anchor="t"/>
          <a:lstStyle/>
          <a:p>
            <a:pPr indent="0" marL="0">
              <a:buNone/>
            </a:pPr>
            <a:r>
              <a:rPr lang="en-US" sz="1300" dirty="0">
                <a:solidFill>
                  <a:srgbClr val="A9B2C0"/>
                </a:solidFill>
              </a:rPr>
              <a:t>치과 진료, 낙상 예방, 식품 지원을 정신건강과 연계</a:t>
            </a:r>
            <a:endParaRPr lang="en-US" sz="1300" dirty="0"/>
          </a:p>
        </p:txBody>
      </p:sp>
      <p:sp>
        <p:nvSpPr>
          <p:cNvPr id="19" name="Shape 16"/>
          <p:cNvSpPr/>
          <p:nvPr/>
        </p:nvSpPr>
        <p:spPr>
          <a:xfrm>
            <a:off x="548640" y="4434840"/>
            <a:ext cx="11094415" cy="640080"/>
          </a:xfrm>
          <a:prstGeom prst="roundRect">
            <a:avLst>
              <a:gd name="adj" fmla="val 14286"/>
            </a:avLst>
          </a:prstGeom>
          <a:solidFill>
            <a:srgbClr val="2A3342"/>
          </a:solidFill>
          <a:ln w="9525">
            <a:solidFill>
              <a:srgbClr val="2A3342"/>
            </a:solidFill>
            <a:prstDash val="solid"/>
          </a:ln>
        </p:spPr>
      </p:sp>
      <p:sp>
        <p:nvSpPr>
          <p:cNvPr id="20" name="Text 17"/>
          <p:cNvSpPr txBox="1"/>
          <p:nvPr/>
        </p:nvSpPr>
        <p:spPr>
          <a:xfrm>
            <a:off x="822960" y="4434840"/>
            <a:ext cx="10545775" cy="640080"/>
          </a:xfrm>
          <a:prstGeom prst="rect">
            <a:avLst/>
          </a:prstGeom>
          <a:noFill/>
          <a:ln/>
        </p:spPr>
        <p:txBody>
          <a:bodyPr wrap="square" lIns="0" tIns="0" rIns="0" bIns="0" rtlCol="0" anchor="ctr"/>
          <a:lstStyle/>
          <a:p>
            <a:pPr indent="0" marL="0">
              <a:buNone/>
            </a:pPr>
            <a:r>
              <a:rPr lang="en-US" sz="1500" b="1" dirty="0">
                <a:solidFill>
                  <a:srgbClr val="5BC596"/>
                </a:solidFill>
              </a:rPr>
              <a:t>근거   </a:t>
            </a:r>
            <a:pPr indent="0" marL="0">
              <a:buNone/>
            </a:pPr>
            <a:r>
              <a:rPr lang="en-US" sz="1500" b="1" dirty="0">
                <a:solidFill>
                  <a:srgbClr val="FFFFFF"/>
                </a:solidFill>
              </a:rPr>
              <a:t>신체활동과 5개 생활요인 모두 상호작용 없음 → 관련성이 서로 독립적으로 더해진다</a:t>
            </a:r>
            <a:endParaRPr lang="en-US" sz="1500" dirty="0"/>
          </a:p>
        </p:txBody>
      </p:sp>
      <p:sp>
        <p:nvSpPr>
          <p:cNvPr id="21" name="Text 18"/>
          <p:cNvSpPr txBox="1"/>
          <p:nvPr/>
        </p:nvSpPr>
        <p:spPr>
          <a:xfrm>
            <a:off x="548640" y="5303520"/>
            <a:ext cx="3657600" cy="320040"/>
          </a:xfrm>
          <a:prstGeom prst="rect">
            <a:avLst/>
          </a:prstGeom>
          <a:noFill/>
          <a:ln/>
        </p:spPr>
        <p:txBody>
          <a:bodyPr wrap="square" lIns="0" tIns="0" rIns="0" bIns="0" rtlCol="0" anchor="t"/>
          <a:lstStyle/>
          <a:p>
            <a:pPr indent="0" marL="0">
              <a:buNone/>
            </a:pPr>
            <a:r>
              <a:rPr lang="en-US" sz="1300" b="1" dirty="0">
                <a:solidFill>
                  <a:srgbClr val="F2B04C"/>
                </a:solidFill>
              </a:rPr>
              <a:t>스포츠산업 시사점</a:t>
            </a:r>
            <a:endParaRPr lang="en-US" sz="1300" dirty="0"/>
          </a:p>
        </p:txBody>
      </p:sp>
      <p:sp>
        <p:nvSpPr>
          <p:cNvPr id="22" name="Text 19"/>
          <p:cNvSpPr txBox="1"/>
          <p:nvPr/>
        </p:nvSpPr>
        <p:spPr>
          <a:xfrm>
            <a:off x="548640" y="5623560"/>
            <a:ext cx="11094415" cy="548640"/>
          </a:xfrm>
          <a:prstGeom prst="rect">
            <a:avLst/>
          </a:prstGeom>
          <a:noFill/>
          <a:ln/>
        </p:spPr>
        <p:txBody>
          <a:bodyPr wrap="square" lIns="0" tIns="0" rIns="0" bIns="0" rtlCol="0" anchor="t"/>
          <a:lstStyle/>
          <a:p>
            <a:pPr indent="0" marL="0">
              <a:buNone/>
            </a:pPr>
            <a:r>
              <a:rPr lang="en-US" sz="1400" dirty="0">
                <a:solidFill>
                  <a:srgbClr val="F3F5F8"/>
                </a:solidFill>
              </a:rPr>
              <a:t>생활체육 시설·동호회는 운동을 제공하는 동시에 이웃·친구 관계를 만드는 장이 될 수 있다. 결합 프로그램의 실제 효과는 중재연구로 검증할 과제다.</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2C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4"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800" b="1" dirty="0">
                <a:solidFill>
                  <a:srgbClr val="1D2430"/>
                </a:solidFill>
              </a:rPr>
              <a:t>한계를 분명히 하고 피드백을 반영해 마무리한다</a:t>
            </a:r>
            <a:endParaRPr lang="en-US" sz="2800" dirty="0"/>
          </a:p>
        </p:txBody>
      </p:sp>
      <p:sp>
        <p:nvSpPr>
          <p:cNvPr id="4" name="Text 1"/>
          <p:cNvSpPr txBox="1"/>
          <p:nvPr/>
        </p:nvSpPr>
        <p:spPr>
          <a:xfrm>
            <a:off x="548640" y="1737360"/>
            <a:ext cx="5486400" cy="320040"/>
          </a:xfrm>
          <a:prstGeom prst="rect">
            <a:avLst/>
          </a:prstGeom>
          <a:noFill/>
          <a:ln/>
        </p:spPr>
        <p:txBody>
          <a:bodyPr wrap="square" lIns="0" tIns="0" rIns="0" bIns="0" rtlCol="0" anchor="t"/>
          <a:lstStyle/>
          <a:p>
            <a:pPr indent="0" marL="0">
              <a:buNone/>
            </a:pPr>
            <a:r>
              <a:rPr lang="en-US" sz="1600" b="1" dirty="0">
                <a:solidFill>
                  <a:srgbClr val="A86400"/>
                </a:solidFill>
              </a:rPr>
              <a:t>한계</a:t>
            </a:r>
            <a:endParaRPr lang="en-US" sz="1600" dirty="0"/>
          </a:p>
        </p:txBody>
      </p:sp>
      <p:sp>
        <p:nvSpPr>
          <p:cNvPr id="5" name="Text 2"/>
          <p:cNvSpPr txBox="1"/>
          <p:nvPr/>
        </p:nvSpPr>
        <p:spPr>
          <a:xfrm>
            <a:off x="548640" y="2194560"/>
            <a:ext cx="384048" cy="384048"/>
          </a:xfrm>
          <a:prstGeom prst="ellipse">
            <a:avLst/>
          </a:prstGeom>
          <a:solidFill>
            <a:srgbClr val="F2B04C"/>
          </a:solidFill>
          <a:ln>
            <a:solidFill>
              <a:srgbClr val="F2B04C"/>
            </a:solidFill>
          </a:ln>
        </p:spPr>
        <p:txBody>
          <a:bodyPr wrap="square" lIns="0" tIns="0" rIns="0" bIns="0" rtlCol="0" anchor="ctr"/>
          <a:lstStyle/>
          <a:p>
            <a:pPr algn="ctr" indent="0" marL="0">
              <a:buNone/>
            </a:pPr>
            <a:r>
              <a:rPr lang="en-US" sz="1400" b="1" dirty="0">
                <a:solidFill>
                  <a:srgbClr val="1D2430"/>
                </a:solidFill>
              </a:rPr>
              <a:t>1</a:t>
            </a:r>
            <a:endParaRPr lang="en-US" sz="1400" dirty="0"/>
          </a:p>
        </p:txBody>
      </p:sp>
      <p:sp>
        <p:nvSpPr>
          <p:cNvPr id="6" name="Text 3"/>
          <p:cNvSpPr txBox="1"/>
          <p:nvPr/>
        </p:nvSpPr>
        <p:spPr>
          <a:xfrm>
            <a:off x="1097280" y="2176272"/>
            <a:ext cx="4754880" cy="320040"/>
          </a:xfrm>
          <a:prstGeom prst="rect">
            <a:avLst/>
          </a:prstGeom>
          <a:noFill/>
          <a:ln/>
        </p:spPr>
        <p:txBody>
          <a:bodyPr wrap="square" lIns="0" tIns="0" rIns="0" bIns="0" rtlCol="0" anchor="t"/>
          <a:lstStyle/>
          <a:p>
            <a:pPr indent="0" marL="0">
              <a:buNone/>
            </a:pPr>
            <a:r>
              <a:rPr lang="en-US" sz="1500" b="1" dirty="0">
                <a:solidFill>
                  <a:srgbClr val="1D2430"/>
                </a:solidFill>
              </a:rPr>
              <a:t>횡단면 자료</a:t>
            </a:r>
            <a:endParaRPr lang="en-US" sz="1500" dirty="0"/>
          </a:p>
        </p:txBody>
      </p:sp>
      <p:sp>
        <p:nvSpPr>
          <p:cNvPr id="7" name="Text 4"/>
          <p:cNvSpPr txBox="1"/>
          <p:nvPr/>
        </p:nvSpPr>
        <p:spPr>
          <a:xfrm>
            <a:off x="1097280" y="2514600"/>
            <a:ext cx="4754880" cy="320040"/>
          </a:xfrm>
          <a:prstGeom prst="rect">
            <a:avLst/>
          </a:prstGeom>
          <a:noFill/>
          <a:ln/>
        </p:spPr>
        <p:txBody>
          <a:bodyPr wrap="square" lIns="0" tIns="0" rIns="0" bIns="0" rtlCol="0" anchor="t"/>
          <a:lstStyle/>
          <a:p>
            <a:pPr indent="0" marL="0">
              <a:buNone/>
            </a:pPr>
            <a:r>
              <a:rPr lang="en-US" sz="1300" dirty="0">
                <a:solidFill>
                  <a:srgbClr val="5B6472"/>
                </a:solidFill>
              </a:rPr>
              <a:t>역인과 가능성 → 모든 결과를 '관련 요인'으로 서술</a:t>
            </a:r>
            <a:endParaRPr lang="en-US" sz="1300" dirty="0"/>
          </a:p>
        </p:txBody>
      </p:sp>
      <p:sp>
        <p:nvSpPr>
          <p:cNvPr id="8" name="Text 5"/>
          <p:cNvSpPr txBox="1"/>
          <p:nvPr/>
        </p:nvSpPr>
        <p:spPr>
          <a:xfrm>
            <a:off x="548640" y="3063240"/>
            <a:ext cx="384048" cy="384048"/>
          </a:xfrm>
          <a:prstGeom prst="ellipse">
            <a:avLst/>
          </a:prstGeom>
          <a:solidFill>
            <a:srgbClr val="F2B04C"/>
          </a:solidFill>
          <a:ln>
            <a:solidFill>
              <a:srgbClr val="F2B04C"/>
            </a:solidFill>
          </a:ln>
        </p:spPr>
        <p:txBody>
          <a:bodyPr wrap="square" lIns="0" tIns="0" rIns="0" bIns="0" rtlCol="0" anchor="ctr"/>
          <a:lstStyle/>
          <a:p>
            <a:pPr algn="ctr" indent="0" marL="0">
              <a:buNone/>
            </a:pPr>
            <a:r>
              <a:rPr lang="en-US" sz="1400" b="1" dirty="0">
                <a:solidFill>
                  <a:srgbClr val="1D2430"/>
                </a:solidFill>
              </a:rPr>
              <a:t>2</a:t>
            </a:r>
            <a:endParaRPr lang="en-US" sz="1400" dirty="0"/>
          </a:p>
        </p:txBody>
      </p:sp>
      <p:sp>
        <p:nvSpPr>
          <p:cNvPr id="9" name="Text 6"/>
          <p:cNvSpPr txBox="1"/>
          <p:nvPr/>
        </p:nvSpPr>
        <p:spPr>
          <a:xfrm>
            <a:off x="1097280" y="3044952"/>
            <a:ext cx="4754880" cy="320040"/>
          </a:xfrm>
          <a:prstGeom prst="rect">
            <a:avLst/>
          </a:prstGeom>
          <a:noFill/>
          <a:ln/>
        </p:spPr>
        <p:txBody>
          <a:bodyPr wrap="square" lIns="0" tIns="0" rIns="0" bIns="0" rtlCol="0" anchor="t"/>
          <a:lstStyle/>
          <a:p>
            <a:pPr indent="0" marL="0">
              <a:buNone/>
            </a:pPr>
            <a:r>
              <a:rPr lang="en-US" sz="1500" b="1" dirty="0">
                <a:solidFill>
                  <a:srgbClr val="1D2430"/>
                </a:solidFill>
              </a:rPr>
              <a:t>자기보고 측정</a:t>
            </a:r>
            <a:endParaRPr lang="en-US" sz="1500" dirty="0"/>
          </a:p>
        </p:txBody>
      </p:sp>
      <p:sp>
        <p:nvSpPr>
          <p:cNvPr id="10" name="Text 7"/>
          <p:cNvSpPr txBox="1"/>
          <p:nvPr/>
        </p:nvSpPr>
        <p:spPr>
          <a:xfrm>
            <a:off x="1097280" y="3383280"/>
            <a:ext cx="4754880" cy="320040"/>
          </a:xfrm>
          <a:prstGeom prst="rect">
            <a:avLst/>
          </a:prstGeom>
          <a:noFill/>
          <a:ln/>
        </p:spPr>
        <p:txBody>
          <a:bodyPr wrap="square" lIns="0" tIns="0" rIns="0" bIns="0" rtlCol="0" anchor="t"/>
          <a:lstStyle/>
          <a:p>
            <a:pPr indent="0" marL="0">
              <a:buNone/>
            </a:pPr>
            <a:r>
              <a:rPr lang="en-US" sz="1300" dirty="0">
                <a:solidFill>
                  <a:srgbClr val="5B6472"/>
                </a:solidFill>
              </a:rPr>
              <a:t>PHQ-9 기준 충족은 임상 진단이 아님</a:t>
            </a:r>
            <a:endParaRPr lang="en-US" sz="1300" dirty="0"/>
          </a:p>
        </p:txBody>
      </p:sp>
      <p:sp>
        <p:nvSpPr>
          <p:cNvPr id="11" name="Text 8"/>
          <p:cNvSpPr txBox="1"/>
          <p:nvPr/>
        </p:nvSpPr>
        <p:spPr>
          <a:xfrm>
            <a:off x="548640" y="3931920"/>
            <a:ext cx="384048" cy="384048"/>
          </a:xfrm>
          <a:prstGeom prst="ellipse">
            <a:avLst/>
          </a:prstGeom>
          <a:solidFill>
            <a:srgbClr val="F2B04C"/>
          </a:solidFill>
          <a:ln>
            <a:solidFill>
              <a:srgbClr val="F2B04C"/>
            </a:solidFill>
          </a:ln>
        </p:spPr>
        <p:txBody>
          <a:bodyPr wrap="square" lIns="0" tIns="0" rIns="0" bIns="0" rtlCol="0" anchor="ctr"/>
          <a:lstStyle/>
          <a:p>
            <a:pPr algn="ctr" indent="0" marL="0">
              <a:buNone/>
            </a:pPr>
            <a:r>
              <a:rPr lang="en-US" sz="1400" b="1" dirty="0">
                <a:solidFill>
                  <a:srgbClr val="1D2430"/>
                </a:solidFill>
              </a:rPr>
              <a:t>3</a:t>
            </a:r>
            <a:endParaRPr lang="en-US" sz="1400" dirty="0"/>
          </a:p>
        </p:txBody>
      </p:sp>
      <p:sp>
        <p:nvSpPr>
          <p:cNvPr id="12" name="Text 9"/>
          <p:cNvSpPr txBox="1"/>
          <p:nvPr/>
        </p:nvSpPr>
        <p:spPr>
          <a:xfrm>
            <a:off x="1097280" y="3913632"/>
            <a:ext cx="4754880" cy="320040"/>
          </a:xfrm>
          <a:prstGeom prst="rect">
            <a:avLst/>
          </a:prstGeom>
          <a:noFill/>
          <a:ln/>
        </p:spPr>
        <p:txBody>
          <a:bodyPr wrap="square" lIns="0" tIns="0" rIns="0" bIns="0" rtlCol="0" anchor="t"/>
          <a:lstStyle/>
          <a:p>
            <a:pPr indent="0" marL="0">
              <a:buNone/>
            </a:pPr>
            <a:r>
              <a:rPr lang="en-US" sz="1500" b="1" dirty="0">
                <a:solidFill>
                  <a:srgbClr val="1D2430"/>
                </a:solidFill>
              </a:rPr>
              <a:t>측정되지 않은 요인</a:t>
            </a:r>
            <a:endParaRPr lang="en-US" sz="1500" dirty="0"/>
          </a:p>
        </p:txBody>
      </p:sp>
      <p:sp>
        <p:nvSpPr>
          <p:cNvPr id="13" name="Text 10"/>
          <p:cNvSpPr txBox="1"/>
          <p:nvPr/>
        </p:nvSpPr>
        <p:spPr>
          <a:xfrm>
            <a:off x="1097280" y="4251960"/>
            <a:ext cx="4754880" cy="320040"/>
          </a:xfrm>
          <a:prstGeom prst="rect">
            <a:avLst/>
          </a:prstGeom>
          <a:noFill/>
          <a:ln/>
        </p:spPr>
        <p:txBody>
          <a:bodyPr wrap="square" lIns="0" tIns="0" rIns="0" bIns="0" rtlCol="0" anchor="t"/>
          <a:lstStyle/>
          <a:p>
            <a:pPr indent="0" marL="0">
              <a:buNone/>
            </a:pPr>
            <a:r>
              <a:rPr lang="en-US" sz="1300" dirty="0">
                <a:solidFill>
                  <a:srgbClr val="5B6472"/>
                </a:solidFill>
              </a:rPr>
              <a:t>좌식행동 문항 없음, 식생활은 아침식사로 대리</a:t>
            </a:r>
            <a:endParaRPr lang="en-US" sz="1300" dirty="0"/>
          </a:p>
        </p:txBody>
      </p:sp>
      <p:sp>
        <p:nvSpPr>
          <p:cNvPr id="14" name="Text 11"/>
          <p:cNvSpPr txBox="1"/>
          <p:nvPr/>
        </p:nvSpPr>
        <p:spPr>
          <a:xfrm>
            <a:off x="548640" y="4800600"/>
            <a:ext cx="384048" cy="384048"/>
          </a:xfrm>
          <a:prstGeom prst="ellipse">
            <a:avLst/>
          </a:prstGeom>
          <a:solidFill>
            <a:srgbClr val="F2B04C"/>
          </a:solidFill>
          <a:ln>
            <a:solidFill>
              <a:srgbClr val="F2B04C"/>
            </a:solidFill>
          </a:ln>
        </p:spPr>
        <p:txBody>
          <a:bodyPr wrap="square" lIns="0" tIns="0" rIns="0" bIns="0" rtlCol="0" anchor="ctr"/>
          <a:lstStyle/>
          <a:p>
            <a:pPr algn="ctr" indent="0" marL="0">
              <a:buNone/>
            </a:pPr>
            <a:r>
              <a:rPr lang="en-US" sz="1400" b="1" dirty="0">
                <a:solidFill>
                  <a:srgbClr val="1D2430"/>
                </a:solidFill>
              </a:rPr>
              <a:t>4</a:t>
            </a:r>
            <a:endParaRPr lang="en-US" sz="1400" dirty="0"/>
          </a:p>
        </p:txBody>
      </p:sp>
      <p:sp>
        <p:nvSpPr>
          <p:cNvPr id="15" name="Text 12"/>
          <p:cNvSpPr txBox="1"/>
          <p:nvPr/>
        </p:nvSpPr>
        <p:spPr>
          <a:xfrm>
            <a:off x="1097280" y="4782312"/>
            <a:ext cx="4754880" cy="320040"/>
          </a:xfrm>
          <a:prstGeom prst="rect">
            <a:avLst/>
          </a:prstGeom>
          <a:noFill/>
          <a:ln/>
        </p:spPr>
        <p:txBody>
          <a:bodyPr wrap="square" lIns="0" tIns="0" rIns="0" bIns="0" rtlCol="0" anchor="t"/>
          <a:lstStyle/>
          <a:p>
            <a:pPr indent="0" marL="0">
              <a:buNone/>
            </a:pPr>
            <a:r>
              <a:rPr lang="en-US" sz="1500" b="1" dirty="0">
                <a:solidFill>
                  <a:srgbClr val="1D2430"/>
                </a:solidFill>
              </a:rPr>
              <a:t>청년층 낮은 성능</a:t>
            </a:r>
            <a:endParaRPr lang="en-US" sz="1500" dirty="0"/>
          </a:p>
        </p:txBody>
      </p:sp>
      <p:sp>
        <p:nvSpPr>
          <p:cNvPr id="16" name="Text 13"/>
          <p:cNvSpPr txBox="1"/>
          <p:nvPr/>
        </p:nvSpPr>
        <p:spPr>
          <a:xfrm>
            <a:off x="1097280" y="5120640"/>
            <a:ext cx="4754880" cy="320040"/>
          </a:xfrm>
          <a:prstGeom prst="rect">
            <a:avLst/>
          </a:prstGeom>
          <a:noFill/>
          <a:ln/>
        </p:spPr>
        <p:txBody>
          <a:bodyPr wrap="square" lIns="0" tIns="0" rIns="0" bIns="0" rtlCol="0" anchor="t"/>
          <a:lstStyle/>
          <a:p>
            <a:pPr indent="0" marL="0">
              <a:buNone/>
            </a:pPr>
            <a:r>
              <a:rPr lang="en-US" sz="1300" dirty="0">
                <a:solidFill>
                  <a:srgbClr val="5B6472"/>
                </a:solidFill>
              </a:rPr>
              <a:t>AP가 가장 낮아 조사 밖 요인의 영향 가능</a:t>
            </a:r>
            <a:endParaRPr lang="en-US" sz="1300" dirty="0"/>
          </a:p>
        </p:txBody>
      </p:sp>
      <p:sp>
        <p:nvSpPr>
          <p:cNvPr id="17" name="Shape 14"/>
          <p:cNvSpPr/>
          <p:nvPr/>
        </p:nvSpPr>
        <p:spPr>
          <a:xfrm>
            <a:off x="6263640" y="1737360"/>
            <a:ext cx="5376672" cy="3886200"/>
          </a:xfrm>
          <a:prstGeom prst="roundRect">
            <a:avLst>
              <a:gd name="adj" fmla="val 2353"/>
            </a:avLst>
          </a:prstGeom>
          <a:solidFill>
            <a:srgbClr val="F3F5F8"/>
          </a:solidFill>
          <a:ln w="9525">
            <a:solidFill>
              <a:srgbClr val="F3F5F8"/>
            </a:solidFill>
            <a:prstDash val="solid"/>
          </a:ln>
        </p:spPr>
      </p:sp>
      <p:sp>
        <p:nvSpPr>
          <p:cNvPr id="18" name="Text 15"/>
          <p:cNvSpPr txBox="1"/>
          <p:nvPr/>
        </p:nvSpPr>
        <p:spPr>
          <a:xfrm>
            <a:off x="6492240" y="1874520"/>
            <a:ext cx="2743200" cy="320040"/>
          </a:xfrm>
          <a:prstGeom prst="rect">
            <a:avLst/>
          </a:prstGeom>
          <a:noFill/>
          <a:ln/>
        </p:spPr>
        <p:txBody>
          <a:bodyPr wrap="square" lIns="0" tIns="0" rIns="0" bIns="0" rtlCol="0" anchor="t"/>
          <a:lstStyle/>
          <a:p>
            <a:pPr indent="0" marL="0">
              <a:buNone/>
            </a:pPr>
            <a:r>
              <a:rPr lang="en-US" sz="1600" b="1" dirty="0">
                <a:solidFill>
                  <a:srgbClr val="1D2430"/>
                </a:solidFill>
              </a:rPr>
              <a:t>남은 일정</a:t>
            </a:r>
            <a:endParaRPr lang="en-US" sz="1600" dirty="0"/>
          </a:p>
        </p:txBody>
      </p:sp>
      <p:sp>
        <p:nvSpPr>
          <p:cNvPr id="19" name="Text 16"/>
          <p:cNvSpPr txBox="1"/>
          <p:nvPr/>
        </p:nvSpPr>
        <p:spPr>
          <a:xfrm>
            <a:off x="6492240" y="2377440"/>
            <a:ext cx="777240" cy="292608"/>
          </a:xfrm>
          <a:prstGeom prst="roundRect">
            <a:avLst>
              <a:gd name="adj" fmla="val 46875"/>
            </a:avLst>
          </a:prstGeom>
          <a:solidFill>
            <a:srgbClr val="DDF3E8"/>
          </a:solidFill>
          <a:ln>
            <a:solidFill>
              <a:srgbClr val="DDF3E8"/>
            </a:solidFill>
          </a:ln>
        </p:spPr>
        <p:txBody>
          <a:bodyPr wrap="square" lIns="0" tIns="0" rIns="0" bIns="0" rtlCol="0" anchor="ctr"/>
          <a:lstStyle/>
          <a:p>
            <a:pPr algn="ctr" indent="0" marL="0">
              <a:buNone/>
            </a:pPr>
            <a:r>
              <a:rPr lang="en-US" sz="1200" b="1" dirty="0">
                <a:solidFill>
                  <a:srgbClr val="1F8A5B"/>
                </a:solidFill>
              </a:rPr>
              <a:t>완료</a:t>
            </a:r>
            <a:endParaRPr lang="en-US" sz="1200" dirty="0"/>
          </a:p>
        </p:txBody>
      </p:sp>
      <p:sp>
        <p:nvSpPr>
          <p:cNvPr id="20" name="Text 17"/>
          <p:cNvSpPr txBox="1"/>
          <p:nvPr/>
        </p:nvSpPr>
        <p:spPr>
          <a:xfrm>
            <a:off x="7452360" y="2377440"/>
            <a:ext cx="4023360" cy="548640"/>
          </a:xfrm>
          <a:prstGeom prst="rect">
            <a:avLst/>
          </a:prstGeom>
          <a:noFill/>
          <a:ln/>
        </p:spPr>
        <p:txBody>
          <a:bodyPr wrap="square" lIns="0" tIns="0" rIns="0" bIns="0" rtlCol="0" anchor="t"/>
          <a:lstStyle/>
          <a:p>
            <a:pPr indent="0" marL="0">
              <a:buNone/>
            </a:pPr>
            <a:r>
              <a:rPr lang="en-US" sz="1400" dirty="0">
                <a:solidFill>
                  <a:srgbClr val="1D2430"/>
                </a:solidFill>
              </a:rPr>
              <a:t>분석 v2.1 · 논문 초안 v2.1(42쪽, 보고 지침 대응표)</a:t>
            </a:r>
            <a:endParaRPr lang="en-US" sz="1400" dirty="0"/>
          </a:p>
        </p:txBody>
      </p:sp>
      <p:sp>
        <p:nvSpPr>
          <p:cNvPr id="21" name="Text 18"/>
          <p:cNvSpPr txBox="1"/>
          <p:nvPr/>
        </p:nvSpPr>
        <p:spPr>
          <a:xfrm>
            <a:off x="6492240" y="3154680"/>
            <a:ext cx="777240" cy="292608"/>
          </a:xfrm>
          <a:prstGeom prst="roundRect">
            <a:avLst>
              <a:gd name="adj" fmla="val 46875"/>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5B6472"/>
                </a:solidFill>
              </a:rPr>
              <a:t>다음</a:t>
            </a:r>
            <a:endParaRPr lang="en-US" sz="1200" dirty="0"/>
          </a:p>
        </p:txBody>
      </p:sp>
      <p:sp>
        <p:nvSpPr>
          <p:cNvPr id="22" name="Text 19"/>
          <p:cNvSpPr txBox="1"/>
          <p:nvPr/>
        </p:nvSpPr>
        <p:spPr>
          <a:xfrm>
            <a:off x="7452360" y="3154680"/>
            <a:ext cx="4023360" cy="548640"/>
          </a:xfrm>
          <a:prstGeom prst="rect">
            <a:avLst/>
          </a:prstGeom>
          <a:noFill/>
          <a:ln/>
        </p:spPr>
        <p:txBody>
          <a:bodyPr wrap="square" lIns="0" tIns="0" rIns="0" bIns="0" rtlCol="0" anchor="t"/>
          <a:lstStyle/>
          <a:p>
            <a:pPr indent="0" marL="0">
              <a:buNone/>
            </a:pPr>
            <a:r>
              <a:rPr lang="en-US" sz="1400" dirty="0">
                <a:solidFill>
                  <a:srgbClr val="1D2430"/>
                </a:solidFill>
              </a:rPr>
              <a:t>중간 프로포절 피드백을 분석·원고에 반영</a:t>
            </a:r>
            <a:endParaRPr lang="en-US" sz="1400" dirty="0"/>
          </a:p>
        </p:txBody>
      </p:sp>
      <p:sp>
        <p:nvSpPr>
          <p:cNvPr id="23" name="Text 20"/>
          <p:cNvSpPr txBox="1"/>
          <p:nvPr/>
        </p:nvSpPr>
        <p:spPr>
          <a:xfrm>
            <a:off x="6492240" y="3931920"/>
            <a:ext cx="777240" cy="292608"/>
          </a:xfrm>
          <a:prstGeom prst="roundRect">
            <a:avLst>
              <a:gd name="adj" fmla="val 46875"/>
            </a:avLst>
          </a:prstGeom>
          <a:solidFill>
            <a:srgbClr val="FFFFFF"/>
          </a:solidFill>
          <a:ln>
            <a:solidFill>
              <a:srgbClr val="FFFFFF"/>
            </a:solidFill>
          </a:ln>
        </p:spPr>
        <p:txBody>
          <a:bodyPr wrap="square" lIns="0" tIns="0" rIns="0" bIns="0" rtlCol="0" anchor="ctr"/>
          <a:lstStyle/>
          <a:p>
            <a:pPr algn="ctr" indent="0" marL="0">
              <a:buNone/>
            </a:pPr>
            <a:r>
              <a:rPr lang="en-US" sz="1200" b="1" dirty="0">
                <a:solidFill>
                  <a:srgbClr val="5B6472"/>
                </a:solidFill>
              </a:rPr>
              <a:t>다음</a:t>
            </a:r>
            <a:endParaRPr lang="en-US" sz="1200" dirty="0"/>
          </a:p>
        </p:txBody>
      </p:sp>
      <p:sp>
        <p:nvSpPr>
          <p:cNvPr id="24" name="Text 21"/>
          <p:cNvSpPr txBox="1"/>
          <p:nvPr/>
        </p:nvSpPr>
        <p:spPr>
          <a:xfrm>
            <a:off x="7452360" y="3931920"/>
            <a:ext cx="4023360" cy="548640"/>
          </a:xfrm>
          <a:prstGeom prst="rect">
            <a:avLst/>
          </a:prstGeom>
          <a:noFill/>
          <a:ln/>
        </p:spPr>
        <p:txBody>
          <a:bodyPr wrap="square" lIns="0" tIns="0" rIns="0" bIns="0" rtlCol="0" anchor="t"/>
          <a:lstStyle/>
          <a:p>
            <a:pPr indent="0" marL="0">
              <a:buNone/>
            </a:pPr>
            <a:r>
              <a:rPr lang="en-US" sz="1400" dirty="0">
                <a:solidFill>
                  <a:srgbClr val="1D2430"/>
                </a:solidFill>
              </a:rPr>
              <a:t>저자 기재 항목(IRB 심의면제·코드 공개) 확정</a:t>
            </a:r>
            <a:endParaRPr lang="en-US" sz="1400" dirty="0"/>
          </a:p>
        </p:txBody>
      </p:sp>
      <p:sp>
        <p:nvSpPr>
          <p:cNvPr id="25" name="Text 22"/>
          <p:cNvSpPr txBox="1"/>
          <p:nvPr/>
        </p:nvSpPr>
        <p:spPr>
          <a:xfrm>
            <a:off x="6492240" y="4709160"/>
            <a:ext cx="777240" cy="292608"/>
          </a:xfrm>
          <a:prstGeom prst="roundRect">
            <a:avLst>
              <a:gd name="adj" fmla="val 46875"/>
            </a:avLst>
          </a:prstGeom>
          <a:solidFill>
            <a:srgbClr val="FDEBC8"/>
          </a:solidFill>
          <a:ln>
            <a:solidFill>
              <a:srgbClr val="FDEBC8"/>
            </a:solidFill>
          </a:ln>
        </p:spPr>
        <p:txBody>
          <a:bodyPr wrap="square" lIns="0" tIns="0" rIns="0" bIns="0" rtlCol="0" anchor="ctr"/>
          <a:lstStyle/>
          <a:p>
            <a:pPr algn="ctr" indent="0" marL="0">
              <a:buNone/>
            </a:pPr>
            <a:r>
              <a:rPr lang="en-US" sz="1200" b="1" dirty="0">
                <a:solidFill>
                  <a:srgbClr val="A86400"/>
                </a:solidFill>
              </a:rPr>
              <a:t>최종</a:t>
            </a:r>
            <a:endParaRPr lang="en-US" sz="1200" dirty="0"/>
          </a:p>
        </p:txBody>
      </p:sp>
      <p:sp>
        <p:nvSpPr>
          <p:cNvPr id="26" name="Text 23"/>
          <p:cNvSpPr txBox="1"/>
          <p:nvPr/>
        </p:nvSpPr>
        <p:spPr>
          <a:xfrm>
            <a:off x="7452360" y="4709160"/>
            <a:ext cx="4023360" cy="548640"/>
          </a:xfrm>
          <a:prstGeom prst="rect">
            <a:avLst/>
          </a:prstGeom>
          <a:noFill/>
          <a:ln/>
        </p:spPr>
        <p:txBody>
          <a:bodyPr wrap="square" lIns="0" tIns="0" rIns="0" bIns="0" rtlCol="0" anchor="t"/>
          <a:lstStyle/>
          <a:p>
            <a:pPr indent="0" marL="0">
              <a:buNone/>
            </a:pPr>
            <a:r>
              <a:rPr lang="en-US" sz="1400" dirty="0">
                <a:solidFill>
                  <a:srgbClr val="1D2430"/>
                </a:solidFill>
              </a:rPr>
              <a:t>논문 최종본 제출과 최종 발표</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685800"/>
            <a:ext cx="5486400" cy="365760"/>
          </a:xfrm>
          <a:prstGeom prst="rect">
            <a:avLst/>
          </a:prstGeom>
          <a:noFill/>
          <a:ln/>
        </p:spPr>
        <p:txBody>
          <a:bodyPr wrap="square" lIns="0" tIns="0" rIns="0" bIns="0" rtlCol="0" anchor="t"/>
          <a:lstStyle/>
          <a:p>
            <a:pPr indent="0" marL="0">
              <a:buNone/>
            </a:pPr>
            <a:r>
              <a:rPr lang="en-US" sz="1500" dirty="0">
                <a:solidFill>
                  <a:srgbClr val="A9B2C0"/>
                </a:solidFill>
              </a:rPr>
              <a:t>정리</a:t>
            </a:r>
            <a:endParaRPr lang="en-US" sz="1500" dirty="0"/>
          </a:p>
        </p:txBody>
      </p:sp>
      <p:sp>
        <p:nvSpPr>
          <p:cNvPr id="4" name="Text 1"/>
          <p:cNvSpPr txBox="1"/>
          <p:nvPr/>
        </p:nvSpPr>
        <p:spPr>
          <a:xfrm>
            <a:off x="548640" y="1143000"/>
            <a:ext cx="11094415" cy="822960"/>
          </a:xfrm>
          <a:prstGeom prst="rect">
            <a:avLst/>
          </a:prstGeom>
          <a:noFill/>
          <a:ln/>
        </p:spPr>
        <p:txBody>
          <a:bodyPr wrap="square" lIns="0" tIns="0" rIns="0" bIns="0" rtlCol="0" anchor="ctr"/>
          <a:lstStyle/>
          <a:p>
            <a:pPr indent="0" marL="0">
              <a:buNone/>
            </a:pPr>
            <a:r>
              <a:rPr lang="en-US" sz="3200" b="1" dirty="0">
                <a:solidFill>
                  <a:srgbClr val="FFFFFF"/>
                </a:solidFill>
              </a:rPr>
              <a:t>우울 증상은 여러 영역이 함께 관련되는 복합 현상이다</a:t>
            </a:r>
            <a:endParaRPr lang="en-US" sz="3200" dirty="0"/>
          </a:p>
        </p:txBody>
      </p:sp>
      <p:sp>
        <p:nvSpPr>
          <p:cNvPr id="5" name="Shape 2"/>
          <p:cNvSpPr/>
          <p:nvPr/>
        </p:nvSpPr>
        <p:spPr>
          <a:xfrm>
            <a:off x="548640" y="2423160"/>
            <a:ext cx="11094415" cy="777240"/>
          </a:xfrm>
          <a:prstGeom prst="roundRect">
            <a:avLst>
              <a:gd name="adj" fmla="val 11765"/>
            </a:avLst>
          </a:prstGeom>
          <a:solidFill>
            <a:srgbClr val="2A3342"/>
          </a:solidFill>
          <a:ln w="9525">
            <a:solidFill>
              <a:srgbClr val="2A3342"/>
            </a:solidFill>
            <a:prstDash val="solid"/>
          </a:ln>
        </p:spPr>
      </p:sp>
      <p:sp>
        <p:nvSpPr>
          <p:cNvPr id="6" name="Text 3"/>
          <p:cNvSpPr txBox="1"/>
          <p:nvPr/>
        </p:nvSpPr>
        <p:spPr>
          <a:xfrm>
            <a:off x="822960" y="2615184"/>
            <a:ext cx="384048" cy="384048"/>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400" b="1" dirty="0">
                <a:solidFill>
                  <a:srgbClr val="1D2430"/>
                </a:solidFill>
              </a:rPr>
              <a:t>1</a:t>
            </a:r>
            <a:endParaRPr lang="en-US" sz="1400" dirty="0"/>
          </a:p>
        </p:txBody>
      </p:sp>
      <p:sp>
        <p:nvSpPr>
          <p:cNvPr id="7" name="Text 4"/>
          <p:cNvSpPr txBox="1"/>
          <p:nvPr/>
        </p:nvSpPr>
        <p:spPr>
          <a:xfrm>
            <a:off x="1417320" y="2423160"/>
            <a:ext cx="1371600" cy="777240"/>
          </a:xfrm>
          <a:prstGeom prst="rect">
            <a:avLst/>
          </a:prstGeom>
          <a:noFill/>
          <a:ln/>
        </p:spPr>
        <p:txBody>
          <a:bodyPr wrap="square" lIns="0" tIns="0" rIns="0" bIns="0" rtlCol="0" anchor="ctr"/>
          <a:lstStyle/>
          <a:p>
            <a:pPr indent="0" marL="0">
              <a:buNone/>
            </a:pPr>
            <a:r>
              <a:rPr lang="en-US" sz="1500" b="1" dirty="0">
                <a:solidFill>
                  <a:srgbClr val="5BC596"/>
                </a:solidFill>
              </a:rPr>
              <a:t>영역</a:t>
            </a:r>
            <a:endParaRPr lang="en-US" sz="1500" dirty="0"/>
          </a:p>
        </p:txBody>
      </p:sp>
      <p:sp>
        <p:nvSpPr>
          <p:cNvPr id="8" name="Text 5"/>
          <p:cNvSpPr txBox="1"/>
          <p:nvPr/>
        </p:nvSpPr>
        <p:spPr>
          <a:xfrm>
            <a:off x="2834640" y="2423160"/>
            <a:ext cx="8595360" cy="777240"/>
          </a:xfrm>
          <a:prstGeom prst="rect">
            <a:avLst/>
          </a:prstGeom>
          <a:noFill/>
          <a:ln/>
        </p:spPr>
        <p:txBody>
          <a:bodyPr wrap="square" lIns="0" tIns="0" rIns="0" bIns="0" rtlCol="0" anchor="ctr"/>
          <a:lstStyle/>
          <a:p>
            <a:pPr indent="0" marL="0">
              <a:buNone/>
            </a:pPr>
            <a:r>
              <a:rPr lang="en-US" sz="1700" dirty="0">
                <a:solidFill>
                  <a:srgbClr val="FFFFFF"/>
                </a:solidFill>
              </a:rPr>
              <a:t>모든 영역이 고유한 정보를 더하며, 신체건강의 기여가 가장 크다</a:t>
            </a:r>
            <a:endParaRPr lang="en-US" sz="1700" dirty="0"/>
          </a:p>
        </p:txBody>
      </p:sp>
      <p:sp>
        <p:nvSpPr>
          <p:cNvPr id="9" name="Shape 6"/>
          <p:cNvSpPr/>
          <p:nvPr/>
        </p:nvSpPr>
        <p:spPr>
          <a:xfrm>
            <a:off x="548640" y="3383280"/>
            <a:ext cx="11094415" cy="777240"/>
          </a:xfrm>
          <a:prstGeom prst="roundRect">
            <a:avLst>
              <a:gd name="adj" fmla="val 11765"/>
            </a:avLst>
          </a:prstGeom>
          <a:solidFill>
            <a:srgbClr val="2A3342"/>
          </a:solidFill>
          <a:ln w="9525">
            <a:solidFill>
              <a:srgbClr val="2A3342"/>
            </a:solidFill>
            <a:prstDash val="solid"/>
          </a:ln>
        </p:spPr>
      </p:sp>
      <p:sp>
        <p:nvSpPr>
          <p:cNvPr id="10" name="Text 7"/>
          <p:cNvSpPr txBox="1"/>
          <p:nvPr/>
        </p:nvSpPr>
        <p:spPr>
          <a:xfrm>
            <a:off x="822960" y="3575304"/>
            <a:ext cx="384048" cy="384048"/>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400" b="1" dirty="0">
                <a:solidFill>
                  <a:srgbClr val="1D2430"/>
                </a:solidFill>
              </a:rPr>
              <a:t>2</a:t>
            </a:r>
            <a:endParaRPr lang="en-US" sz="1400" dirty="0"/>
          </a:p>
        </p:txBody>
      </p:sp>
      <p:sp>
        <p:nvSpPr>
          <p:cNvPr id="11" name="Text 8"/>
          <p:cNvSpPr txBox="1"/>
          <p:nvPr/>
        </p:nvSpPr>
        <p:spPr>
          <a:xfrm>
            <a:off x="1417320" y="3383280"/>
            <a:ext cx="1371600" cy="777240"/>
          </a:xfrm>
          <a:prstGeom prst="rect">
            <a:avLst/>
          </a:prstGeom>
          <a:noFill/>
          <a:ln/>
        </p:spPr>
        <p:txBody>
          <a:bodyPr wrap="square" lIns="0" tIns="0" rIns="0" bIns="0" rtlCol="0" anchor="ctr"/>
          <a:lstStyle/>
          <a:p>
            <a:pPr indent="0" marL="0">
              <a:buNone/>
            </a:pPr>
            <a:r>
              <a:rPr lang="en-US" sz="1500" b="1" dirty="0">
                <a:solidFill>
                  <a:srgbClr val="5BC596"/>
                </a:solidFill>
              </a:rPr>
              <a:t>요인</a:t>
            </a:r>
            <a:endParaRPr lang="en-US" sz="1500" dirty="0"/>
          </a:p>
        </p:txBody>
      </p:sp>
      <p:sp>
        <p:nvSpPr>
          <p:cNvPr id="12" name="Text 9"/>
          <p:cNvSpPr txBox="1"/>
          <p:nvPr/>
        </p:nvSpPr>
        <p:spPr>
          <a:xfrm>
            <a:off x="2834640" y="3383280"/>
            <a:ext cx="8595360" cy="777240"/>
          </a:xfrm>
          <a:prstGeom prst="rect">
            <a:avLst/>
          </a:prstGeom>
          <a:noFill/>
          <a:ln/>
        </p:spPr>
        <p:txBody>
          <a:bodyPr wrap="square" lIns="0" tIns="0" rIns="0" bIns="0" rtlCol="0" anchor="ctr"/>
          <a:lstStyle/>
          <a:p>
            <a:pPr indent="0" marL="0">
              <a:buNone/>
            </a:pPr>
            <a:r>
              <a:rPr lang="en-US" sz="1700" dirty="0">
                <a:solidFill>
                  <a:srgbClr val="FFFFFF"/>
                </a:solidFill>
              </a:rPr>
              <a:t>바꿀 수 있는 요인: 식품 불안정·구강 문제·미충족 의료, 사회적 연결·흡연·아침 결식</a:t>
            </a:r>
            <a:endParaRPr lang="en-US" sz="1700" dirty="0"/>
          </a:p>
        </p:txBody>
      </p:sp>
      <p:sp>
        <p:nvSpPr>
          <p:cNvPr id="13" name="Shape 10"/>
          <p:cNvSpPr/>
          <p:nvPr/>
        </p:nvSpPr>
        <p:spPr>
          <a:xfrm>
            <a:off x="548640" y="4343400"/>
            <a:ext cx="11094415" cy="777240"/>
          </a:xfrm>
          <a:prstGeom prst="roundRect">
            <a:avLst>
              <a:gd name="adj" fmla="val 11765"/>
            </a:avLst>
          </a:prstGeom>
          <a:solidFill>
            <a:srgbClr val="2A3342"/>
          </a:solidFill>
          <a:ln w="9525">
            <a:solidFill>
              <a:srgbClr val="2A3342"/>
            </a:solidFill>
            <a:prstDash val="solid"/>
          </a:ln>
        </p:spPr>
      </p:sp>
      <p:sp>
        <p:nvSpPr>
          <p:cNvPr id="14" name="Text 11"/>
          <p:cNvSpPr txBox="1"/>
          <p:nvPr/>
        </p:nvSpPr>
        <p:spPr>
          <a:xfrm>
            <a:off x="822960" y="4535424"/>
            <a:ext cx="384048" cy="384048"/>
          </a:xfrm>
          <a:prstGeom prst="ellipse">
            <a:avLst/>
          </a:prstGeom>
          <a:solidFill>
            <a:srgbClr val="FFFFFF"/>
          </a:solidFill>
          <a:ln>
            <a:solidFill>
              <a:srgbClr val="FFFFFF"/>
            </a:solidFill>
          </a:ln>
        </p:spPr>
        <p:txBody>
          <a:bodyPr wrap="square" lIns="0" tIns="0" rIns="0" bIns="0" rtlCol="0" anchor="ctr"/>
          <a:lstStyle/>
          <a:p>
            <a:pPr algn="ctr" indent="0" marL="0">
              <a:buNone/>
            </a:pPr>
            <a:r>
              <a:rPr lang="en-US" sz="1400" b="1" dirty="0">
                <a:solidFill>
                  <a:srgbClr val="1D2430"/>
                </a:solidFill>
              </a:rPr>
              <a:t>3</a:t>
            </a:r>
            <a:endParaRPr lang="en-US" sz="1400" dirty="0"/>
          </a:p>
        </p:txBody>
      </p:sp>
      <p:sp>
        <p:nvSpPr>
          <p:cNvPr id="15" name="Text 12"/>
          <p:cNvSpPr txBox="1"/>
          <p:nvPr/>
        </p:nvSpPr>
        <p:spPr>
          <a:xfrm>
            <a:off x="1417320" y="4343400"/>
            <a:ext cx="1371600" cy="777240"/>
          </a:xfrm>
          <a:prstGeom prst="rect">
            <a:avLst/>
          </a:prstGeom>
          <a:noFill/>
          <a:ln/>
        </p:spPr>
        <p:txBody>
          <a:bodyPr wrap="square" lIns="0" tIns="0" rIns="0" bIns="0" rtlCol="0" anchor="ctr"/>
          <a:lstStyle/>
          <a:p>
            <a:pPr indent="0" marL="0">
              <a:buNone/>
            </a:pPr>
            <a:r>
              <a:rPr lang="en-US" sz="1500" b="1" dirty="0">
                <a:solidFill>
                  <a:srgbClr val="5BC596"/>
                </a:solidFill>
              </a:rPr>
              <a:t>생활요인</a:t>
            </a:r>
            <a:endParaRPr lang="en-US" sz="1500" dirty="0"/>
          </a:p>
        </p:txBody>
      </p:sp>
      <p:sp>
        <p:nvSpPr>
          <p:cNvPr id="16" name="Text 13"/>
          <p:cNvSpPr txBox="1"/>
          <p:nvPr/>
        </p:nvSpPr>
        <p:spPr>
          <a:xfrm>
            <a:off x="2834640" y="4343400"/>
            <a:ext cx="8595360" cy="777240"/>
          </a:xfrm>
          <a:prstGeom prst="rect">
            <a:avLst/>
          </a:prstGeom>
          <a:noFill/>
          <a:ln/>
        </p:spPr>
        <p:txBody>
          <a:bodyPr wrap="square" lIns="0" tIns="0" rIns="0" bIns="0" rtlCol="0" anchor="ctr"/>
          <a:lstStyle/>
          <a:p>
            <a:pPr indent="0" marL="0">
              <a:buNone/>
            </a:pPr>
            <a:r>
              <a:rPr lang="en-US" sz="1700" dirty="0">
                <a:solidFill>
                  <a:srgbClr val="FFFFFF"/>
                </a:solidFill>
              </a:rPr>
              <a:t>신체활동은 다른 생활습관과 함께 지킬수록 우울 증상 비율이 단계적으로 낮다</a:t>
            </a:r>
            <a:endParaRPr lang="en-US" sz="1700" dirty="0"/>
          </a:p>
        </p:txBody>
      </p:sp>
      <p:sp>
        <p:nvSpPr>
          <p:cNvPr id="17" name="Text 14"/>
          <p:cNvSpPr txBox="1"/>
          <p:nvPr/>
        </p:nvSpPr>
        <p:spPr>
          <a:xfrm>
            <a:off x="548640" y="5532120"/>
            <a:ext cx="3657600" cy="457200"/>
          </a:xfrm>
          <a:prstGeom prst="rect">
            <a:avLst/>
          </a:prstGeom>
          <a:noFill/>
          <a:ln/>
        </p:spPr>
        <p:txBody>
          <a:bodyPr wrap="square" lIns="0" tIns="0" rIns="0" bIns="0" rtlCol="0" anchor="t"/>
          <a:lstStyle/>
          <a:p>
            <a:pPr indent="0" marL="0">
              <a:buNone/>
            </a:pPr>
            <a:r>
              <a:rPr lang="en-US" sz="2200" b="1" dirty="0">
                <a:solidFill>
                  <a:srgbClr val="F2B04C"/>
                </a:solidFill>
              </a:rPr>
              <a:t>질의응답</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600" b="1" dirty="0">
                <a:solidFill>
                  <a:srgbClr val="1D2430"/>
                </a:solidFill>
              </a:rPr>
              <a:t>A1. 영역별 변수 구성과 수정 유형 — 바꿀 수 있는 요인의 판정 기준</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914400"/>
        </p:xfrm>
        <a:graphic>
          <a:graphicData uri="http://schemas.openxmlformats.org/drawingml/2006/table">
            <a:tbl>
              <a:tblPr/>
              <a:tblGrid>
                <a:gridCol w="1874520"/>
                <a:gridCol w="685800"/>
                <a:gridCol w="1280160"/>
                <a:gridCol w="1737360"/>
                <a:gridCol w="1645920"/>
              </a:tblGrid>
              <a:tr h="429768">
                <a:tc>
                  <a:txBody>
                    <a:bodyPr/>
                    <a:lstStyle/>
                    <a:p>
                      <a:pPr algn="l" indent="0" marL="0">
                        <a:buNone/>
                      </a:pPr>
                      <a:r>
                        <a:rPr lang="en-US" sz="1400" b="1" dirty="0">
                          <a:solidFill>
                            <a:srgbClr val="5B6472"/>
                          </a:solidFill>
                          <a:latin typeface="맑은 고딕" pitchFamily="34" charset="0"/>
                          <a:ea typeface="맑은 고딕" pitchFamily="34" charset="-122"/>
                          <a:cs typeface="맑은 고딕" pitchFamily="34" charset="-120"/>
                        </a:rPr>
                        <a:t>영역</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변수</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A 개인 행동</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B 서비스·정책·환경</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C 바꿀 수 없음</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인구</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경제</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신체건강</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9</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6</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3</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건강행태</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사회관계</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6</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생활환경</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8</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3</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의료접근·건강정보</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8</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3</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29768">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심리·증상근접</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13</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3</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6</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bl>
          </a:graphicData>
        </a:graphic>
      </p:graphicFrame>
      <p:sp>
        <p:nvSpPr>
          <p:cNvPr id="5" name="Shape 1"/>
          <p:cNvSpPr/>
          <p:nvPr/>
        </p:nvSpPr>
        <p:spPr>
          <a:xfrm>
            <a:off x="8001000" y="1737360"/>
            <a:ext cx="3639312" cy="1161288"/>
          </a:xfrm>
          <a:prstGeom prst="roundRect">
            <a:avLst>
              <a:gd name="adj" fmla="val 7874"/>
            </a:avLst>
          </a:prstGeom>
          <a:solidFill>
            <a:srgbClr val="DDF3E8"/>
          </a:solidFill>
          <a:ln w="9525">
            <a:solidFill>
              <a:srgbClr val="DDF3E8"/>
            </a:solidFill>
            <a:prstDash val="solid"/>
          </a:ln>
        </p:spPr>
      </p:sp>
      <p:sp>
        <p:nvSpPr>
          <p:cNvPr id="6" name="Text 2"/>
          <p:cNvSpPr txBox="1"/>
          <p:nvPr/>
        </p:nvSpPr>
        <p:spPr>
          <a:xfrm>
            <a:off x="8183880" y="1847088"/>
            <a:ext cx="3291840" cy="320040"/>
          </a:xfrm>
          <a:prstGeom prst="rect">
            <a:avLst/>
          </a:prstGeom>
          <a:noFill/>
          <a:ln/>
        </p:spPr>
        <p:txBody>
          <a:bodyPr wrap="square" lIns="0" tIns="0" rIns="0" bIns="0" rtlCol="0" anchor="t"/>
          <a:lstStyle/>
          <a:p>
            <a:pPr indent="0" marL="0">
              <a:buNone/>
            </a:pPr>
            <a:r>
              <a:rPr lang="en-US" sz="1400" b="1" dirty="0">
                <a:solidFill>
                  <a:srgbClr val="1F8A5B"/>
                </a:solidFill>
              </a:rPr>
              <a:t>A 개인 행동</a:t>
            </a:r>
            <a:endParaRPr lang="en-US" sz="1400" dirty="0"/>
          </a:p>
        </p:txBody>
      </p:sp>
      <p:sp>
        <p:nvSpPr>
          <p:cNvPr id="7" name="Text 3"/>
          <p:cNvSpPr txBox="1"/>
          <p:nvPr/>
        </p:nvSpPr>
        <p:spPr>
          <a:xfrm>
            <a:off x="8183880" y="2176272"/>
            <a:ext cx="3291840" cy="685800"/>
          </a:xfrm>
          <a:prstGeom prst="rect">
            <a:avLst/>
          </a:prstGeom>
          <a:noFill/>
          <a:ln/>
        </p:spPr>
        <p:txBody>
          <a:bodyPr wrap="square" lIns="0" tIns="0" rIns="0" bIns="0" rtlCol="0" anchor="t"/>
          <a:lstStyle/>
          <a:p>
            <a:pPr indent="0" marL="0">
              <a:buNone/>
            </a:pPr>
            <a:r>
              <a:rPr lang="en-US" sz="1200" dirty="0">
                <a:solidFill>
                  <a:srgbClr val="1D2430"/>
                </a:solidFill>
              </a:rPr>
              <a:t>신체활동, 흡연, 음주, 식생활, 칫솔질, 연락·사회활동, 검진·접종, 수면</a:t>
            </a:r>
            <a:endParaRPr lang="en-US" sz="1200" dirty="0"/>
          </a:p>
        </p:txBody>
      </p:sp>
      <p:sp>
        <p:nvSpPr>
          <p:cNvPr id="8" name="Shape 4"/>
          <p:cNvSpPr/>
          <p:nvPr/>
        </p:nvSpPr>
        <p:spPr>
          <a:xfrm>
            <a:off x="8001000" y="3035808"/>
            <a:ext cx="3639312" cy="1161288"/>
          </a:xfrm>
          <a:prstGeom prst="roundRect">
            <a:avLst>
              <a:gd name="adj" fmla="val 7874"/>
            </a:avLst>
          </a:prstGeom>
          <a:solidFill>
            <a:srgbClr val="E3ECFB"/>
          </a:solidFill>
          <a:ln w="9525">
            <a:solidFill>
              <a:srgbClr val="E3ECFB"/>
            </a:solidFill>
            <a:prstDash val="solid"/>
          </a:ln>
        </p:spPr>
      </p:sp>
      <p:sp>
        <p:nvSpPr>
          <p:cNvPr id="9" name="Text 5"/>
          <p:cNvSpPr txBox="1"/>
          <p:nvPr/>
        </p:nvSpPr>
        <p:spPr>
          <a:xfrm>
            <a:off x="8183880" y="3145536"/>
            <a:ext cx="3291840" cy="320040"/>
          </a:xfrm>
          <a:prstGeom prst="rect">
            <a:avLst/>
          </a:prstGeom>
          <a:noFill/>
          <a:ln/>
        </p:spPr>
        <p:txBody>
          <a:bodyPr wrap="square" lIns="0" tIns="0" rIns="0" bIns="0" rtlCol="0" anchor="t"/>
          <a:lstStyle/>
          <a:p>
            <a:pPr indent="0" marL="0">
              <a:buNone/>
            </a:pPr>
            <a:r>
              <a:rPr lang="en-US" sz="1400" b="1" dirty="0">
                <a:solidFill>
                  <a:srgbClr val="2F5FB3"/>
                </a:solidFill>
              </a:rPr>
              <a:t>B 서비스·정책·환경</a:t>
            </a:r>
            <a:endParaRPr lang="en-US" sz="1400" dirty="0"/>
          </a:p>
        </p:txBody>
      </p:sp>
      <p:sp>
        <p:nvSpPr>
          <p:cNvPr id="10" name="Text 6"/>
          <p:cNvSpPr txBox="1"/>
          <p:nvPr/>
        </p:nvSpPr>
        <p:spPr>
          <a:xfrm>
            <a:off x="8183880" y="3474720"/>
            <a:ext cx="3291840" cy="685800"/>
          </a:xfrm>
          <a:prstGeom prst="rect">
            <a:avLst/>
          </a:prstGeom>
          <a:noFill/>
          <a:ln/>
        </p:spPr>
        <p:txBody>
          <a:bodyPr wrap="square" lIns="0" tIns="0" rIns="0" bIns="0" rtlCol="0" anchor="t"/>
          <a:lstStyle/>
          <a:p>
            <a:pPr indent="0" marL="0">
              <a:buNone/>
            </a:pPr>
            <a:r>
              <a:rPr lang="en-US" sz="1200" dirty="0">
                <a:solidFill>
                  <a:srgbClr val="1D2430"/>
                </a:solidFill>
              </a:rPr>
              <a:t>소득·식품·경제활동, 체중·구강·낙상, 미충족 의료, 건강정보 이해, 동네 환경·이웃 신뢰</a:t>
            </a:r>
            <a:endParaRPr lang="en-US" sz="1200" dirty="0"/>
          </a:p>
        </p:txBody>
      </p:sp>
      <p:sp>
        <p:nvSpPr>
          <p:cNvPr id="11" name="Shape 7"/>
          <p:cNvSpPr/>
          <p:nvPr/>
        </p:nvSpPr>
        <p:spPr>
          <a:xfrm>
            <a:off x="8001000" y="4334256"/>
            <a:ext cx="3639312" cy="1161288"/>
          </a:xfrm>
          <a:prstGeom prst="roundRect">
            <a:avLst>
              <a:gd name="adj" fmla="val 7874"/>
            </a:avLst>
          </a:prstGeom>
          <a:solidFill>
            <a:srgbClr val="F3F5F8"/>
          </a:solidFill>
          <a:ln w="9525">
            <a:solidFill>
              <a:srgbClr val="F3F5F8"/>
            </a:solidFill>
            <a:prstDash val="solid"/>
          </a:ln>
        </p:spPr>
      </p:sp>
      <p:sp>
        <p:nvSpPr>
          <p:cNvPr id="12" name="Text 8"/>
          <p:cNvSpPr txBox="1"/>
          <p:nvPr/>
        </p:nvSpPr>
        <p:spPr>
          <a:xfrm>
            <a:off x="8183880" y="4443984"/>
            <a:ext cx="3291840" cy="320040"/>
          </a:xfrm>
          <a:prstGeom prst="rect">
            <a:avLst/>
          </a:prstGeom>
          <a:noFill/>
          <a:ln/>
        </p:spPr>
        <p:txBody>
          <a:bodyPr wrap="square" lIns="0" tIns="0" rIns="0" bIns="0" rtlCol="0" anchor="t"/>
          <a:lstStyle/>
          <a:p>
            <a:pPr indent="0" marL="0">
              <a:buNone/>
            </a:pPr>
            <a:r>
              <a:rPr lang="en-US" sz="1400" b="1" dirty="0">
                <a:solidFill>
                  <a:srgbClr val="5B6472"/>
                </a:solidFill>
              </a:rPr>
              <a:t>C 바꿀 수 없음</a:t>
            </a:r>
            <a:endParaRPr lang="en-US" sz="1400" dirty="0"/>
          </a:p>
        </p:txBody>
      </p:sp>
      <p:sp>
        <p:nvSpPr>
          <p:cNvPr id="13" name="Text 9"/>
          <p:cNvSpPr txBox="1"/>
          <p:nvPr/>
        </p:nvSpPr>
        <p:spPr>
          <a:xfrm>
            <a:off x="8183880" y="4773168"/>
            <a:ext cx="3291840" cy="685800"/>
          </a:xfrm>
          <a:prstGeom prst="rect">
            <a:avLst/>
          </a:prstGeom>
          <a:noFill/>
          <a:ln/>
        </p:spPr>
        <p:txBody>
          <a:bodyPr wrap="square" lIns="0" tIns="0" rIns="0" bIns="0" rtlCol="0" anchor="t"/>
          <a:lstStyle/>
          <a:p>
            <a:pPr indent="0" marL="0">
              <a:buNone/>
            </a:pPr>
            <a:r>
              <a:rPr lang="en-US" sz="1200" dirty="0">
                <a:solidFill>
                  <a:srgbClr val="1D2430"/>
                </a:solidFill>
              </a:rPr>
              <a:t>나이, 성별, 교육, 혼인, 세대유형, 만성질환 진단, 치매환자 가족, 지역·주택유형</a:t>
            </a:r>
            <a:endParaRPr lang="en-US" sz="1200" dirty="0"/>
          </a:p>
        </p:txBody>
      </p:sp>
      <p:sp>
        <p:nvSpPr>
          <p:cNvPr id="14" name="Text 10"/>
          <p:cNvSpPr txBox="1"/>
          <p:nvPr/>
        </p:nvSpPr>
        <p:spPr>
          <a:xfrm>
            <a:off x="548640" y="5806440"/>
            <a:ext cx="11094415" cy="274320"/>
          </a:xfrm>
          <a:prstGeom prst="rect">
            <a:avLst/>
          </a:prstGeom>
          <a:noFill/>
          <a:ln/>
        </p:spPr>
        <p:txBody>
          <a:bodyPr wrap="square" lIns="0" tIns="0" rIns="0" bIns="0" rtlCol="0" anchor="t"/>
          <a:lstStyle/>
          <a:p>
            <a:pPr indent="0" marL="0">
              <a:buNone/>
            </a:pPr>
            <a:r>
              <a:rPr lang="en-US" sz="1100" dirty="0">
                <a:solidFill>
                  <a:srgbClr val="6B7280"/>
                </a:solidFill>
              </a:rPr>
              <a:t>근거: 제6차 국민건강증진종합계획(HP2030) — 건강생활 실천 → A, 비만·손상·건강정보 이해·지역사회 자원 → B</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600" b="1" dirty="0">
                <a:solidFill>
                  <a:srgbClr val="1D2430"/>
                </a:solidFill>
              </a:rPr>
              <a:t>A2. 생활요인 선정 대응표 — 선행연구와 국가 계획의 생활 영역</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1645920"/>
                <a:gridCol w="2926080"/>
                <a:gridCol w="5059375"/>
                <a:gridCol w="1463040"/>
              </a:tblGrid>
              <a:tr h="457200">
                <a:tc>
                  <a:txBody>
                    <a:bodyPr/>
                    <a:lstStyle/>
                    <a:p>
                      <a:pPr algn="l" indent="0" marL="0">
                        <a:buNone/>
                      </a:pPr>
                      <a:r>
                        <a:rPr lang="en-US" sz="1400" b="1" dirty="0">
                          <a:solidFill>
                            <a:srgbClr val="5B6472"/>
                          </a:solidFill>
                          <a:latin typeface="맑은 고딕" pitchFamily="34" charset="0"/>
                          <a:ea typeface="맑은 고딕" pitchFamily="34" charset="-122"/>
                          <a:cs typeface="맑은 고딕" pitchFamily="34" charset="-120"/>
                        </a:rPr>
                        <a:t>생활 영역</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l" indent="0" marL="0">
                        <a:buNone/>
                      </a:pPr>
                      <a:r>
                        <a:rPr lang="en-US" sz="1400" b="1" dirty="0">
                          <a:solidFill>
                            <a:srgbClr val="5B6472"/>
                          </a:solidFill>
                          <a:latin typeface="맑은 고딕" pitchFamily="34" charset="0"/>
                          <a:ea typeface="맑은 고딕" pitchFamily="34" charset="-122"/>
                          <a:cs typeface="맑은 고딕" pitchFamily="34" charset="-120"/>
                        </a:rPr>
                        <a:t>사용 문항</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l" indent="0" marL="0">
                        <a:buNone/>
                      </a:pPr>
                      <a:r>
                        <a:rPr lang="en-US" sz="1400" b="1" dirty="0">
                          <a:solidFill>
                            <a:srgbClr val="5B6472"/>
                          </a:solidFill>
                          <a:latin typeface="맑은 고딕" pitchFamily="34" charset="0"/>
                          <a:ea typeface="맑은 고딕" pitchFamily="34" charset="-122"/>
                          <a:cs typeface="맑은 고딕" pitchFamily="34" charset="-120"/>
                        </a:rPr>
                        <a:t>충족 기준</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충족률(가중)</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신체활동</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신체활동 권고 충족 (기준축)</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유산소(걷기 또는 중강도 이상) + 근력 주 2일 이상</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21.7%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흡연</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담배제품 현재 미사용</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궐련·전자담배 모두 현재 사용 아님</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80.2%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음주</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고위험음주 아님</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주 2회 이상 &amp; 1회 남 7잔·여 5잔 이상이 아님</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89.4%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식생활</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아침식사 주 5회 이상</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지침서 아침식사 실천율(식품군 문항 없어 대리)</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56.9%</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사회적 연결</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사회적 연결</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고립 지수 0~1점(1인 가구·드문 연락·사회활동 없음)</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79.2%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구강건강</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저녁 후·잠자기 전 칫솔질</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지침서 저녁식사 후 또는 잠자기 전 칫솔질 실천율</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96.4%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수면</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주중 7~9시간 (민감도)</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증상근접 — 주 점수에서 제외</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49.3%</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57200">
                <a:tc>
                  <a:txBody>
                    <a:bodyPr/>
                    <a:lstStyle/>
                    <a:p>
                      <a:pPr indent="0" marL="0">
                        <a:buNone/>
                      </a:pPr>
                      <a:r>
                        <a:rPr lang="en-US" sz="1400" b="1" dirty="0">
                          <a:solidFill>
                            <a:srgbClr val="1D2430"/>
                          </a:solidFill>
                          <a:latin typeface="맑은 고딕" pitchFamily="34" charset="0"/>
                          <a:ea typeface="맑은 고딕" pitchFamily="34" charset="-122"/>
                          <a:cs typeface="맑은 고딕" pitchFamily="34" charset="-120"/>
                        </a:rPr>
                        <a:t>좌식행동</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indent="0" marL="0">
                        <a:buNone/>
                      </a:pPr>
                      <a:r>
                        <a:rPr lang="en-US" sz="1400" dirty="0">
                          <a:solidFill>
                            <a:srgbClr val="1D2430"/>
                          </a:solidFill>
                          <a:latin typeface="맑은 고딕" pitchFamily="34" charset="0"/>
                          <a:ea typeface="맑은 고딕" pitchFamily="34" charset="-122"/>
                          <a:cs typeface="맑은 고딕" pitchFamily="34" charset="-120"/>
                        </a:rPr>
                        <a:t>2025년 조사에 문항 없음</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600" b="1" dirty="0">
                <a:solidFill>
                  <a:srgbClr val="1D2430"/>
                </a:solidFill>
              </a:rPr>
              <a:t>A3. 점수 민감도 — 어느 요인 하나를 빼도 단계적 감소가 유지된다</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91840"/>
                <a:gridCol w="1097280"/>
                <a:gridCol w="2651760"/>
                <a:gridCol w="2011680"/>
                <a:gridCol w="2041855"/>
              </a:tblGrid>
              <a:tr h="438912">
                <a:tc>
                  <a:txBody>
                    <a:bodyPr/>
                    <a:lstStyle/>
                    <a:p>
                      <a:pPr algn="l" indent="0" marL="0">
                        <a:buNone/>
                      </a:pPr>
                      <a:r>
                        <a:rPr lang="en-US" sz="1400" b="1" dirty="0">
                          <a:solidFill>
                            <a:srgbClr val="5B6472"/>
                          </a:solidFill>
                          <a:latin typeface="맑은 고딕" pitchFamily="34" charset="0"/>
                          <a:ea typeface="맑은 고딕" pitchFamily="34" charset="-122"/>
                          <a:cs typeface="맑은 고딕" pitchFamily="34" charset="-120"/>
                        </a:rPr>
                        <a:t>점수</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요인 수</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1점당 OR [95% CI]</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최저 점수 유병률</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최고 점수 유병률</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r>
              <a:tr h="438912">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주 분석</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6</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0.70 [0.68, 0.72]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0~1개 9.0%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6개 2.1%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38912">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신체활동 권고 제외</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0.68 [0.66, 0.71]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0~1개 9.1%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5개 2.5%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38912">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담배제품 미사용 제외</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0.69 [0.66, 0.72]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0~1개 8.0%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5개 2.0%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38912">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고위험음주 아님 제외</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0.67 [0.65, 0.70]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0~1개 8.2%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5개 2.1%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38912">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아침식사 주 5회 이상 제외</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0.68 [0.65, 0.71]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0~1개 7.4%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5개 2.2%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38912">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사회적 연결 제외</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0.72 [0.70, 0.75]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0~1개 6.5%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5개 2.4%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38912">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저녁 후·잠자기 전 칫솔질 제외</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0.70 [0.68, 0.72]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0개 8.7%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5개 2.1%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438912">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수면 포함</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0.66 [0.64, 0.68]</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0~1개 11.9%</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7개 1.5%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bl>
          </a:graphicData>
        </a:graphic>
      </p:graphicFrame>
      <p:sp>
        <p:nvSpPr>
          <p:cNvPr id="5" name="Text 1"/>
          <p:cNvSpPr txBox="1"/>
          <p:nvPr/>
        </p:nvSpPr>
        <p:spPr>
          <a:xfrm>
            <a:off x="548640" y="5852160"/>
            <a:ext cx="11094415" cy="274320"/>
          </a:xfrm>
          <a:prstGeom prst="rect">
            <a:avLst/>
          </a:prstGeom>
          <a:noFill/>
          <a:ln/>
        </p:spPr>
        <p:txBody>
          <a:bodyPr wrap="square" lIns="0" tIns="0" rIns="0" bIns="0" rtlCol="0" anchor="t"/>
          <a:lstStyle/>
          <a:p>
            <a:pPr indent="0" marL="0">
              <a:buNone/>
            </a:pPr>
            <a:r>
              <a:rPr lang="en-US" sz="1100" dirty="0">
                <a:solidFill>
                  <a:srgbClr val="6B7280"/>
                </a:solidFill>
              </a:rPr>
              <a:t>인구·경제·신체건강 조정 조사설계 기반 회귀. 양 끝 점수가 1,000명 미만이면 안쪽 점수와 합침</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786384"/>
            <a:ext cx="11094415" cy="731520"/>
          </a:xfrm>
          <a:prstGeom prst="rect">
            <a:avLst/>
          </a:prstGeom>
          <a:noFill/>
          <a:ln/>
        </p:spPr>
        <p:txBody>
          <a:bodyPr wrap="square" lIns="0" tIns="0" rIns="0" bIns="0" rtlCol="0" anchor="ctr"/>
          <a:lstStyle/>
          <a:p>
            <a:pPr algn="l" indent="0" marL="0">
              <a:buNone/>
            </a:pPr>
            <a:r>
              <a:rPr lang="en-US" sz="2600" b="1" dirty="0">
                <a:solidFill>
                  <a:srgbClr val="1D2430"/>
                </a:solidFill>
              </a:rPr>
              <a:t>A4. 임계값을 정하면 — 민감도와 정밀도는 맞바꾸는 관계다</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4415" cy="914400"/>
        </p:xfrm>
        <a:graphic>
          <a:graphicData uri="http://schemas.openxmlformats.org/drawingml/2006/table">
            <a:tbl>
              <a:tblPr/>
              <a:tblGrid>
                <a:gridCol w="3291840"/>
                <a:gridCol w="1188720"/>
                <a:gridCol w="1371600"/>
                <a:gridCol w="1188720"/>
                <a:gridCol w="1188720"/>
                <a:gridCol w="1188720"/>
                <a:gridCol w="1676095"/>
              </a:tblGrid>
              <a:tr h="512064">
                <a:tc>
                  <a:txBody>
                    <a:bodyPr/>
                    <a:lstStyle/>
                    <a:p>
                      <a:pPr algn="l" indent="0" marL="0">
                        <a:buNone/>
                      </a:pPr>
                      <a:r>
                        <a:rPr lang="en-US" sz="1400" b="1" dirty="0">
                          <a:solidFill>
                            <a:srgbClr val="5B6472"/>
                          </a:solidFill>
                          <a:latin typeface="맑은 고딕" pitchFamily="34" charset="0"/>
                          <a:ea typeface="맑은 고딕" pitchFamily="34" charset="-122"/>
                          <a:cs typeface="맑은 고딕" pitchFamily="34" charset="-120"/>
                        </a:rPr>
                        <a:t>임계값 기준</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임계 확률</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고위험 판정</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민감도</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특이도</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정밀도</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c>
                  <a:txBody>
                    <a:bodyPr/>
                    <a:lstStyle/>
                    <a:p>
                      <a:pPr algn="ctr" indent="0" marL="0">
                        <a:buNone/>
                      </a:pPr>
                      <a:r>
                        <a:rPr lang="en-US" sz="1400" b="1" dirty="0">
                          <a:solidFill>
                            <a:srgbClr val="5B6472"/>
                          </a:solidFill>
                          <a:latin typeface="맑은 고딕" pitchFamily="34" charset="0"/>
                          <a:ea typeface="맑은 고딕" pitchFamily="34" charset="-122"/>
                          <a:cs typeface="맑은 고딕" pitchFamily="34" charset="-120"/>
                        </a:rPr>
                        <a:t>놓친 우울/1만 명</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solidFill>
                      <a:srgbClr val="F3F5F8"/>
                    </a:solidFill>
                  </a:tcPr>
                </a:tc>
              </a:tr>
              <a:tr h="512064">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Youden(민감도+특이도 최대)</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0.035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24.7%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76.4%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77.4%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12.0%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92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512064">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민감도 80%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0.029</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29.1%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80.1%</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72.9%</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10.7%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78</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512064">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상위 10%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0.085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10.0%</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53.2%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91.7%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20.7%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182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512064">
                <a:tc>
                  <a:txBody>
                    <a:bodyPr/>
                    <a:lstStyle/>
                    <a:p>
                      <a:pPr algn="l" indent="0" marL="0">
                        <a:buNone/>
                      </a:pPr>
                      <a:r>
                        <a:rPr lang="en-US" sz="1400" dirty="0">
                          <a:solidFill>
                            <a:srgbClr val="1D2430"/>
                          </a:solidFill>
                          <a:latin typeface="맑은 고딕" pitchFamily="34" charset="0"/>
                          <a:ea typeface="맑은 고딕" pitchFamily="34" charset="-122"/>
                          <a:cs typeface="맑은 고딕" pitchFamily="34" charset="-120"/>
                        </a:rPr>
                        <a:t>F1 최대</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0.156</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4.7%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36.5%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96.6%</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30.5%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247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r h="512064">
                <a:tc>
                  <a:txBody>
                    <a:bodyPr/>
                    <a:lstStyle/>
                    <a:p>
                      <a:pPr algn="l" indent="0" marL="0">
                        <a:buNone/>
                      </a:pPr>
                      <a:r>
                        <a:rPr lang="en-US" sz="1400" b="1" dirty="0">
                          <a:solidFill>
                            <a:srgbClr val="1D2430"/>
                          </a:solidFill>
                          <a:latin typeface="맑은 고딕" pitchFamily="34" charset="0"/>
                          <a:ea typeface="맑은 고딕" pitchFamily="34" charset="-122"/>
                          <a:cs typeface="맑은 고딕" pitchFamily="34" charset="-120"/>
                        </a:rPr>
                        <a:t>상위 18.4%(Han &amp; Park 판정 비율)</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0.047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18.4%</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68.7%</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83.6%</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14.5%</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c>
                  <a:txBody>
                    <a:bodyPr/>
                    <a:lstStyle/>
                    <a:p>
                      <a:pPr algn="ctr" indent="0" marL="0">
                        <a:buNone/>
                      </a:pPr>
                      <a:r>
                        <a:rPr lang="en-US" sz="1400" dirty="0">
                          <a:solidFill>
                            <a:srgbClr val="1D2430"/>
                          </a:solidFill>
                          <a:latin typeface="맑은 고딕" pitchFamily="34" charset="0"/>
                          <a:ea typeface="맑은 고딕" pitchFamily="34" charset="-122"/>
                          <a:cs typeface="맑은 고딕" pitchFamily="34" charset="-120"/>
                        </a:rPr>
                        <a:t>122</a:t>
                      </a:r>
                      <a:endParaRPr lang="en-US" sz="1400" dirty="0">
                        <a:latin typeface="맑은 고딕" charset="0"/>
                        <a:ea typeface="맑은 고딕" charset="0"/>
                        <a:cs typeface="맑은 고딕" charset="0"/>
                      </a:endParaRPr>
                    </a:p>
                  </a:txBody>
                  <a:tcPr marL="91440" marR="91440" marT="45720" marB="45720" anchor="ctr">
                    <a:lnL w="0" cap="flat" cmpd="sng" algn="ctr">
                      <a:noFill/>
                    </a:lnL>
                    <a:lnR w="0" cap="flat" cmpd="sng" algn="ctr">
                      <a:noFill/>
                    </a:lnR>
                    <a:lnT w="0" cap="flat" cmpd="sng" algn="ctr">
                      <a:noFill/>
                    </a:lnT>
                    <a:lnB w="9525" cap="flat" cmpd="sng" algn="ctr">
                      <a:solidFill>
                        <a:srgbClr val="E3E6EA"/>
                      </a:solidFill>
                      <a:prstDash val="solid"/>
                      <a:round/>
                      <a:headEnd type="none" w="med" len="med"/>
                      <a:tailEnd type="none" w="med" len="med"/>
                    </a:lnB>
                  </a:tcPr>
                </a:tc>
              </a:tr>
            </a:tbl>
          </a:graphicData>
        </a:graphic>
      </p:graphicFrame>
      <p:sp>
        <p:nvSpPr>
          <p:cNvPr id="5" name="Text 1"/>
          <p:cNvSpPr txBox="1"/>
          <p:nvPr/>
        </p:nvSpPr>
        <p:spPr>
          <a:xfrm>
            <a:off x="548640" y="5852160"/>
            <a:ext cx="11094415" cy="274320"/>
          </a:xfrm>
          <a:prstGeom prst="rect">
            <a:avLst/>
          </a:prstGeom>
          <a:noFill/>
          <a:ln/>
        </p:spPr>
        <p:txBody>
          <a:bodyPr wrap="square" lIns="0" tIns="0" rIns="0" bIns="0" rtlCol="0" anchor="t"/>
          <a:lstStyle/>
          <a:p>
            <a:pPr indent="0" marL="0">
              <a:buNone/>
            </a:pPr>
            <a:r>
              <a:rPr lang="en-US" sz="1100" dirty="0">
                <a:solidFill>
                  <a:srgbClr val="6B7280"/>
                </a:solidFill>
              </a:rPr>
              <a:t>CatBoost 주 분석, 시험셋 46,528명. Han &amp; Park(2025)의 판정 비율 18.4%는 그 논문의 정확도·macro 재현율·시험셋 인원에서 역산</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Mission D Clean">
  <a:themeElements>
    <a:clrScheme name="Mission D Clean">
      <a:dk1>
        <a:srgbClr val="1D2430"/>
      </a:dk1>
      <a:lt1>
        <a:srgbClr val="FFFFFF"/>
      </a:lt1>
      <a:dk2>
        <a:srgbClr val="2A3342"/>
      </a:dk2>
      <a:lt2>
        <a:srgbClr val="F3F5F8"/>
      </a:lt2>
      <a:accent1>
        <a:srgbClr val="1F8A5B"/>
      </a:accent1>
      <a:accent2>
        <a:srgbClr val="2F5FB3"/>
      </a:accent2>
      <a:accent3>
        <a:srgbClr val="A86400"/>
      </a:accent3>
      <a:accent4>
        <a:srgbClr val="C2412D"/>
      </a:accent4>
      <a:accent5>
        <a:srgbClr val="5B6472"/>
      </a:accent5>
      <a:accent6>
        <a:srgbClr val="7A8699"/>
      </a:accent6>
      <a:hlink>
        <a:srgbClr val="2F5FB3"/>
      </a:hlink>
      <a:folHlink>
        <a:srgbClr val="7A8699"/>
      </a:folHlink>
    </a:clrScheme>
    <a:fontScheme name="Mission D Clean">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우울 증상의 다차원 요인 분석 — 중간 프로포절</dc:title>
  <dc:subject>PptxGenJS Presentation</dc:subject>
  <dc:creator>Depression_MultiDomain_Capstone</dc:creator>
  <cp:lastModifiedBy>Depression_MultiDomain_Capstone</cp:lastModifiedBy>
  <cp:revision>1</cp:revision>
  <dcterms:created xsi:type="dcterms:W3CDTF">2026-10-27T07:44:48Z</dcterms:created>
  <dcterms:modified xsi:type="dcterms:W3CDTF">2026-10-27T07:44:48Z</dcterms:modified>
</cp:coreProperties>
</file>