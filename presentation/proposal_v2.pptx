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e8c4405-ed01-4166-ffa5-5062365dbdbf}">
          <p14:sldIdLst>
            <p14:sldId id="256"/>
            <p14:sldId id="257"/>
          </p14:sldIdLst>
        </p14:section>
        <p14:section name="데이터와 방법" id="{51b0325e-139a-63c3-54b6-6bc91b0df656}">
          <p14:sldIdLst>
            <p14:sldId id="258"/>
            <p14:sldId id="259"/>
          </p14:sldIdLst>
        </p14:section>
        <p14:section name="주요 결과" id="{6e28bf5b-487b-aa08-a601-2dcd5120f179}">
          <p14:sldIdLst>
            <p14:sldId id="260"/>
            <p14:sldId id="261"/>
            <p14:sldId id="262"/>
            <p14:sldId id="263"/>
          </p14:sldIdLst>
        </p14:section>
        <p14:section name="차별점과 해석" id="{0b51b555-0ff6-b822-24c8-54e4a01e26b0}">
          <p14:sldIdLst>
            <p14:sldId id="264"/>
            <p14:sldId id="265"/>
          </p14:sldIdLst>
        </p14:section>
        <p14:section name="제언과 계획" id="{523e4e9b-7696-6ebb-54b9-af1269ac80bc}">
          <p14:sldIdLst>
            <p14:sldId id="266"/>
            <p14:sldId id="267"/>
            <p14:sldId id="268"/>
          </p14:sldIdLst>
        </p14:section>
        <p14:section name="부록" id="{51d6d123-c9b1-ac1e-496d-e68441605886}">
          <p14:sldIdLst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C2B33"/>
                </a:solidFill>
                <a:latin typeface="+mn-lt"/>
              </a:rPr>
              <a:t>ΔAP (CatBoost, 시험셋)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단독 정보량 (인구 + 영역)</c:v>
                </c:pt>
              </c:strCache>
            </c:strRef>
          </c:tx>
          <c:spPr>
            <a:solidFill>
              <a:srgbClr val="1F4E5A"/>
            </a:solidFill>
            <a:effectLst/>
          </c:spPr>
          <c:invertIfNegative val="0"/>
          <c:dLbls>
            <c:numFmt formatCode="+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신체건강</c:v>
                  </c:pt>
                  <c:pt idx="1">
                    <c:v>의료접근·건강정보</c:v>
                  </c:pt>
                  <c:pt idx="2">
                    <c:v>경제</c:v>
                  </c:pt>
                  <c:pt idx="3">
                    <c:v>사회관계</c:v>
                  </c:pt>
                  <c:pt idx="4">
                    <c:v>건강행태</c:v>
                  </c:pt>
                  <c:pt idx="5">
                    <c:v>생활환경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0.09</c:v>
                </c:pt>
                <c:pt idx="1">
                  <c:v>0.063</c:v>
                </c:pt>
                <c:pt idx="2">
                  <c:v>0.061</c:v>
                </c:pt>
                <c:pt idx="3">
                  <c:v>0.043</c:v>
                </c:pt>
                <c:pt idx="4">
                  <c:v>0.043</c:v>
                </c:pt>
                <c:pt idx="5">
                  <c:v>0.022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고유 기여 (전체 − 영역)</c:v>
                </c:pt>
              </c:strCache>
            </c:strRef>
          </c:tx>
          <c:spPr>
            <a:solidFill>
              <a:srgbClr val="81B29A"/>
            </a:solidFill>
            <a:effectLst/>
          </c:spPr>
          <c:invertIfNegative val="0"/>
          <c:dLbls>
            <c:numFmt formatCode="+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신체건강</c:v>
                  </c:pt>
                  <c:pt idx="1">
                    <c:v>의료접근·건강정보</c:v>
                  </c:pt>
                  <c:pt idx="2">
                    <c:v>경제</c:v>
                  </c:pt>
                  <c:pt idx="3">
                    <c:v>사회관계</c:v>
                  </c:pt>
                  <c:pt idx="4">
                    <c:v>건강행태</c:v>
                  </c:pt>
                  <c:pt idx="5">
                    <c:v>생활환경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0.036</c:v>
                </c:pt>
                <c:pt idx="1">
                  <c:v>0.02</c:v>
                </c:pt>
                <c:pt idx="2">
                  <c:v>0.018</c:v>
                </c:pt>
                <c:pt idx="3">
                  <c:v>0.015</c:v>
                </c:pt>
                <c:pt idx="4">
                  <c:v>0.02</c:v>
                </c:pt>
                <c:pt idx="5">
                  <c:v>0.009</c:v>
                </c:pt>
              </c:numCache>
            </c:numRef>
          </c:val>
        </c:ser>
        <c:dLbls>
          <c:numFmt formatCode="+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C2B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0"/>
        </c:scaling>
        <c:delete val="0"/>
        <c:axPos val="b"/>
        <c:majorGridlines>
          <c:spPr>
            <a:ln w="6350" cap="flat">
              <a:solidFill>
                <a:srgbClr val="E2E5E7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79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2B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2B33"/>
                </a:solidFill>
                <a:latin typeface="+mn-lt"/>
              </a:rPr>
              <a:t>B 서비스·정책·환경으로 개선 가능 — 조정 OR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조정 OR</c:v>
                </c:pt>
              </c:strCache>
            </c:strRef>
          </c:tx>
          <c:spPr>
            <a:solidFill>
              <a:srgbClr val="1F4E5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식품 불안정: 자주 부족</c:v>
                  </c:pt>
                  <c:pt idx="1">
                    <c:v>저작불편: 매우 불편</c:v>
                  </c:pt>
                  <c:pt idx="2">
                    <c:v>인지 체형: 매우 비만</c:v>
                  </c:pt>
                  <c:pt idx="3">
                    <c:v>미충족 의료: 있음</c:v>
                  </c:pt>
                  <c:pt idx="4">
                    <c:v>의료진 설명 이해: 매우 어려움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3.24</c:v>
                </c:pt>
                <c:pt idx="1">
                  <c:v>2.79</c:v>
                </c:pt>
                <c:pt idx="2">
                  <c:v>2.36</c:v>
                </c:pt>
                <c:pt idx="3">
                  <c:v>2.15</c:v>
                </c:pt>
                <c:pt idx="4">
                  <c:v>1.76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C2B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  <c:min val="1"/>
        </c:scaling>
        <c:delete val="0"/>
        <c:axPos val="b"/>
        <c:majorGridlines>
          <c:spPr>
            <a:ln w="6350" cap="flat">
              <a:solidFill>
                <a:srgbClr val="E2E5E7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79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2B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2B33"/>
                </a:solidFill>
                <a:latin typeface="+mn-lt"/>
              </a:rPr>
              <a:t>A 개인 행동 — 조정 OR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조정 OR</c:v>
                </c:pt>
              </c:strCache>
            </c:strRef>
          </c:tx>
          <c:spPr>
            <a:solidFill>
              <a:srgbClr val="E07A5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친구 연락: 월 1회 미만</c:v>
                  </c:pt>
                  <c:pt idx="1">
                    <c:v>흡연: 현재흡연</c:v>
                  </c:pt>
                  <c:pt idx="2">
                    <c:v>아침식사: 거의 안 함</c:v>
                  </c:pt>
                  <c:pt idx="3">
                    <c:v>전자담배: 현재 사용</c:v>
                  </c:pt>
                  <c:pt idx="4">
                    <c:v>걷기: 미실천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1.59</c:v>
                </c:pt>
                <c:pt idx="1">
                  <c:v>1.45</c:v>
                </c:pt>
                <c:pt idx="2">
                  <c:v>1.41</c:v>
                </c:pt>
                <c:pt idx="3">
                  <c:v>1.4</c:v>
                </c:pt>
                <c:pt idx="4">
                  <c:v>1.25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C2B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1"/>
        </c:scaling>
        <c:delete val="0"/>
        <c:axPos val="b"/>
        <c:majorGridlines>
          <c:spPr>
            <a:ln w="6350" cap="flat">
              <a:solidFill>
                <a:srgbClr val="E2E5E7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79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C2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C2B33"/>
                </a:solidFill>
                <a:latin typeface="+mn-lt"/>
              </a:rPr>
              <a:t>충족한 건강 생활요인 수별 조정 유병률(%)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조정 유병률(%)</c:v>
                </c:pt>
              </c:strCache>
            </c:strRef>
          </c:tx>
          <c:spPr>
            <a:solidFill>
              <a:srgbClr val="1F4E5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0개</c:v>
                  </c:pt>
                  <c:pt idx="1">
                    <c:v>1개</c:v>
                  </c:pt>
                  <c:pt idx="2">
                    <c:v>2개</c:v>
                  </c:pt>
                  <c:pt idx="3">
                    <c:v>3개</c:v>
                  </c:pt>
                  <c:pt idx="4">
                    <c:v>4개</c:v>
                  </c:pt>
                  <c:pt idx="5">
                    <c:v>5개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8.7</c:v>
                </c:pt>
                <c:pt idx="1">
                  <c:v>7</c:v>
                </c:pt>
                <c:pt idx="2">
                  <c:v>5.3</c:v>
                </c:pt>
                <c:pt idx="3">
                  <c:v>3.8</c:v>
                </c:pt>
                <c:pt idx="4">
                  <c:v>2.7</c:v>
                </c:pt>
                <c:pt idx="5">
                  <c:v>2.1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C2B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2E5E7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79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방향으로 전환한 연구의 중간 보고입니다. 교수님 피드백대로 우울을 심리·신체·사회·경제·환경의 여러 영역에서 함께 보았고, 오늘은 무엇을 물었고 어떻게 분석했으며 지금까지 무엇을 확인했는지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연구는 걷기·근력운동과 친구 연락만 보았습니다. 교수님께서 우울을 복합적으로 보라고 하셔서, 같은 조사의 가능한 문항을 8개 영역으로 넓혔습니다. 23만 명 가운데 가중 3.76%가 PHQ-9 10점 이상이었고, 이 결과를 네 가지 질문으로 나누어 분석했습니다.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원시자료는 19개 조사영역, 201개 변수입니다. 그중 103개를 어떤 식으로든 사용했고, 모형에는 원시변수 86개를 66개 분석변수로 다듬어 넣었습니다. 우울 문항과 직접 겹치는 4개는 아예 뺐고, 스트레스·수면·주관적 건강처럼 PHQ-9와 개념이 겹치는 13개는 주 분석에서 분리해 비교용으로만 썼습니다. 나머지 미사용 문항은 대부분 해당자에게만 묻는 하위문항이나 지식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결과변수는 PHQ-9 10점 이상 하나입니다. 머신러닝은 영역을 하나씩 더하거나 빼며 어느 영역이 정보를 많이 갖는지 재고, 조사설계 회귀는 다른 요인을 모두 고정했을 때 연관의 방향과 크기를 모집단 기준으로 추정합니다. 두 방법이 같은 요인을 가리키는지가 결과의 신뢰도를 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인구 정보만 넣은 모형의 AP는 0.086입니다. 여기에 영역을 하나씩 더하면 신체건강이 +0.090로 가장 크게 올렸고, 전부 넣은 모형에서 하나씩 빼도 모든 영역에서 성능이 유의하게 떨어졌습니다. 즉 어느 영역도 다른 영역으로 대체되지 않습니다. 신체건강 1위, 생활환경 최하위는 네 가지 지표에서 모두 같았습니다.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변수를 동시에 조정한 회귀에서, 바꿀 수 있는 요인을 두 유형으로 나눠 보았습니다. 왼쪽은 서비스·정책·환경으로 개선할 수 있는 상태로, 식품이 자주 부족한 가구의 오즈가 3배를 넘었습니다. 오른쪽은 개인이 직접 바꿀 수 있는 행동으로, 친구와의 연락 단절, 흡연, 아침 결식이 위험 쪽이었습니다. 이 유형 구분은 제6차 국민건강증진종합계획의 분야에 맞춰 미리 정한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연령대 안에서 모형을 다시 학습해 영역별 단독 정보량을 비교했습니다. 진한 칸이 그 연령대에서 정보가 많은 영역입니다. 청년층은 건강행태가 신체건강만큼 중요했고 경제는 작았습니다. 중장년층은 경제가 가장 컸고, 65세 이상은 신체건강과 의료접근이 압도적이었습니다. 제언을 연령대별로 달리해야 하는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생활요인은 결과를 보고 고르지 않았습니다. 개인 행동이면서, 우울 관련 건강 생활요인 연구(Zhao 등, 2023)의 영역에 속하고, 공식 충족 기준이 있으며, 영역당 하나만 쓰는 규칙으로 정했습니다. 그 결과 담배제품 미사용, 고위험음주 아님, 아침식사, 사회적 연결 네 가지가 남았습니다. 점수는 순서대로 더한 것이 아니라 몇 개를 충족했는지 센 값입니다. 0개 8.7%에서 5개 2.1%로 단계적으로 낮아졌고, 1개 늘 때마다 오즈가 약 30% 낮았습니다. 어느 요인 하나를 빼고 다시 세도 같은 결과였습니다.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Han과 Park(2025)은 2022년 같은 조사로 우울 위험 예측모형을 만들었고, 스트레스와 주관적 건강을 가장 큰 위험요인으로 보고했습니다. 그런데 두 변수는 PHQ-9 문항과 겹칩니다. 저희는 이런 변수를 빼고도 ROC-AUC가 0.846로 비슷했고, 선행연구와 같은 비율인 18.4%를 고위험으로 판정하면 민감도 68.7%, 정밀도 14.5%로 같은 수준이었습니다. 여기에 변수 범위, 가구 단위 분할, 보정 지표, 조사설계 회귀를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 0.283는 아무 정보 없이 찍을 때(0.039)보다 약 7배 높아 모형이 실제 신호를 학습했다는 뜻입니다. 그래서 영역 비교와 SHAP 해석을 믿을 수 있습니다. 하지만 선별 도구로 쓰려면 이야기가 다릅니다. 우울군의 80%를 잡으려면 1만 명 중 2,914명을 고위험으로 찍어야 하고, 그중 2,602명은 헛경보입니다. 무엇보다 결과변수가 PHQ-9 자체라서, 9문항을 직접 묻는 편이 더 싸고 정확합니다.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횡단면 자료라 인과를 말할 수는 없지만, 바꿀 수 있고 관련이 큰 요인을 근거로 세 가지를 제안합니다. 신체활동과 사회적 연결을 함께 충족한 집단의 조정 유병률이 가장 낮은 축이었고, 상호작용이 없어 효과가 더해지는 구조였습니다. 생활체육 프로그램을 운동 종목만이 아니라 교류의 장으로 설계할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큰 한계는 횡단면 자료라는 점입니다. 우울해서 운동이나 교류가 줄었을 가능성을 배제할 수 없습니다. 모든 변수가 자기보고이고, 2025년 조사에는 좌식행동 문항이 없어 생활요인 하나를 쓰지 못했습니다. 남은 기간에는 오늘 받을 피드백을 반영해 분석을 확정하고 논문을 마무리하겠습니다.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문장으로 정리하겠습니다. 질문 주시면 부록 자료로 답변드리겠습니다.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수정 유형은 제6차 국민건강증진종합계획의 분야와 대응시켜 정했습니다. A는 본인이 고르는 행동, B는 제도나 지역사회 개입으로 개선할 수 있는 현재 상태, C는 나이·성별·진단처럼 바꿀 수 없는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선행연구가 우울과 관련된 건강 생활요인으로 정의한 7개 영역에 조사 문항을 하나씩 대응시켰습니다. 좌식행동은 문항이 없어 빠졌고, 수면은 PHQ-9 수면 문항과 겹쳐 민감도 분석으로만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특정 요인 하나가 결과를 끌고 가는지 보려고 요인을 하나씩 뺀 점수 다섯 가지와 수면을 더한 점수를 다시 계산했습니다. 1점당 오즈비가 모두 0.65에서 0.72 사이로 비슷했습니다.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모형을 실제 판정에 쓴다면 목적에 따라 임계값을 정해야 합니다. 시험셋을 가구 단위로 반으로 나눠 한쪽에서 임계값을 정하고 다른 쪽에서 평가했습니다.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28800"/>
            <a:ext cx="102412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02412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EF3F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우울 증상의 다차원 요인 분석 · 중간 프로포절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스포츠융합산업프로젝트실습 · 중간 프로포절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2880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한국 성인의 우울 증상,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여러 영역이 함께 관련된다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0241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EF3F2"/>
                </a:solidFill>
              </a:rPr>
              <a:t>2025 지역사회건강조사 성인 231,290명 · 8개 영역 66개 변수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EF3F2"/>
                </a:solidFill>
              </a:rPr>
              <a:t>머신러닝 영역 기여도 분석과 조사설계 기반 회귀분석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EF3F2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EEF3F2"/>
                </a:solidFill>
              </a:rPr>
              <a:t>[팀명 · 발표자]   |   2026. 10.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문제와 연구 질문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우울은 단일 요인으로 설명되지 않는다 — 그래서 네 가지를 물었다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745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231,290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328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분석 대상 성인(명)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377440" y="18745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3.76%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2377440" y="25328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우울 증상 기준 충족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PHQ-9 ≥ 10, 가중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18745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66개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25328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8개 영역 분석 변수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566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교수 피드백: 우울을 심리·신체·사회·경제·환경을 아우르는 복합적 시각에서 보라</a:t>
            </a:r>
            <a:endParaRPr lang="en-US" sz="1500" dirty="0"/>
          </a:p>
        </p:txBody>
      </p:sp>
      <p:sp>
        <p:nvSpPr>
          <p:cNvPr id="12" name="q1"/>
          <p:cNvSpPr/>
          <p:nvPr/>
        </p:nvSpPr>
        <p:spPr>
          <a:xfrm>
            <a:off x="6400800" y="1783080"/>
            <a:ext cx="523951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29400" y="194767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193852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어떤 영역·요인이 우울과 가장 관련되는가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2331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ML 영역 기여도와 조정 OR의 일치</a:t>
            </a:r>
            <a:endParaRPr lang="en-US" sz="1200" dirty="0"/>
          </a:p>
        </p:txBody>
      </p:sp>
      <p:sp>
        <p:nvSpPr>
          <p:cNvPr id="16" name="q2"/>
          <p:cNvSpPr/>
          <p:nvPr/>
        </p:nvSpPr>
        <p:spPr>
          <a:xfrm>
            <a:off x="6400800" y="2880360"/>
            <a:ext cx="523951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304495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2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7178040" y="3035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그중 바꿀 수 있는 요인은 무엇인가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178040" y="3429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수정 유형 A·B·C 기준으로 판정</a:t>
            </a:r>
            <a:endParaRPr lang="en-US" sz="1200" dirty="0"/>
          </a:p>
        </p:txBody>
      </p:sp>
      <p:sp>
        <p:nvSpPr>
          <p:cNvPr id="20" name="q3"/>
          <p:cNvSpPr/>
          <p:nvPr/>
        </p:nvSpPr>
        <p:spPr>
          <a:xfrm>
            <a:off x="6400800" y="3977640"/>
            <a:ext cx="523951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9400" y="414223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7178040" y="413308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신체활동과 함께할 때 유리한 생활요인은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178040" y="4526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미리 정한 규칙으로 고른 생활요인</a:t>
            </a:r>
            <a:endParaRPr lang="en-US" sz="1200" dirty="0"/>
          </a:p>
        </p:txBody>
      </p:sp>
      <p:sp>
        <p:nvSpPr>
          <p:cNvPr id="24" name="q4"/>
          <p:cNvSpPr/>
          <p:nvPr/>
        </p:nvSpPr>
        <p:spPr>
          <a:xfrm>
            <a:off x="6400800" y="5074920"/>
            <a:ext cx="523951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29400" y="523951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178040" y="523036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연령대에 따라 핵심 영역이 다른가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178040" y="5623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19~39세 · 40~64세 · 65세 이상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데이터와 변수 구성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조사 201개 변수에서 8개 영역 66개 분석 변수를 골랐다</a:t>
            </a:r>
            <a:endParaRPr lang="en-US" sz="2800" dirty="0"/>
          </a:p>
        </p:txBody>
      </p:sp>
      <p:sp>
        <p:nvSpPr>
          <p:cNvPr id="5" name="step1"/>
          <p:cNvSpPr/>
          <p:nvPr/>
        </p:nvSpPr>
        <p:spPr>
          <a:xfrm>
            <a:off x="548640" y="1874520"/>
            <a:ext cx="251460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201개 변수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지역사회건강조사 2025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19개 조사영역 · 169개 문항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127248" y="2587752"/>
            <a:ext cx="256032" cy="310896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tep2"/>
          <p:cNvSpPr/>
          <p:nvPr/>
        </p:nvSpPr>
        <p:spPr>
          <a:xfrm>
            <a:off x="3429000" y="1874520"/>
            <a:ext cx="251460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0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86개 원시변수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모형에 투입한 문항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(설계·결과 문항 포함 사용 103개)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07608" y="2587752"/>
            <a:ext cx="256032" cy="310896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step3"/>
          <p:cNvSpPr/>
          <p:nvPr/>
        </p:nvSpPr>
        <p:spPr>
          <a:xfrm>
            <a:off x="6309360" y="1874520"/>
            <a:ext cx="251460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37960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66개 분석 변수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파생·재코딩 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8개 영역으로 구성</a:t>
            </a:r>
            <a:endParaRPr lang="en-US" sz="1200" dirty="0"/>
          </a:p>
        </p:txBody>
      </p:sp>
      <p:sp>
        <p:nvSpPr>
          <p:cNvPr id="16" name="main"/>
          <p:cNvSpPr/>
          <p:nvPr/>
        </p:nvSpPr>
        <p:spPr>
          <a:xfrm>
            <a:off x="9189720" y="1874520"/>
            <a:ext cx="2468880" cy="804672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3726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주 분석 53개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37260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7개 영역</a:t>
            </a:r>
            <a:endParaRPr lang="en-US" sz="1200" dirty="0"/>
          </a:p>
        </p:txBody>
      </p:sp>
      <p:sp>
        <p:nvSpPr>
          <p:cNvPr id="19" name="proximal"/>
          <p:cNvSpPr/>
          <p:nvPr/>
        </p:nvSpPr>
        <p:spPr>
          <a:xfrm>
            <a:off x="9189720" y="2807208"/>
            <a:ext cx="2468880" cy="804672"/>
          </a:xfrm>
          <a:prstGeom prst="roundRect">
            <a:avLst>
              <a:gd name="adj" fmla="val 9091"/>
            </a:avLst>
          </a:prstGeom>
          <a:solidFill>
            <a:srgbClr val="F7DED7"/>
          </a:solidFill>
          <a:ln w="12700">
            <a:solidFill>
              <a:srgbClr val="F7DED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72600" y="2898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증상근접 13개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372600" y="32644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비교용으로만 사용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887968" y="2587752"/>
            <a:ext cx="256032" cy="310896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쓰지 않은 문항과 이유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5262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결과변수와 겹침 4개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8554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우울감 경험·상담, 스트레스 상담, EQ-5D 불안·우울 → 누수 방지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126480" y="45262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하위·세부 문항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126480" y="48554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고혈압·당뇨 치료·교육, 흡연량 등 → 상위 문항(진단·흡연 상태)으로 대표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3949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지식·인지 문항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72414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뇌졸중·심근경색 조기증상 인지 등 → 교육·건강정보 이해능력으로 대표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126480" y="53949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영역 전체 제외 3개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126480" y="572414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안전의식 · 개인위생 · 여성건강 → 우울과의 경로 근거가 약함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분석 설계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두 가지 방법이 같은 질문을 서로 다른 각도에서 검증한다</a:t>
            </a:r>
            <a:endParaRPr lang="en-US" sz="2800" dirty="0"/>
          </a:p>
        </p:txBody>
      </p:sp>
      <p:sp>
        <p:nvSpPr>
          <p:cNvPr id="5" name="outcome"/>
          <p:cNvSpPr/>
          <p:nvPr/>
        </p:nvSpPr>
        <p:spPr>
          <a:xfrm>
            <a:off x="3355848" y="1783080"/>
            <a:ext cx="548640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55848" y="1920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결과변수  PHQ-9 총점 ≥ 10 (우울 증상 기준 충족)</a:t>
            </a:r>
            <a:endParaRPr lang="en-US" sz="1600" dirty="0"/>
          </a:p>
        </p:txBody>
      </p:sp>
      <p:sp>
        <p:nvSpPr>
          <p:cNvPr id="7" name="track1"/>
          <p:cNvSpPr/>
          <p:nvPr/>
        </p:nvSpPr>
        <p:spPr>
          <a:xfrm>
            <a:off x="548640" y="2788920"/>
            <a:ext cx="5394960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971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머신러닝: 어느 영역이 정보를 많이 갖나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2044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CatBoost 등 6개 알고리즘 비교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가구 단위 학습·시험 분할(같은 가구 섞임 방지)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영역 추가·제거 실험의 ΔAP + 가구 부트스트랩 95% CI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SHAP·영역 순열 중요도로 교차 확인</a:t>
            </a:r>
            <a:endParaRPr lang="en-US" sz="1400" dirty="0"/>
          </a:p>
        </p:txBody>
      </p:sp>
      <p:sp>
        <p:nvSpPr>
          <p:cNvPr id="10" name="track2"/>
          <p:cNvSpPr/>
          <p:nvPr/>
        </p:nvSpPr>
        <p:spPr>
          <a:xfrm>
            <a:off x="6217920" y="2788920"/>
            <a:ext cx="5394960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92240" y="2971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조사설계 회귀: 다른 요인을 고정해도 남나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352044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가중치 · 층 · 집락 반영(테일러 선형화)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 분석 53개 변수 동시 조정 → 조정 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기준범주 = 건강한 상태(위험 쪽 OR &gt; 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신체활동 × 생활요인 조합별 조정 유병률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증상근접 13개 변수는 두 방법 모두 주 분석에서 빼고 넣었을 때의 변화만 따로 보고 → 순환 추론 방지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결과 ① 영역별 기여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모든 영역이 고유한 정보를 더하고, 신체건강의 기여가 가장 크다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7406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412480" y="1828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+0.090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2432304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신체건강 단독 정보량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4가지 지표 모두 1위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32918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 / 7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3895344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모든 영역이 빠지면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성능이 유의하게 떨어짐(95% CI &gt; 0)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412480" y="47548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0.283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5358384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주 분석 AP (인구만 0.086)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결과 ② 바꿀 수 있는 요인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바꿀 수 있는 요인 중 식품 불안정과 구강 문제의 연관이 가장 크다</a:t>
            </a:r>
            <a:endParaRPr lang="en-US" sz="2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54864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172200" y="1737360"/>
          <a:ext cx="54864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OR은 7개 영역 53개 변수를 동시에 조정한 조사설계 기반 로지스틱 회귀 값(기준범주 = 건강한 상태, 모두 p &lt; .05). B는 변수마다 위험이 가장 큰 수준, A는 대표 행동 5개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결과 ③ 연령대별 차이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연령대마다 우울과 가장 관련된 영역이 다르다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155448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영역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19~39세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40~64세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65세 이상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신체건강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+0.052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A9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+0.065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8949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+0.099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C6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의료접근·건강정보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+0.041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BC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+0.038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C0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+0.085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737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경제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+0.016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5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+0.069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E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+0.055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DA5A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건강행태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+0.051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+0.031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CCC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+0.048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B0B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사회관계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+0.021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DC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+0.041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BC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+0.048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B0B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생활환경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+0.017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+0.016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5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+0.027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3D6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521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인구 영역에 각 영역을 더했을 때의 AP 증가(LightGBM, 연령대별 재학습). 굵은 글씨 = 그 연령대의 최대</a:t>
            </a:r>
            <a:endParaRPr lang="en-US" sz="1100" dirty="0"/>
          </a:p>
        </p:txBody>
      </p:sp>
      <p:sp>
        <p:nvSpPr>
          <p:cNvPr id="7" name="age0"/>
          <p:cNvSpPr/>
          <p:nvPr/>
        </p:nvSpPr>
        <p:spPr>
          <a:xfrm>
            <a:off x="7863840" y="1783080"/>
            <a:ext cx="37764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920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19~39세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22128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건강행태 ≈ 신체건강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25786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운동·식사·흡연 같은 생활습관이 핵심</a:t>
            </a:r>
            <a:endParaRPr lang="en-US" sz="1200" dirty="0"/>
          </a:p>
        </p:txBody>
      </p:sp>
      <p:sp>
        <p:nvSpPr>
          <p:cNvPr id="11" name="age1"/>
          <p:cNvSpPr/>
          <p:nvPr/>
        </p:nvSpPr>
        <p:spPr>
          <a:xfrm>
            <a:off x="7863840" y="3154680"/>
            <a:ext cx="37764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291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40~64세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경제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92440" y="39502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소득·식품안정성·경제활동이 가장 큼</a:t>
            </a:r>
            <a:endParaRPr lang="en-US" sz="1200" dirty="0"/>
          </a:p>
        </p:txBody>
      </p:sp>
      <p:sp>
        <p:nvSpPr>
          <p:cNvPr id="15" name="age2"/>
          <p:cNvSpPr/>
          <p:nvPr/>
        </p:nvSpPr>
        <p:spPr>
          <a:xfrm>
            <a:off x="7863840" y="4526280"/>
            <a:ext cx="37764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92440" y="4663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65세 이상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49560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신체건강 · 의료접근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092440" y="53218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구강·낙상·미충족 의료가 압도적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결과 ④ 신체활동과 생활요인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규칙으로 고른 생활요인은 함께 지킬수록 우울 비율이 낮다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생활요인 선정 규칙 (사전 지정)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4884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개인 행동(수정 유형 A)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Zhao 등(2023)의 우울 관련 7개 생활 영역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공식 지표·권고로 충족 기준이 정해짐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영역당 대표 문항 1개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PHQ-9와 겹치는 수면은 민감도로만</a:t>
            </a:r>
            <a:endParaRPr lang="en-US" sz="1400" dirty="0"/>
          </a:p>
        </p:txBody>
      </p:sp>
      <p:sp>
        <p:nvSpPr>
          <p:cNvPr id="7" name="chip0"/>
          <p:cNvSpPr/>
          <p:nvPr/>
        </p:nvSpPr>
        <p:spPr>
          <a:xfrm>
            <a:off x="548640" y="4069080"/>
            <a:ext cx="2377440" cy="43891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1422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신체활동 권고(기준축)</a:t>
            </a:r>
            <a:endParaRPr lang="en-US" sz="1300" dirty="0"/>
          </a:p>
        </p:txBody>
      </p:sp>
      <p:sp>
        <p:nvSpPr>
          <p:cNvPr id="9" name="chip1"/>
          <p:cNvSpPr/>
          <p:nvPr/>
        </p:nvSpPr>
        <p:spPr>
          <a:xfrm>
            <a:off x="3063240" y="4069080"/>
            <a:ext cx="237744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063240" y="41422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담배제품 미사용</a:t>
            </a:r>
            <a:endParaRPr lang="en-US" sz="1300" dirty="0"/>
          </a:p>
        </p:txBody>
      </p:sp>
      <p:sp>
        <p:nvSpPr>
          <p:cNvPr id="11" name="chip2"/>
          <p:cNvSpPr/>
          <p:nvPr/>
        </p:nvSpPr>
        <p:spPr>
          <a:xfrm>
            <a:off x="548640" y="4617720"/>
            <a:ext cx="237744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고위험음주 아님</a:t>
            </a:r>
            <a:endParaRPr lang="en-US" sz="1300" dirty="0"/>
          </a:p>
        </p:txBody>
      </p:sp>
      <p:sp>
        <p:nvSpPr>
          <p:cNvPr id="13" name="chip3"/>
          <p:cNvSpPr/>
          <p:nvPr/>
        </p:nvSpPr>
        <p:spPr>
          <a:xfrm>
            <a:off x="3063240" y="4617720"/>
            <a:ext cx="237744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아침식사 주 5회+</a:t>
            </a:r>
            <a:endParaRPr lang="en-US" sz="1300" dirty="0"/>
          </a:p>
        </p:txBody>
      </p:sp>
      <p:sp>
        <p:nvSpPr>
          <p:cNvPr id="15" name="chip4"/>
          <p:cNvSpPr/>
          <p:nvPr/>
        </p:nvSpPr>
        <p:spPr>
          <a:xfrm>
            <a:off x="548640" y="5166360"/>
            <a:ext cx="2377440" cy="438912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523951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사회적 연결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7607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이웃 신뢰·동네 안전은 생활습관이 아닌 맥락 요인 → 부록으로 분리</a:t>
            </a:r>
            <a:endParaRPr lang="en-US" sz="12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852160" y="1737360"/>
          <a:ext cx="5788152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852160" y="5486400"/>
            <a:ext cx="5788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1개 늘 때마다 OR 0.70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하나씩 빼고 다시 세도 0.67~0.72 · 인구·경제·신체건강 조정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선행연구 대비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같은 조사를 쓴 선행연구보다 해석의 근거를 단단하게 만들었다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9943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Han &amp; Park (2025, JKDISS)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연구 (v2.1)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지역사회건강조사 2022 · 227,366명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지역사회건강조사 2025 · 231,290명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18개 → ML 중요도로 14개 선별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영역 66개 · 선정·수정 유형 기준 사전 지정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스트레스·주관적 건강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핵심 위험요인으로 투입(OR 9.65, 3.38)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PHQ-9와 겹쳐 주 분석에서 분리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학습·시험 분할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개인 단위 무작위 70/30 + SMOTE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가구 단위 분할(가구원 섞임 방지)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성능 지표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Accuracy·macro F1·ROC-AUC 0.841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AP 0.283 · ROC-AUC 0.846 · 보정 기울기 1.02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판정 비율(18.4%)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민감도 약 67% · 정밀도 약 14% (역산)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민감도 68.7% · 정밀도 14.5%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가중 로지스틱 회귀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5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가중치·층·집락 반영, 53개 동시 조정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조사 연도와 분할 방식이 달라 성능 수치는 엄밀한 일대일 비교가 아니다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모형 성능을 읽는 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이 모형은 개인 선별 도구가 아니라 영역별 정보량을 재는 도구다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0.283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 · 무작위 찍기 0.039의 약 7배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17830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0.846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560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ROC-AUC · 판별력 우수 구간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17830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1.02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560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보정 기울기 · 1에 가까울수록 정확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337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민감도 80% 기준으로 1만 명에게 적용하면 (실제 우울 약 390명)</a:t>
            </a:r>
            <a:endParaRPr lang="en-US" sz="1600" dirty="0"/>
          </a:p>
        </p:txBody>
      </p:sp>
      <p:sp>
        <p:nvSpPr>
          <p:cNvPr id="12" name="flow0"/>
          <p:cNvSpPr/>
          <p:nvPr/>
        </p:nvSpPr>
        <p:spPr>
          <a:xfrm>
            <a:off x="548640" y="3840480"/>
            <a:ext cx="26060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502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2,914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고위험 판정</a:t>
            </a:r>
            <a:endParaRPr lang="en-US" sz="1300" dirty="0"/>
          </a:p>
        </p:txBody>
      </p:sp>
      <p:sp>
        <p:nvSpPr>
          <p:cNvPr id="15" name="flow1"/>
          <p:cNvSpPr/>
          <p:nvPr/>
        </p:nvSpPr>
        <p:spPr>
          <a:xfrm>
            <a:off x="3346704" y="3840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CDE0D7"/>
          </a:solidFill>
          <a:ln w="12700">
            <a:solidFill>
              <a:srgbClr val="CDE0D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75304" y="39502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312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3575304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실제 우울을 잡음</a:t>
            </a:r>
            <a:endParaRPr lang="en-US" sz="1300" dirty="0"/>
          </a:p>
        </p:txBody>
      </p:sp>
      <p:sp>
        <p:nvSpPr>
          <p:cNvPr id="18" name="flow2"/>
          <p:cNvSpPr/>
          <p:nvPr/>
        </p:nvSpPr>
        <p:spPr>
          <a:xfrm>
            <a:off x="6144768" y="3840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7DED7"/>
          </a:solidFill>
          <a:ln w="12700">
            <a:solidFill>
              <a:srgbClr val="F7DED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73368" y="39502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2,602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6373368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헛경보</a:t>
            </a:r>
            <a:endParaRPr lang="en-US" sz="1300" dirty="0"/>
          </a:p>
        </p:txBody>
      </p:sp>
      <p:sp>
        <p:nvSpPr>
          <p:cNvPr id="21" name="flow3"/>
          <p:cNvSpPr/>
          <p:nvPr/>
        </p:nvSpPr>
        <p:spPr>
          <a:xfrm>
            <a:off x="8942832" y="3840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0BDAF"/>
          </a:solidFill>
          <a:ln w="12700">
            <a:solidFill>
              <a:srgbClr val="F0BDA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71432" y="39502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78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9171432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놓친 우울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결과변수가 PHQ-9 점수 자체 → 개인 판정은 PHQ-9 9문항이 더 싸고 정확. 머신러닝의 역할은 영역 간 정보량 비교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제언과 스포츠산업 시사점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운동은 사람·생활습관과 함께할 때 우울 비율이 가장 낮다</a:t>
            </a:r>
            <a:endParaRPr lang="en-US" sz="2800" dirty="0"/>
          </a:p>
        </p:txBody>
      </p:sp>
      <p:sp>
        <p:nvSpPr>
          <p:cNvPr id="5" name="rec0"/>
          <p:cNvSpPr/>
          <p:nvPr/>
        </p:nvSpPr>
        <p:spPr>
          <a:xfrm>
            <a:off x="548640" y="1783080"/>
            <a:ext cx="35204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1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교류형 운동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175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신체활동 + 사회적 연결 동시 충족 시 조정 유병률 2.46% (둘 다 아님 5.34%)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동네 걷기 모임·동호회처럼 사람과 함께하는 형태</a:t>
            </a:r>
            <a:endParaRPr lang="en-US" sz="1300" dirty="0"/>
          </a:p>
        </p:txBody>
      </p:sp>
      <p:sp>
        <p:nvSpPr>
          <p:cNvPr id="10" name="rec1"/>
          <p:cNvSpPr/>
          <p:nvPr/>
        </p:nvSpPr>
        <p:spPr>
          <a:xfrm>
            <a:off x="4297680" y="1783080"/>
            <a:ext cx="35204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생활 단위 실천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0175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건강 생활요인 0개 8.7% → 5개 2.1%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운동·아침식사·금연·절주를 함께</a:t>
            </a:r>
            <a:endParaRPr lang="en-US" sz="1300" dirty="0"/>
          </a:p>
        </p:txBody>
      </p:sp>
      <p:sp>
        <p:nvSpPr>
          <p:cNvPr id="15" name="rec2"/>
          <p:cNvSpPr/>
          <p:nvPr/>
        </p:nvSpPr>
        <p:spPr>
          <a:xfrm>
            <a:off x="8046720" y="1783080"/>
            <a:ext cx="35204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210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연령별 맞춤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30175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청년 생활습관 · 중장년 경제 · 노년 신체건강과 의료접근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931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치과 진료, 낙상 예방, 식품 지원을 정신건강과 연계</a:t>
            </a:r>
            <a:endParaRPr lang="en-US" sz="1300" dirty="0"/>
          </a:p>
        </p:txBody>
      </p:sp>
      <p:sp>
        <p:nvSpPr>
          <p:cNvPr id="20" name="industry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" y="5193792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스포츠산업 시사점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생활체육 시설·동호회는 운동을 제공하는 동시에 이웃·친구 관계를 만드는 장이 될 수 있다. 결합 프로그램의 효과는 중재연구로 검증할 과제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한계와 남은 일정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한계를 분명히 하고 피드백을 반영해 마무리한다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한계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2402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횡단면 자료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060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역인과 가능성 → 모든 결과를 '관련 요인'으로 서술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1546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자기보고 측정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PHQ-9 기준 충족은 임상 진단이 아님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0690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측정되지 않은 요인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348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좌식행동 문항 없음, 식생활은 아침식사로 대리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9834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청년층 낮은 성능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3492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AP가 가장 낮아 조사 밖 요인의 영향 가능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남은 일정</a:t>
            </a:r>
            <a:endParaRPr lang="en-US" sz="1800" dirty="0"/>
          </a:p>
        </p:txBody>
      </p:sp>
      <p:sp>
        <p:nvSpPr>
          <p:cNvPr id="15" name="tag0"/>
          <p:cNvSpPr/>
          <p:nvPr/>
        </p:nvSpPr>
        <p:spPr>
          <a:xfrm>
            <a:off x="6400800" y="2240280"/>
            <a:ext cx="96012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23225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완료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543800" y="2313432"/>
            <a:ext cx="4096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분석 v2.1 · 논문 초안 v2.1 (42쪽, STROBE·TRIPOD+AI 대응표)</a:t>
            </a:r>
            <a:endParaRPr lang="en-US" sz="1400" dirty="0"/>
          </a:p>
        </p:txBody>
      </p:sp>
      <p:sp>
        <p:nvSpPr>
          <p:cNvPr id="18" name="tag1"/>
          <p:cNvSpPr/>
          <p:nvPr/>
        </p:nvSpPr>
        <p:spPr>
          <a:xfrm>
            <a:off x="6400800" y="3154680"/>
            <a:ext cx="9601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0" y="32369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다음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543800" y="3227832"/>
            <a:ext cx="4096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중간 프로포절 피드백을 분석·원고에 반영</a:t>
            </a:r>
            <a:endParaRPr lang="en-US" sz="1400" dirty="0"/>
          </a:p>
        </p:txBody>
      </p:sp>
      <p:sp>
        <p:nvSpPr>
          <p:cNvPr id="21" name="tag2"/>
          <p:cNvSpPr/>
          <p:nvPr/>
        </p:nvSpPr>
        <p:spPr>
          <a:xfrm>
            <a:off x="6400800" y="4069080"/>
            <a:ext cx="96012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다음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543800" y="4142232"/>
            <a:ext cx="4096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저자 기재 항목(IRB 심의면제 확인, 코드 공개 방식) 확정</a:t>
            </a:r>
            <a:endParaRPr lang="en-US" sz="1400" dirty="0"/>
          </a:p>
        </p:txBody>
      </p:sp>
      <p:sp>
        <p:nvSpPr>
          <p:cNvPr id="24" name="tag3"/>
          <p:cNvSpPr/>
          <p:nvPr/>
        </p:nvSpPr>
        <p:spPr>
          <a:xfrm>
            <a:off x="6400800" y="4983480"/>
            <a:ext cx="96012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00800" y="50657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최종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543800" y="5056632"/>
            <a:ext cx="4096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논문 최종본 제출과 최종 발표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정리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2880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우울 증상은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여러 영역이 함께 관련되는 복합 현상이다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10241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EF3F2"/>
                </a:solidFill>
              </a:rPr>
              <a:t>모든 영역이 고유한 정보를 더하며, 신체건강의 기여가 가장 크다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EF3F2"/>
                </a:solidFill>
              </a:rPr>
              <a:t>바꿀 수 있는 요인: 식품 불안정·구강 문제·미충족 의료, 그리고 사회적 연결·흡연·아침 결식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EF3F2"/>
                </a:solidFill>
              </a:rPr>
              <a:t>신체활동은 다른 생활습관과 함께 지킬수록 우울 증상 비율이 단계적으로 낮다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EF3F2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질의응답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부록 A1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영역별 변수 구성과 수정 유형 — 바꿀 수 있는 요인의 판정 기준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22376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685800"/>
                <a:gridCol w="1280160"/>
                <a:gridCol w="1737360"/>
                <a:gridCol w="16459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영역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개인 행동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서비스·정책·환경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바꿀 수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인구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신체건강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건강행태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사회관계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생활환경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의료접근·건강정보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심리·증상근접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0" y="178308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개인 행동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138160" y="2167128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신체활동, 흡연, 음주, 식생활, 칫솔질, 연락·사회활동, 검진·접종, 수면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138160" y="310896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 서비스·정책·환경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3493008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소득·식품안정성·경제활동, 체중·구강·낙상, 미충족 의료, 건강정보 이해능력, 동네 환경·이웃 신뢰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443484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 바꿀 수 없음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4818888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나이, 성별, 교육, 혼인, 세대유형, 만성질환 진단, 치매환자 가족, 지역·주택유형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근거: 제6차 국민건강증진종합계획(HP2030) — 건강생활 실천 → A, 비만·손상·건강정보 이해·지역사회 자원 →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부록 A2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생활요인 선정 대응표 — Zhao 등(2023)의 7개 건강 생활 영역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4873752"/>
                <a:gridCol w="14630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생활 영역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 문항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충족 기준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충족률(가중)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신체활동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신체활동 권고 충족 (기준축)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유산소(걷기 또는 중강도 이상) + 근력 주 2일 이상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흡연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담배제품 현재 미사용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궐련·전자담배 모두 현재 사용 아님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80.2%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음주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고위험음주 아님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2회 이상 &amp; 1회 남 7잔·여 5잔 이상이 아님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89.4%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식생활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아침식사 주 5회 이상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지침서 아침식사 실천율(식품군 문항 없어 대리)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56.9%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사회적 연결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사회적 연결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고립 지수 0~1점(1인 가구·드문 연락·사회활동 없음)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수면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주중 7~9시간 (민감도)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증상근접 — 주 점수에서 제외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좌식행동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–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2025년 조사에 문항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–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부록 A3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점수 민감도 — 어느 요인 하나를 빼도 단계적 감소가 유지된다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2651760"/>
                <a:gridCol w="2103120"/>
                <a:gridCol w="213055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요인 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1점당 OR [95% CI]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최저 점수 유병률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최고 점수 유병률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분석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 [0.68, 0.72]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 8.7%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 2.1%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신체활동 권고 제외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0.68 [0.66, 0.71]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 8.4%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 2.6%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담배제품 미사용 제외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 [0.66, 0.72]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 7.7%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 2.0%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고위험음주 아님 제외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0.67 [0.64, 0.70]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 8.5%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 2.1%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아침식사 주 5회 이상 제외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0.68 [0.65, 0.71]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 7.7%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 2.2%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사회적 연결 제외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 [0.70, 0.75]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 6.3%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 2.5%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수면 포함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 [0.63, 0.67]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0~1개 9.3%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 1.5%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모두 인구·경제·신체건강 조정 조사설계 기반 회귀. 양 끝 점수가 1,000명 미만이면 안쪽 점수와 합침(수면 포함 점수의 0~1점)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부록 A4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임계값을 정하면 — 민감도와 정밀도는 맞바꾸는 관계다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1371600"/>
                <a:gridCol w="1188720"/>
                <a:gridCol w="1188720"/>
                <a:gridCol w="1188720"/>
                <a:gridCol w="167335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임계값 기준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임계 확률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 판정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민감도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놓친 우울/1만 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Youden(민감도+특이도 최대)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0.035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76.4%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77.4%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민감도 80%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0.029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80.1%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72.9%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10%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0.085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53.2%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F1 최대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0.156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36.5%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96.6%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247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18.4%(Han &amp; Park 판정 비율)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0.047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18.4%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68.7%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83.6%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B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CatBoost 주 분석, 시험셋 46,528명. Han &amp; Park(2025)의 판정 비율 18.4%는 그 논문의 정확도·macro 재현율·시험셋 인원에서 역산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pression Multidomain">
  <a:themeElements>
    <a:clrScheme name="Depression Multidomain">
      <a:dk1>
        <a:srgbClr val="1C2B33"/>
      </a:dk1>
      <a:lt1>
        <a:srgbClr val="FFFFFF"/>
      </a:lt1>
      <a:dk2>
        <a:srgbClr val="1F4E5A"/>
      </a:dk2>
      <a:lt2>
        <a:srgbClr val="EEF3F2"/>
      </a:lt2>
      <a:accent1>
        <a:srgbClr val="1F4E5A"/>
      </a:accent1>
      <a:accent2>
        <a:srgbClr val="E07A5F"/>
      </a:accent2>
      <a:accent3>
        <a:srgbClr val="81B29A"/>
      </a:accent3>
      <a:accent4>
        <a:srgbClr val="8A979E"/>
      </a:accent4>
      <a:accent5>
        <a:srgbClr val="3D7D8C"/>
      </a:accent5>
      <a:accent6>
        <a:srgbClr val="F2CC8F"/>
      </a:accent6>
      <a:hlink>
        <a:srgbClr val="3D7D8C"/>
      </a:hlink>
      <a:folHlink>
        <a:srgbClr val="6B7A80"/>
      </a:folHlink>
    </a:clrScheme>
    <a:fontScheme name="Depression Multidomain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우울 증상의 다차원 요인 분석 — 중간 프로포절</dc:title>
  <dc:subject>PptxGenJS Presentation</dc:subject>
  <dc:creator>Depression_MultiDomain_Capstone</dc:creator>
  <cp:lastModifiedBy>Depression_MultiDomain_Capstone</cp:lastModifiedBy>
  <cp:revision>1</cp:revision>
  <dcterms:created xsi:type="dcterms:W3CDTF">2026-10-27T07:22:59Z</dcterms:created>
  <dcterms:modified xsi:type="dcterms:W3CDTF">2026-10-27T07:22:59Z</dcterms:modified>
</cp:coreProperties>
</file>