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5bdf396f-bf4f-1096-6c4e-fed519171791}">
          <p14:sldIdLst>
            <p14:sldId id="256"/>
            <p14:sldId id="257"/>
            <p14:sldId id="258"/>
          </p14:sldIdLst>
        </p14:section>
        <p14:section name="자료와 방법" id="{fca92e3a-c73b-4b59-b986-729b40544b97}">
          <p14:sldIdLst>
            <p14:sldId id="259"/>
            <p14:sldId id="260"/>
            <p14:sldId id="261"/>
          </p14:sldIdLst>
        </p14:section>
        <p14:section name="결과" id="{e9543d05-d172-cfbf-c635-f94ff54f5e80}">
          <p14:sldIdLst>
            <p14:sldId id="262"/>
            <p14:sldId id="263"/>
            <p14:sldId id="264"/>
            <p14:sldId id="265"/>
            <p14:sldId id="266"/>
            <p14:sldId id="267"/>
          </p14:sldIdLst>
        </p14:section>
        <p14:section name="의의" id="{5476f30e-9b82-3881-7a31-238931984fc5}">
          <p14:sldIdLst>
            <p14:sldId id="268"/>
            <p14:sldId id="269"/>
          </p14:sldIdLst>
        </p14:section>
        <p14:section name="마무리" id="{71ad1aac-96b0-dc9b-86a9-aebe04a4df82}">
          <p14:sldIdLst>
            <p14:sldId id="270"/>
            <p14:sldId id="271"/>
          </p14:sldIdLst>
        </p14:section>
        <p14:section name="부록" id="{0128d0ae-ecf1-4c36-de59-274d5ee0a5d2}">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단독 정보량 (인구 + 이 영역)</c:v>
                </c:pt>
              </c:strCache>
            </c:strRef>
          </c:tx>
          <c:spPr>
            <a:solidFill>
              <a:srgbClr val="2F5FB3"/>
            </a:solidFill>
            <a:effectLst/>
          </c:spPr>
          <c:invertIfNegative val="0"/>
          <c:dLbls>
            <c:numFmt formatCode="+0.000" sourceLinked="0"/>
            <c:txPr>
              <a:bodyPr/>
              <a:lstStyle/>
              <a:p>
                <a:pPr>
                  <a:defRPr b="0" i="0" strike="noStrike" sz="1200" u="none">
                    <a:solidFill>
                      <a:srgbClr val="1D2430"/>
                    </a:solidFill>
                    <a:latin typeface="+mn-lt"/>
                  </a:defRPr>
                </a:pPr>
              </a:p>
            </c:txPr>
            <c:showLegendKey val="0"/>
            <c:showVal val="1"/>
            <c:showCatName val="0"/>
            <c:showSerName val="0"/>
            <c:showPercent val="0"/>
            <c:showBubbleSize val="0"/>
            <c:showLeaderLines val="0"/>
          </c:dLbls>
          <c:cat>
            <c:multiLvlStrRef>
              <c:f>Sheet1!$A$2:$A$7</c:f>
              <c:multiLvlStrCache>
                <c:ptCount val="6"/>
                <c:lvl>
                  <c:pt idx="0">
                    <c:v>신체건강</c:v>
                  </c:pt>
                  <c:pt idx="1">
                    <c:v>의료접근·건강정보</c:v>
                  </c:pt>
                  <c:pt idx="2">
                    <c:v>경제</c:v>
                  </c:pt>
                  <c:pt idx="3">
                    <c:v>사회관계</c:v>
                  </c:pt>
                  <c:pt idx="4">
                    <c:v>건강행태</c:v>
                  </c:pt>
                  <c:pt idx="5">
                    <c:v>생활환경</c:v>
                  </c:pt>
                </c:lvl>
              </c:multiLvlStrCache>
            </c:multiLvlStrRef>
          </c:cat>
          <c:val>
            <c:numRef>
              <c:f>Sheet1!$B$2:$B$7</c:f>
              <c:numCache>
                <c:formatCode>General</c:formatCode>
                <c:ptCount val="6"/>
                <c:pt idx="0">
                  <c:v>0.09</c:v>
                </c:pt>
                <c:pt idx="1">
                  <c:v>0.063</c:v>
                </c:pt>
                <c:pt idx="2">
                  <c:v>0.061</c:v>
                </c:pt>
                <c:pt idx="3">
                  <c:v>0.043</c:v>
                </c:pt>
                <c:pt idx="4">
                  <c:v>0.043</c:v>
                </c:pt>
                <c:pt idx="5">
                  <c:v>0.022</c:v>
                </c:pt>
              </c:numCache>
            </c:numRef>
          </c:val>
        </c:ser>
        <c:ser>
          <c:idx val="1"/>
          <c:order val="1"/>
          <c:tx>
            <c:strRef>
              <c:f>Sheet1!$C$1</c:f>
              <c:strCache>
                <c:ptCount val="1"/>
                <c:pt idx="0">
                  <c:v>고유 기여 (전체 − 이 영역)</c:v>
                </c:pt>
              </c:strCache>
            </c:strRef>
          </c:tx>
          <c:spPr>
            <a:solidFill>
              <a:srgbClr val="9DB5E6"/>
            </a:solidFill>
            <a:effectLst/>
          </c:spPr>
          <c:invertIfNegative val="0"/>
          <c:dLbls>
            <c:numFmt formatCode="+0.000" sourceLinked="0"/>
            <c:txPr>
              <a:bodyPr/>
              <a:lstStyle/>
              <a:p>
                <a:pPr>
                  <a:defRPr b="0" i="0" strike="noStrike" sz="1200" u="none">
                    <a:solidFill>
                      <a:srgbClr val="1D2430"/>
                    </a:solidFill>
                    <a:latin typeface="+mn-lt"/>
                  </a:defRPr>
                </a:pPr>
              </a:p>
            </c:txPr>
            <c:showLegendKey val="0"/>
            <c:showVal val="1"/>
            <c:showCatName val="0"/>
            <c:showSerName val="0"/>
            <c:showPercent val="0"/>
            <c:showBubbleSize val="0"/>
            <c:showLeaderLines val="0"/>
          </c:dLbls>
          <c:cat>
            <c:multiLvlStrRef>
              <c:f>Sheet1!$A$2:$A$7</c:f>
              <c:multiLvlStrCache>
                <c:ptCount val="6"/>
                <c:lvl>
                  <c:pt idx="0">
                    <c:v>신체건강</c:v>
                  </c:pt>
                  <c:pt idx="1">
                    <c:v>의료접근·건강정보</c:v>
                  </c:pt>
                  <c:pt idx="2">
                    <c:v>경제</c:v>
                  </c:pt>
                  <c:pt idx="3">
                    <c:v>사회관계</c:v>
                  </c:pt>
                  <c:pt idx="4">
                    <c:v>건강행태</c:v>
                  </c:pt>
                  <c:pt idx="5">
                    <c:v>생활환경</c:v>
                  </c:pt>
                </c:lvl>
              </c:multiLvlStrCache>
            </c:multiLvlStrRef>
          </c:cat>
          <c:val>
            <c:numRef>
              <c:f>Sheet1!$C$2:$C$7</c:f>
              <c:numCache>
                <c:formatCode>General</c:formatCode>
                <c:ptCount val="6"/>
                <c:pt idx="0">
                  <c:v>0.036</c:v>
                </c:pt>
                <c:pt idx="1">
                  <c:v>0.02</c:v>
                </c:pt>
                <c:pt idx="2">
                  <c:v>0.018</c:v>
                </c:pt>
                <c:pt idx="3">
                  <c:v>0.015</c:v>
                </c:pt>
                <c:pt idx="4">
                  <c:v>0.02</c:v>
                </c:pt>
                <c:pt idx="5">
                  <c:v>0.009</c:v>
                </c:pt>
              </c:numCache>
            </c:numRef>
          </c:val>
        </c:ser>
        <c:dLbls>
          <c:numFmt formatCode="+0.000" sourceLinked="0"/>
          <c:txPr>
            <a:bodyPr/>
            <a:lstStyle/>
            <a:p>
              <a:pPr>
                <a:defRPr b="0" i="0" strike="noStrike" sz="1200" u="none">
                  <a:solidFill>
                    <a:srgbClr val="1D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D2430"/>
                </a:solidFill>
                <a:latin typeface="+mn-lt"/>
              </a:defRPr>
            </a:pPr>
            <a:endParaRPr lang="en-US"/>
          </a:p>
        </c:txPr>
        <c:crossAx val="2094734552"/>
        <c:crosses val="autoZero"/>
        <c:auto val="1"/>
        <c:lblAlgn val="ctr"/>
        <c:noMultiLvlLbl val="1"/>
      </c:catAx>
      <c:valAx>
        <c:axId val="2094734552"/>
        <c:scaling>
          <c:orientation val="minMax"/>
          <c:max val="0.1"/>
          <c:min val="0"/>
        </c:scaling>
        <c:delete val="0"/>
        <c:axPos val="b"/>
        <c:majorGridlines>
          <c:spPr>
            <a:ln w="6350" cap="flat">
              <a:solidFill>
                <a:srgbClr val="E3E6EA"/>
              </a:solidFill>
              <a:prstDash val="solid"/>
              <a:round/>
            </a:ln>
          </c:spPr>
        </c:majorGridlines>
        <c:numFmt formatCode="0.00" sourceLinked="0"/>
        <c:majorTickMark val="out"/>
        <c:minorTickMark val="none"/>
        <c:tickLblPos val="low"/>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연구에서는 걷기·근력운동과 친구 연락만 보았습니다. 교수님께서 우울을 복합적으로 보라고 하셔서, 같은 조사의 문항을 8개 생활 영역으로 넓혀 네 가지 질문을 세웠습니다. 오늘은 이 네 질문에 대한 중간 결과를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한국 성인의 3.76%가 PHQ-9 기준으로 우울 증상을 보입니다. 운동, 식품 불안정, 구강 건강, 사회적 관계가 각각 우울과 관련된다는 연구는 많습니다. 하지만 대부분 한두 요인만 따로 검증해서, 여러 영역을 한 모형에 넣었을 때 어느 영역이 독립적으로 얼마나 기여하는지는 알 수 없습니다. 같은 조사를 쓴 최근 예측 연구는 스트레스와 주관적 건강을 가장 큰 위험요인으로 꼽았는데, 두 변수는 PHQ-9 문항과 겹쳐 우울로 우울을 설명하는 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질문은 네 가지입니다. 어느 영역이 정보를 가장 많이 갖는지, 그중 바꿀 수 있는 위험 요인이 무엇인지, 연령대마다 다른지, 신체활동이 어떤 생활요인과 함께할 때 유리한지입니다. 앞의 질문 셋 중 영역과 연령 질문은 머신러닝이, 요인과 조합 질문은 조사설계 회귀가 주로 답하고, 다른 방법으로 한 번 더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2025년 지역사회건강조사 원시자료의 성인 231,615명 중 PHQ-9 응답이 없는 325명을 빼고 231,290명을 분석했습니다. 우울 증상 기준을 충족한 사람은 8,704명입니다. 같은 가구원이 학습과 시험에 섞이지 않게 가구 단위로 나눴습니다. 변수는 8개 영역 66개이고, 그중 PHQ-9와 겹치는 증상근접 13개는 비교용으로만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머신러닝은 모형이 예측할 때 어떤 영역과 변수에 얼마나 기대는지를 잽니다. 영역은 하나씩 더하고 빼며 AP 변화를 보고, 변수는 SHAP으로 예측값을 변수별 몫으로 나눕니다. 조사설계 회귀는 다른 요인을 모두 고정했을 때 변수의 응답에 따라 우울 가능성이 몇 배가 되는지를 기준범주와 비교합니다. 예를 들어 식품 불안정은 해당하는 사람이 적어 SHAP 순위는 8위지만, 해당자의 조정 오즈는 3.24배로 가장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AP는 위험이 높다고 본 순서대로 찍어 갈 때 찍힌 사람 중 실제 우울 비율의 평균입니다. 아무 정보 없이 찍으면 유병률인 0.039가 나오는데, 이 모형은 0.283로 약 7배입니다. 예측 확률도 실제와 잘 맞았습니다. 그래서 영역 비교를 믿을 수 있습니다. 하지만 우울군의 80%를 잡으려면 1만 명 중 2,914명을 고위험으로 찍어야 하고 그중 2,602명은 헛경보입니다. 결과변수가 PHQ-9 자체이므로 개인 판정은 9문항을 직접 묻는 편이 낫습니다. 모형의 역할은 영역 비교입니다.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인구 정보만 쓴 모형의 AP는 0.086입니다. 여기에 영역을 하나씩 더하면 신체건강이 가장 크게 올렸습니다. 반대로 전부 넣은 모형에서 하나씩 빼도 7개 영역 모두에서 성능이 유의하게 떨어졌습니다. 어느 영역도 다른 영역으로 대체되지 않는다는 뜻입니다. 신체건강 1위, 생활환경 최하위는 알고리즘을 바꾸고 SHAP과 순열 중요도로 봐도 같았습니다.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머신러닝이 많이 기댄 변수 상위 10개, 오른쪽은 같은 변수가 회귀에서 다른 요인을 고정한 뒤에도 얼마나 강하게 남는지입니다. 10개 중 7개가 회귀에서도 상위 10위 안에 들었습니다. 낙상과 식품 불안정, 체형처럼 두 방법이 함께 가리키는 요인은 해석을 더 믿을 수 있습니다. 아침식사와 이웃 연락처럼 회귀 순위가 낮은 변수는 흔해서 SHAP이 커진 경우로, 해당자 한 명의 관련 강도는 중간 정도입니다.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회귀에서 다른 요인을 모두 고정한 조정 오즈비입니다. 바꿀 수 있는 요인을 국민건강증진종합계획의 분야에 맞춰 미리 두 유형으로 나눴습니다. 위쪽 네모는 서비스나 정책으로 개선할 수 있는 상태로, 식품이 자주 부족한 가구의 오즈가 3.24배였고 씹기가 매우 불편한 경우가 뒤를 이었습니다. 아래쪽 동그라미는 개인이 바꿀 수 있는 행동으로, 친구와 월 1회 미만 연락, 흡연, 아침 결식이 위험 쪽이었습니다.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연령대 안에서 모형을 다시 학습해 영역별 단독 정보량을 비교했습니다. 진한 칸일수록 그 연령대에서 정보가 많은 영역입니다. 19~39세는 건강행태가 신체건강만큼 컸고 경제는 작았습니다. 40~64세는 경제가 가장 컸고, 65세 이상은 신체건강과 의료접근이 두드러졌습니다. 제언을 연령대별로 달리해야 하는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신체활동 권고 충족 여부와 생활요인 하나씩을 묶어 네 집단의 조정 유병률을 비교했습니다. 다섯 쌍 모두 둘 다 지키는 집단(초록)이 가장 낮고 둘 다 안 지키는 집단(흰 원)이 가장 높았습니다. 예를 들어 신체활동과 사회적 연결을 함께 충족하면 2.5%, 둘 다 아니면 5.3%였습니다. 상호작용은 다섯 쌍 모두 유의하지 않았습니다. 함께할 때 특별한 시너지가 생긴다기보다 각자의 관련이 그대로 더해진다는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생활요인은 결과를 보고 고르지 않았습니다. 개인 행동이면서 우울 관련 건강 생활 연구와 국가 건강증진계획의 생활 영역에 속하고, 공식 충족 기준이 있으며, 영역당 하나만 쓰는 규칙으로 정했습니다. 점수는 순서대로 더한 것이 아니라 여섯 가지 중 몇 개를 충족했는지 센 값입니다. 0~1개 9.0%에서 6개 2.1%로 낮아졌고, 1개 늘 때마다 오즈가 약 30% 낮았습니다. 어느 요인 하나를 빼고 다시 세도 같았습니다.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Han과 Park(2025)은 2022년 같은 조사로 우울 위험 예측모형을 만들었습니다. 저희는 PHQ-9와 겹치는 변수를 빼고도 ROC-AUC 0.846로 비슷했고, 같은 비율인 18.4%를 고위험으로 판정하면 민감도 68.7%, 정밀도 14.5%로 같은 수준이었습니다. 여기에 변수 범위, 가구 단위 분할, 낮은 양성 비율에 맞는 지표, 조사설계 회귀를 보완했습니다. 다만 조사 연도와 분할 방식이 달라 엄밀한 일대일 비교는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횡단면 자료라 인과를 말할 수는 없지만, 바꿀 수 있고 관련이 큰 요인을 근거로 세 가지를 제안합니다. 첫째, 운동을 사람을 만나는 자리로 설계하는 것입니다. 둘째, 운동 하나가 아니라 생활 단위로 여러 습관을 함께 다루는 것입니다. 셋째, 연령대마다 다른 핵심 영역에 맞추는 것입니다. 생활체육 현장은 운동과 교류를 함께 제공할 수 있는 곳입니다.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한계는 횡단면 자료라는 점입니다. 우울해서 운동이나 교류가 줄었을 가능성을 배제할 수 없습니다. 모든 변수가 자기보고이고, 2025년 조사에는 좌식행동 문항이 없었습니다. 남은 기간에는 오늘 피드백을 반영해 분석을 확정하고 논문을 마무리하겠습니다.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질문에 대한 답을 한 줄씩 정리하겠습니다. 질문 주시면 부록 자료로 답변드리겠습니다.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수정 유형은 국민건강증진종합계획 분야와 대응시켜 정했습니다. A는 본인이 고르는 행동, B는 제도나 지역사회 개입으로 개선할 수 있는 현재 상태, C는 나이·성별·진단처럼 바꿀 수 없는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Zhao 등(2023)의 7개 건강 생활 영역과 국민건강증진종합계획의 건강생활 실천 분야를 합친 8개 영역에 조사 문항을 하나씩 대응시켰습니다. 좌식행동은 문항이 없어 빠졌고, 수면은 PHQ-9 수면 문항과 겹쳐 민감도 분석으로만 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특정 요인 하나가 결과를 끌고 가는지 보려고 요인을 하나씩 뺀 점수 여섯 가지와 수면을 더한 점수를 다시 계산했습니다. 1점당 오즈비가 모두 비슷했습니다.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모형을 실제 판정에 쓴다면 목적에 따라 임계값을 정해야 합니다. 시험셋을 가구 단위로 반으로 나눠 한쪽에서 임계값을 정하고 다른 쪽에서 평가했습니다.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rtlCol="0"/>
          <a:lstStyle>
            <a:lvl1pPr algn="l" indent="0" marL="0">
              <a:buNone/>
              <a:defRPr lang="en-US" sz="2600" b="1" dirty="0">
                <a:solidFill>
                  <a:srgbClr val="1D2430"/>
                </a:solidFill>
              </a:defRPr>
            </a:lvl1pPr>
          </a:lstStyle>
          <a:p>
            <a:pPr algn="l" indent="0" marL="0">
              <a:buNone/>
            </a:pPr>
            <a:endParaRPr lang="en-US" sz="26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B6472"/>
                </a:solidFill>
              </a:rPr>
              <a:t>자료: 2025 지역사회건강조사 원시자료, 만 19세 이상 성인 231,290명</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rtlCol="0"/>
          <a:lstStyle>
            <a:lvl1pPr algn="l" indent="0" marL="0">
              <a:buNone/>
              <a:defRPr lang="en-US" sz="2600" b="1" dirty="0">
                <a:solidFill>
                  <a:srgbClr val="FFFFFF"/>
                </a:solidFill>
              </a:defRPr>
            </a:lvl1pPr>
          </a:lstStyle>
          <a:p>
            <a:pPr algn="l" indent="0" marL="0">
              <a:buNone/>
            </a:pPr>
            <a:endParaRPr lang="en-US" sz="26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A9B2C0"/>
                </a:solidFill>
              </a:rPr>
              <a:t>자료: 2025 지역사회건강조사 원시자료, 만 19세 이상 성인 231,290명</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2C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X">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rtlCol="0"/>
          <a:lstStyle>
            <a:lvl1pPr algn="l" indent="0" marL="0">
              <a:buNone/>
              <a:defRPr lang="en-US" sz="2400" b="1" dirty="0">
                <a:solidFill>
                  <a:srgbClr val="1D2430"/>
                </a:solidFill>
              </a:defRPr>
            </a:lvl1pPr>
          </a:lstStyle>
          <a:p>
            <a:pPr algn="l" indent="0" marL="0">
              <a:buNone/>
            </a:pPr>
            <a:endParaRPr lang="en-US" sz="24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5B6472"/>
                </a:solidFill>
              </a:rPr>
              <a:t>자료: 2025 지역사회건강조사 원시자료, 만 19세 이상 성인 231,290명</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1D24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548640" y="731520"/>
            <a:ext cx="9144000" cy="365760"/>
          </a:xfrm>
          <a:prstGeom prst="rect">
            <a:avLst/>
          </a:prstGeom>
          <a:noFill/>
          <a:ln/>
        </p:spPr>
        <p:txBody>
          <a:bodyPr wrap="square" lIns="0" tIns="0" rIns="0" bIns="0" rtlCol="0" anchor="t"/>
          <a:lstStyle/>
          <a:p>
            <a:pPr indent="0" marL="0">
              <a:buNone/>
            </a:pPr>
            <a:r>
              <a:rPr lang="en-US" sz="1500" dirty="0">
                <a:solidFill>
                  <a:srgbClr val="A9B2C0"/>
                </a:solidFill>
              </a:rPr>
              <a:t>스포츠융합산업프로젝트실습  중간 프로포절</a:t>
            </a:r>
            <a:endParaRPr lang="en-US" sz="1500" dirty="0"/>
          </a:p>
        </p:txBody>
      </p:sp>
      <p:sp>
        <p:nvSpPr>
          <p:cNvPr id="4" name="Text 1"/>
          <p:cNvSpPr txBox="1"/>
          <p:nvPr/>
        </p:nvSpPr>
        <p:spPr>
          <a:xfrm>
            <a:off x="548640" y="1188720"/>
            <a:ext cx="11094415" cy="1463040"/>
          </a:xfrm>
          <a:prstGeom prst="rect">
            <a:avLst/>
          </a:prstGeom>
          <a:noFill/>
          <a:ln/>
        </p:spPr>
        <p:txBody>
          <a:bodyPr wrap="square" lIns="0" tIns="0" rIns="0" bIns="0" rtlCol="0" anchor="ctr"/>
          <a:lstStyle/>
          <a:p>
            <a:pPr indent="0" marL="0">
              <a:buNone/>
            </a:pPr>
            <a:r>
              <a:rPr lang="en-US" sz="4000" b="1" dirty="0">
                <a:solidFill>
                  <a:srgbClr val="FFFFFF"/>
                </a:solidFill>
              </a:rPr>
              <a:t>한국 성인의 우울 증상을</a:t>
            </a:r>
            <a:endParaRPr lang="en-US" sz="4000" dirty="0"/>
          </a:p>
          <a:p>
            <a:pPr indent="0" marL="0">
              <a:buNone/>
            </a:pPr>
            <a:r>
              <a:rPr lang="en-US" sz="4000" b="1" dirty="0">
                <a:solidFill>
                  <a:srgbClr val="FFFFFF"/>
                </a:solidFill>
              </a:rPr>
              <a:t>여러 생활 영역에서 함께 본다</a:t>
            </a:r>
            <a:endParaRPr lang="en-US" sz="4000" dirty="0"/>
          </a:p>
        </p:txBody>
      </p:sp>
      <p:sp>
        <p:nvSpPr>
          <p:cNvPr id="5" name="Text 2"/>
          <p:cNvSpPr txBox="1"/>
          <p:nvPr/>
        </p:nvSpPr>
        <p:spPr>
          <a:xfrm>
            <a:off x="548640" y="2743200"/>
            <a:ext cx="11094415" cy="411480"/>
          </a:xfrm>
          <a:prstGeom prst="rect">
            <a:avLst/>
          </a:prstGeom>
          <a:noFill/>
          <a:ln/>
        </p:spPr>
        <p:txBody>
          <a:bodyPr wrap="square" lIns="0" tIns="0" rIns="0" bIns="0" rtlCol="0" anchor="t"/>
          <a:lstStyle/>
          <a:p>
            <a:pPr indent="0" marL="0">
              <a:buNone/>
            </a:pPr>
            <a:r>
              <a:rPr lang="en-US" sz="1900" dirty="0">
                <a:solidFill>
                  <a:srgbClr val="F3F5F8"/>
                </a:solidFill>
              </a:rPr>
              <a:t>2025 지역사회건강조사 성인 231,290명을 8개 영역 66개 변수로 분석했다</a:t>
            </a:r>
            <a:endParaRPr lang="en-US" sz="1900" dirty="0"/>
          </a:p>
        </p:txBody>
      </p:sp>
      <p:sp>
        <p:nvSpPr>
          <p:cNvPr id="6" name="Shape 3"/>
          <p:cNvSpPr/>
          <p:nvPr/>
        </p:nvSpPr>
        <p:spPr>
          <a:xfrm>
            <a:off x="548640" y="3611880"/>
            <a:ext cx="2642616" cy="1188720"/>
          </a:xfrm>
          <a:prstGeom prst="roundRect">
            <a:avLst>
              <a:gd name="adj" fmla="val 7692"/>
            </a:avLst>
          </a:prstGeom>
          <a:solidFill>
            <a:srgbClr val="2A3342"/>
          </a:solidFill>
          <a:ln w="9525">
            <a:solidFill>
              <a:srgbClr val="2A3342"/>
            </a:solidFill>
            <a:prstDash val="solid"/>
          </a:ln>
        </p:spPr>
      </p:sp>
      <p:sp>
        <p:nvSpPr>
          <p:cNvPr id="7" name="Text 4"/>
          <p:cNvSpPr txBox="1"/>
          <p:nvPr/>
        </p:nvSpPr>
        <p:spPr>
          <a:xfrm>
            <a:off x="749808" y="3749040"/>
            <a:ext cx="914400" cy="292608"/>
          </a:xfrm>
          <a:prstGeom prst="rect">
            <a:avLst/>
          </a:prstGeom>
          <a:noFill/>
          <a:ln/>
        </p:spPr>
        <p:txBody>
          <a:bodyPr wrap="square" lIns="0" tIns="0" rIns="0" bIns="0" rtlCol="0" anchor="t"/>
          <a:lstStyle/>
          <a:p>
            <a:pPr indent="0" marL="0">
              <a:buNone/>
            </a:pPr>
            <a:r>
              <a:rPr lang="en-US" sz="1300" b="1" dirty="0">
                <a:solidFill>
                  <a:srgbClr val="5BC596"/>
                </a:solidFill>
              </a:rPr>
              <a:t>RQ1</a:t>
            </a:r>
            <a:endParaRPr lang="en-US" sz="1300" dirty="0"/>
          </a:p>
        </p:txBody>
      </p:sp>
      <p:sp>
        <p:nvSpPr>
          <p:cNvPr id="8" name="Text 5"/>
          <p:cNvSpPr txBox="1"/>
          <p:nvPr/>
        </p:nvSpPr>
        <p:spPr>
          <a:xfrm>
            <a:off x="749808" y="4069080"/>
            <a:ext cx="2377440" cy="640080"/>
          </a:xfrm>
          <a:prstGeom prst="rect">
            <a:avLst/>
          </a:prstGeom>
          <a:noFill/>
          <a:ln/>
        </p:spPr>
        <p:txBody>
          <a:bodyPr wrap="square" lIns="0" tIns="0" rIns="0" bIns="0" rtlCol="0" anchor="t"/>
          <a:lstStyle/>
          <a:p>
            <a:pPr indent="0" marL="0">
              <a:buNone/>
            </a:pPr>
            <a:r>
              <a:rPr lang="en-US" sz="1300" dirty="0">
                <a:solidFill>
                  <a:srgbClr val="FFFFFF"/>
                </a:solidFill>
              </a:rPr>
              <a:t>어느 영역이 우울에 대한 정보를 가장 많이 갖는가</a:t>
            </a:r>
            <a:endParaRPr lang="en-US" sz="1300" dirty="0"/>
          </a:p>
        </p:txBody>
      </p:sp>
      <p:sp>
        <p:nvSpPr>
          <p:cNvPr id="9" name="Shape 6"/>
          <p:cNvSpPr/>
          <p:nvPr/>
        </p:nvSpPr>
        <p:spPr>
          <a:xfrm>
            <a:off x="3346704" y="3611880"/>
            <a:ext cx="2642616" cy="1188720"/>
          </a:xfrm>
          <a:prstGeom prst="roundRect">
            <a:avLst>
              <a:gd name="adj" fmla="val 7692"/>
            </a:avLst>
          </a:prstGeom>
          <a:solidFill>
            <a:srgbClr val="2A3342"/>
          </a:solidFill>
          <a:ln w="9525">
            <a:solidFill>
              <a:srgbClr val="2A3342"/>
            </a:solidFill>
            <a:prstDash val="solid"/>
          </a:ln>
        </p:spPr>
      </p:sp>
      <p:sp>
        <p:nvSpPr>
          <p:cNvPr id="10" name="Text 7"/>
          <p:cNvSpPr txBox="1"/>
          <p:nvPr/>
        </p:nvSpPr>
        <p:spPr>
          <a:xfrm>
            <a:off x="3547872" y="3749040"/>
            <a:ext cx="914400" cy="292608"/>
          </a:xfrm>
          <a:prstGeom prst="rect">
            <a:avLst/>
          </a:prstGeom>
          <a:noFill/>
          <a:ln/>
        </p:spPr>
        <p:txBody>
          <a:bodyPr wrap="square" lIns="0" tIns="0" rIns="0" bIns="0" rtlCol="0" anchor="t"/>
          <a:lstStyle/>
          <a:p>
            <a:pPr indent="0" marL="0">
              <a:buNone/>
            </a:pPr>
            <a:r>
              <a:rPr lang="en-US" sz="1300" b="1" dirty="0">
                <a:solidFill>
                  <a:srgbClr val="5BC596"/>
                </a:solidFill>
              </a:rPr>
              <a:t>RQ2</a:t>
            </a:r>
            <a:endParaRPr lang="en-US" sz="1300" dirty="0"/>
          </a:p>
        </p:txBody>
      </p:sp>
      <p:sp>
        <p:nvSpPr>
          <p:cNvPr id="11" name="Text 8"/>
          <p:cNvSpPr txBox="1"/>
          <p:nvPr/>
        </p:nvSpPr>
        <p:spPr>
          <a:xfrm>
            <a:off x="3547872" y="4069080"/>
            <a:ext cx="2377440" cy="640080"/>
          </a:xfrm>
          <a:prstGeom prst="rect">
            <a:avLst/>
          </a:prstGeom>
          <a:noFill/>
          <a:ln/>
        </p:spPr>
        <p:txBody>
          <a:bodyPr wrap="square" lIns="0" tIns="0" rIns="0" bIns="0" rtlCol="0" anchor="t"/>
          <a:lstStyle/>
          <a:p>
            <a:pPr indent="0" marL="0">
              <a:buNone/>
            </a:pPr>
            <a:r>
              <a:rPr lang="en-US" sz="1300" dirty="0">
                <a:solidFill>
                  <a:srgbClr val="FFFFFF"/>
                </a:solidFill>
              </a:rPr>
              <a:t>그중 바꿀 수 있는 위험 요인은 무엇인가</a:t>
            </a:r>
            <a:endParaRPr lang="en-US" sz="1300" dirty="0"/>
          </a:p>
        </p:txBody>
      </p:sp>
      <p:sp>
        <p:nvSpPr>
          <p:cNvPr id="12" name="Shape 9"/>
          <p:cNvSpPr/>
          <p:nvPr/>
        </p:nvSpPr>
        <p:spPr>
          <a:xfrm>
            <a:off x="6144768" y="3611880"/>
            <a:ext cx="2642616" cy="1188720"/>
          </a:xfrm>
          <a:prstGeom prst="roundRect">
            <a:avLst>
              <a:gd name="adj" fmla="val 7692"/>
            </a:avLst>
          </a:prstGeom>
          <a:solidFill>
            <a:srgbClr val="2A3342"/>
          </a:solidFill>
          <a:ln w="9525">
            <a:solidFill>
              <a:srgbClr val="2A3342"/>
            </a:solidFill>
            <a:prstDash val="solid"/>
          </a:ln>
        </p:spPr>
      </p:sp>
      <p:sp>
        <p:nvSpPr>
          <p:cNvPr id="13" name="Text 10"/>
          <p:cNvSpPr txBox="1"/>
          <p:nvPr/>
        </p:nvSpPr>
        <p:spPr>
          <a:xfrm>
            <a:off x="6345936" y="3749040"/>
            <a:ext cx="914400" cy="292608"/>
          </a:xfrm>
          <a:prstGeom prst="rect">
            <a:avLst/>
          </a:prstGeom>
          <a:noFill/>
          <a:ln/>
        </p:spPr>
        <p:txBody>
          <a:bodyPr wrap="square" lIns="0" tIns="0" rIns="0" bIns="0" rtlCol="0" anchor="t"/>
          <a:lstStyle/>
          <a:p>
            <a:pPr indent="0" marL="0">
              <a:buNone/>
            </a:pPr>
            <a:r>
              <a:rPr lang="en-US" sz="1300" b="1" dirty="0">
                <a:solidFill>
                  <a:srgbClr val="5BC596"/>
                </a:solidFill>
              </a:rPr>
              <a:t>RQ3</a:t>
            </a:r>
            <a:endParaRPr lang="en-US" sz="1300" dirty="0"/>
          </a:p>
        </p:txBody>
      </p:sp>
      <p:sp>
        <p:nvSpPr>
          <p:cNvPr id="14" name="Text 11"/>
          <p:cNvSpPr txBox="1"/>
          <p:nvPr/>
        </p:nvSpPr>
        <p:spPr>
          <a:xfrm>
            <a:off x="6345936" y="4069080"/>
            <a:ext cx="2377440" cy="640080"/>
          </a:xfrm>
          <a:prstGeom prst="rect">
            <a:avLst/>
          </a:prstGeom>
          <a:noFill/>
          <a:ln/>
        </p:spPr>
        <p:txBody>
          <a:bodyPr wrap="square" lIns="0" tIns="0" rIns="0" bIns="0" rtlCol="0" anchor="t"/>
          <a:lstStyle/>
          <a:p>
            <a:pPr indent="0" marL="0">
              <a:buNone/>
            </a:pPr>
            <a:r>
              <a:rPr lang="en-US" sz="1300" dirty="0">
                <a:solidFill>
                  <a:srgbClr val="FFFFFF"/>
                </a:solidFill>
              </a:rPr>
              <a:t>연령대마다 핵심 영역이 다른가</a:t>
            </a:r>
            <a:endParaRPr lang="en-US" sz="1300" dirty="0"/>
          </a:p>
        </p:txBody>
      </p:sp>
      <p:sp>
        <p:nvSpPr>
          <p:cNvPr id="15" name="Shape 12"/>
          <p:cNvSpPr/>
          <p:nvPr/>
        </p:nvSpPr>
        <p:spPr>
          <a:xfrm>
            <a:off x="8942832" y="3611880"/>
            <a:ext cx="2642616" cy="1188720"/>
          </a:xfrm>
          <a:prstGeom prst="roundRect">
            <a:avLst>
              <a:gd name="adj" fmla="val 7692"/>
            </a:avLst>
          </a:prstGeom>
          <a:solidFill>
            <a:srgbClr val="2A3342"/>
          </a:solidFill>
          <a:ln w="9525">
            <a:solidFill>
              <a:srgbClr val="2A3342"/>
            </a:solidFill>
            <a:prstDash val="solid"/>
          </a:ln>
        </p:spPr>
      </p:sp>
      <p:sp>
        <p:nvSpPr>
          <p:cNvPr id="16" name="Text 13"/>
          <p:cNvSpPr txBox="1"/>
          <p:nvPr/>
        </p:nvSpPr>
        <p:spPr>
          <a:xfrm>
            <a:off x="9144000" y="3749040"/>
            <a:ext cx="914400" cy="292608"/>
          </a:xfrm>
          <a:prstGeom prst="rect">
            <a:avLst/>
          </a:prstGeom>
          <a:noFill/>
          <a:ln/>
        </p:spPr>
        <p:txBody>
          <a:bodyPr wrap="square" lIns="0" tIns="0" rIns="0" bIns="0" rtlCol="0" anchor="t"/>
          <a:lstStyle/>
          <a:p>
            <a:pPr indent="0" marL="0">
              <a:buNone/>
            </a:pPr>
            <a:r>
              <a:rPr lang="en-US" sz="1300" b="1" dirty="0">
                <a:solidFill>
                  <a:srgbClr val="5BC596"/>
                </a:solidFill>
              </a:rPr>
              <a:t>RQ4</a:t>
            </a:r>
            <a:endParaRPr lang="en-US" sz="1300" dirty="0"/>
          </a:p>
        </p:txBody>
      </p:sp>
      <p:sp>
        <p:nvSpPr>
          <p:cNvPr id="17" name="Text 14"/>
          <p:cNvSpPr txBox="1"/>
          <p:nvPr/>
        </p:nvSpPr>
        <p:spPr>
          <a:xfrm>
            <a:off x="9144000" y="4069080"/>
            <a:ext cx="2377440" cy="640080"/>
          </a:xfrm>
          <a:prstGeom prst="rect">
            <a:avLst/>
          </a:prstGeom>
          <a:noFill/>
          <a:ln/>
        </p:spPr>
        <p:txBody>
          <a:bodyPr wrap="square" lIns="0" tIns="0" rIns="0" bIns="0" rtlCol="0" anchor="t"/>
          <a:lstStyle/>
          <a:p>
            <a:pPr indent="0" marL="0">
              <a:buNone/>
            </a:pPr>
            <a:r>
              <a:rPr lang="en-US" sz="1300" dirty="0">
                <a:solidFill>
                  <a:srgbClr val="FFFFFF"/>
                </a:solidFill>
              </a:rPr>
              <a:t>신체활동은 어떤 생활요인과 함께할 때 유리한가</a:t>
            </a:r>
            <a:endParaRPr lang="en-US" sz="1300" dirty="0"/>
          </a:p>
        </p:txBody>
      </p:sp>
      <p:sp>
        <p:nvSpPr>
          <p:cNvPr id="18" name="Text 15"/>
          <p:cNvSpPr txBox="1"/>
          <p:nvPr/>
        </p:nvSpPr>
        <p:spPr>
          <a:xfrm>
            <a:off x="548640" y="5303520"/>
            <a:ext cx="7315200" cy="411480"/>
          </a:xfrm>
          <a:prstGeom prst="rect">
            <a:avLst/>
          </a:prstGeom>
          <a:noFill/>
          <a:ln/>
        </p:spPr>
        <p:txBody>
          <a:bodyPr wrap="square" lIns="0" tIns="0" rIns="0" bIns="0" rtlCol="0" anchor="t"/>
          <a:lstStyle/>
          <a:p>
            <a:pPr indent="0" marL="0">
              <a:buNone/>
            </a:pPr>
            <a:r>
              <a:rPr lang="en-US" sz="1800" b="1" dirty="0">
                <a:solidFill>
                  <a:srgbClr val="FFFFFF"/>
                </a:solidFill>
              </a:rPr>
              <a:t>[팀명]   </a:t>
            </a:r>
            <a:pPr indent="0" marL="0">
              <a:buNone/>
            </a:pPr>
            <a:r>
              <a:rPr lang="en-US" sz="1800" dirty="0">
                <a:solidFill>
                  <a:srgbClr val="F3F5F8"/>
                </a:solidFill>
              </a:rPr>
              <a:t>[발표자]</a:t>
            </a:r>
            <a:endParaRPr lang="en-US" sz="1800" dirty="0"/>
          </a:p>
        </p:txBody>
      </p:sp>
      <p:sp>
        <p:nvSpPr>
          <p:cNvPr id="19" name="Text 16"/>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100" dirty="0">
                <a:solidFill>
                  <a:srgbClr val="A9B2C0"/>
                </a:solidFill>
              </a:rPr>
              <a:t>결과는 횡단면 자료의 관련성이며 인과 효과가 아니다. PHQ-9 10점 이상은 임상 진단이 아니라 우울 증상 기준 충족이다.</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선행연구는 요인을 하나씩 보았고, 영역끼리 비교하지 않았다</a:t>
            </a:r>
            <a:endParaRPr lang="en-US" sz="26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배경</a:t>
            </a:r>
            <a:endParaRPr lang="en-US" sz="1300" dirty="0"/>
          </a:p>
        </p:txBody>
      </p:sp>
      <p:sp>
        <p:nvSpPr>
          <p:cNvPr id="5" name="Shape 2"/>
          <p:cNvSpPr/>
          <p:nvPr/>
        </p:nvSpPr>
        <p:spPr>
          <a:xfrm>
            <a:off x="548640" y="1783080"/>
            <a:ext cx="3566160" cy="804672"/>
          </a:xfrm>
          <a:prstGeom prst="roundRect">
            <a:avLst>
              <a:gd name="adj" fmla="val 11364"/>
            </a:avLst>
          </a:prstGeom>
          <a:solidFill>
            <a:srgbClr val="F3F5F8"/>
          </a:solidFill>
          <a:ln w="9525">
            <a:solidFill>
              <a:srgbClr val="F3F5F8"/>
            </a:solidFill>
            <a:prstDash val="solid"/>
          </a:ln>
        </p:spPr>
      </p:sp>
      <p:sp>
        <p:nvSpPr>
          <p:cNvPr id="6" name="Text 3"/>
          <p:cNvSpPr txBox="1"/>
          <p:nvPr/>
        </p:nvSpPr>
        <p:spPr>
          <a:xfrm>
            <a:off x="749808" y="1874520"/>
            <a:ext cx="3200400" cy="292608"/>
          </a:xfrm>
          <a:prstGeom prst="rect">
            <a:avLst/>
          </a:prstGeom>
          <a:noFill/>
          <a:ln/>
        </p:spPr>
        <p:txBody>
          <a:bodyPr wrap="square" lIns="0" tIns="0" rIns="0" bIns="0" rtlCol="0" anchor="t"/>
          <a:lstStyle/>
          <a:p>
            <a:pPr indent="0" marL="0">
              <a:buNone/>
            </a:pPr>
            <a:r>
              <a:rPr lang="en-US" sz="1500" b="1" dirty="0">
                <a:solidFill>
                  <a:srgbClr val="1D2430"/>
                </a:solidFill>
              </a:rPr>
              <a:t>운동</a:t>
            </a:r>
            <a:endParaRPr lang="en-US" sz="1500" dirty="0"/>
          </a:p>
        </p:txBody>
      </p:sp>
      <p:sp>
        <p:nvSpPr>
          <p:cNvPr id="7" name="Text 4"/>
          <p:cNvSpPr txBox="1"/>
          <p:nvPr/>
        </p:nvSpPr>
        <p:spPr>
          <a:xfrm>
            <a:off x="749808" y="2194560"/>
            <a:ext cx="3291840" cy="329184"/>
          </a:xfrm>
          <a:prstGeom prst="rect">
            <a:avLst/>
          </a:prstGeom>
          <a:noFill/>
          <a:ln/>
        </p:spPr>
        <p:txBody>
          <a:bodyPr wrap="square" lIns="0" tIns="0" rIns="0" bIns="0" rtlCol="0" anchor="t"/>
          <a:lstStyle/>
          <a:p>
            <a:pPr indent="0" marL="0">
              <a:buNone/>
            </a:pPr>
            <a:r>
              <a:rPr lang="en-US" sz="1100" dirty="0">
                <a:solidFill>
                  <a:srgbClr val="5B6472"/>
                </a:solidFill>
              </a:rPr>
              <a:t>걷기·요가·근력운동이 우울 완화 (Noetel 등, 2024)</a:t>
            </a:r>
            <a:endParaRPr lang="en-US" sz="1100" dirty="0"/>
          </a:p>
        </p:txBody>
      </p:sp>
      <p:sp>
        <p:nvSpPr>
          <p:cNvPr id="8" name="Shape 5"/>
          <p:cNvSpPr/>
          <p:nvPr/>
        </p:nvSpPr>
        <p:spPr>
          <a:xfrm>
            <a:off x="4114800" y="2185416"/>
            <a:ext cx="713232" cy="1453896"/>
          </a:xfrm>
          <a:prstGeom prst="line">
            <a:avLst/>
          </a:prstGeom>
          <a:noFill/>
          <a:ln w="15875">
            <a:solidFill>
              <a:srgbClr val="A9B2C0"/>
            </a:solidFill>
            <a:prstDash val="solid"/>
            <a:tailEnd type="triangle"/>
          </a:ln>
        </p:spPr>
      </p:sp>
      <p:sp>
        <p:nvSpPr>
          <p:cNvPr id="9" name="Shape 6"/>
          <p:cNvSpPr/>
          <p:nvPr/>
        </p:nvSpPr>
        <p:spPr>
          <a:xfrm>
            <a:off x="548640" y="2743200"/>
            <a:ext cx="3566160" cy="804672"/>
          </a:xfrm>
          <a:prstGeom prst="roundRect">
            <a:avLst>
              <a:gd name="adj" fmla="val 11364"/>
            </a:avLst>
          </a:prstGeom>
          <a:solidFill>
            <a:srgbClr val="F3F5F8"/>
          </a:solidFill>
          <a:ln w="9525">
            <a:solidFill>
              <a:srgbClr val="F3F5F8"/>
            </a:solidFill>
            <a:prstDash val="solid"/>
          </a:ln>
        </p:spPr>
      </p:sp>
      <p:sp>
        <p:nvSpPr>
          <p:cNvPr id="10" name="Text 7"/>
          <p:cNvSpPr txBox="1"/>
          <p:nvPr/>
        </p:nvSpPr>
        <p:spPr>
          <a:xfrm>
            <a:off x="749808" y="2834640"/>
            <a:ext cx="3200400" cy="292608"/>
          </a:xfrm>
          <a:prstGeom prst="rect">
            <a:avLst/>
          </a:prstGeom>
          <a:noFill/>
          <a:ln/>
        </p:spPr>
        <p:txBody>
          <a:bodyPr wrap="square" lIns="0" tIns="0" rIns="0" bIns="0" rtlCol="0" anchor="t"/>
          <a:lstStyle/>
          <a:p>
            <a:pPr indent="0" marL="0">
              <a:buNone/>
            </a:pPr>
            <a:r>
              <a:rPr lang="en-US" sz="1500" b="1" dirty="0">
                <a:solidFill>
                  <a:srgbClr val="1D2430"/>
                </a:solidFill>
              </a:rPr>
              <a:t>식품 불안정</a:t>
            </a:r>
            <a:endParaRPr lang="en-US" sz="1500" dirty="0"/>
          </a:p>
        </p:txBody>
      </p:sp>
      <p:sp>
        <p:nvSpPr>
          <p:cNvPr id="11" name="Text 8"/>
          <p:cNvSpPr txBox="1"/>
          <p:nvPr/>
        </p:nvSpPr>
        <p:spPr>
          <a:xfrm>
            <a:off x="749808" y="3154680"/>
            <a:ext cx="3291840" cy="329184"/>
          </a:xfrm>
          <a:prstGeom prst="rect">
            <a:avLst/>
          </a:prstGeom>
          <a:noFill/>
          <a:ln/>
        </p:spPr>
        <p:txBody>
          <a:bodyPr wrap="square" lIns="0" tIns="0" rIns="0" bIns="0" rtlCol="0" anchor="t"/>
          <a:lstStyle/>
          <a:p>
            <a:pPr indent="0" marL="0">
              <a:buNone/>
            </a:pPr>
            <a:r>
              <a:rPr lang="en-US" sz="1100" dirty="0">
                <a:solidFill>
                  <a:srgbClr val="5B6472"/>
                </a:solidFill>
              </a:rPr>
              <a:t>우울 위험 증가와 관련 (Pourmotabbed 등, 2020)</a:t>
            </a:r>
            <a:endParaRPr lang="en-US" sz="1100" dirty="0"/>
          </a:p>
        </p:txBody>
      </p:sp>
      <p:sp>
        <p:nvSpPr>
          <p:cNvPr id="12" name="Shape 9"/>
          <p:cNvSpPr/>
          <p:nvPr/>
        </p:nvSpPr>
        <p:spPr>
          <a:xfrm>
            <a:off x="4114800" y="3145536"/>
            <a:ext cx="713232" cy="493776"/>
          </a:xfrm>
          <a:prstGeom prst="line">
            <a:avLst/>
          </a:prstGeom>
          <a:noFill/>
          <a:ln w="15875">
            <a:solidFill>
              <a:srgbClr val="A9B2C0"/>
            </a:solidFill>
            <a:prstDash val="solid"/>
            <a:tailEnd type="triangle"/>
          </a:ln>
        </p:spPr>
      </p:sp>
      <p:sp>
        <p:nvSpPr>
          <p:cNvPr id="13" name="Shape 10"/>
          <p:cNvSpPr/>
          <p:nvPr/>
        </p:nvSpPr>
        <p:spPr>
          <a:xfrm>
            <a:off x="548640" y="3703320"/>
            <a:ext cx="3566160" cy="804672"/>
          </a:xfrm>
          <a:prstGeom prst="roundRect">
            <a:avLst>
              <a:gd name="adj" fmla="val 11364"/>
            </a:avLst>
          </a:prstGeom>
          <a:solidFill>
            <a:srgbClr val="F3F5F8"/>
          </a:solidFill>
          <a:ln w="9525">
            <a:solidFill>
              <a:srgbClr val="F3F5F8"/>
            </a:solidFill>
            <a:prstDash val="solid"/>
          </a:ln>
        </p:spPr>
      </p:sp>
      <p:sp>
        <p:nvSpPr>
          <p:cNvPr id="14" name="Text 11"/>
          <p:cNvSpPr txBox="1"/>
          <p:nvPr/>
        </p:nvSpPr>
        <p:spPr>
          <a:xfrm>
            <a:off x="749808" y="3794760"/>
            <a:ext cx="3200400" cy="292608"/>
          </a:xfrm>
          <a:prstGeom prst="rect">
            <a:avLst/>
          </a:prstGeom>
          <a:noFill/>
          <a:ln/>
        </p:spPr>
        <p:txBody>
          <a:bodyPr wrap="square" lIns="0" tIns="0" rIns="0" bIns="0" rtlCol="0" anchor="t"/>
          <a:lstStyle/>
          <a:p>
            <a:pPr indent="0" marL="0">
              <a:buNone/>
            </a:pPr>
            <a:r>
              <a:rPr lang="en-US" sz="1500" b="1" dirty="0">
                <a:solidFill>
                  <a:srgbClr val="1D2430"/>
                </a:solidFill>
              </a:rPr>
              <a:t>구강 건강</a:t>
            </a:r>
            <a:endParaRPr lang="en-US" sz="1500" dirty="0"/>
          </a:p>
        </p:txBody>
      </p:sp>
      <p:sp>
        <p:nvSpPr>
          <p:cNvPr id="15" name="Text 12"/>
          <p:cNvSpPr txBox="1"/>
          <p:nvPr/>
        </p:nvSpPr>
        <p:spPr>
          <a:xfrm>
            <a:off x="749808" y="4114800"/>
            <a:ext cx="3291840" cy="329184"/>
          </a:xfrm>
          <a:prstGeom prst="rect">
            <a:avLst/>
          </a:prstGeom>
          <a:noFill/>
          <a:ln/>
        </p:spPr>
        <p:txBody>
          <a:bodyPr wrap="square" lIns="0" tIns="0" rIns="0" bIns="0" rtlCol="0" anchor="t"/>
          <a:lstStyle/>
          <a:p>
            <a:pPr indent="0" marL="0">
              <a:buNone/>
            </a:pPr>
            <a:r>
              <a:rPr lang="en-US" sz="1100" dirty="0">
                <a:solidFill>
                  <a:srgbClr val="5B6472"/>
                </a:solidFill>
              </a:rPr>
              <a:t>우울·불안 장애와 치아 상실 (Kisely 등, 2016)</a:t>
            </a:r>
            <a:endParaRPr lang="en-US" sz="1100" dirty="0"/>
          </a:p>
        </p:txBody>
      </p:sp>
      <p:sp>
        <p:nvSpPr>
          <p:cNvPr id="16" name="Shape 13"/>
          <p:cNvSpPr/>
          <p:nvPr/>
        </p:nvSpPr>
        <p:spPr>
          <a:xfrm flipV="1">
            <a:off x="4114800" y="3639312"/>
            <a:ext cx="713232" cy="466344"/>
          </a:xfrm>
          <a:prstGeom prst="line">
            <a:avLst/>
          </a:prstGeom>
          <a:noFill/>
          <a:ln w="15875">
            <a:solidFill>
              <a:srgbClr val="A9B2C0"/>
            </a:solidFill>
            <a:prstDash val="solid"/>
            <a:tailEnd type="triangle"/>
          </a:ln>
        </p:spPr>
      </p:sp>
      <p:sp>
        <p:nvSpPr>
          <p:cNvPr id="17" name="Shape 14"/>
          <p:cNvSpPr/>
          <p:nvPr/>
        </p:nvSpPr>
        <p:spPr>
          <a:xfrm>
            <a:off x="548640" y="4663440"/>
            <a:ext cx="3566160" cy="804672"/>
          </a:xfrm>
          <a:prstGeom prst="roundRect">
            <a:avLst>
              <a:gd name="adj" fmla="val 11364"/>
            </a:avLst>
          </a:prstGeom>
          <a:solidFill>
            <a:srgbClr val="F3F5F8"/>
          </a:solidFill>
          <a:ln w="9525">
            <a:solidFill>
              <a:srgbClr val="F3F5F8"/>
            </a:solidFill>
            <a:prstDash val="solid"/>
          </a:ln>
        </p:spPr>
      </p:sp>
      <p:sp>
        <p:nvSpPr>
          <p:cNvPr id="18" name="Text 15"/>
          <p:cNvSpPr txBox="1"/>
          <p:nvPr/>
        </p:nvSpPr>
        <p:spPr>
          <a:xfrm>
            <a:off x="749808" y="4754880"/>
            <a:ext cx="3200400" cy="292608"/>
          </a:xfrm>
          <a:prstGeom prst="rect">
            <a:avLst/>
          </a:prstGeom>
          <a:noFill/>
          <a:ln/>
        </p:spPr>
        <p:txBody>
          <a:bodyPr wrap="square" lIns="0" tIns="0" rIns="0" bIns="0" rtlCol="0" anchor="t"/>
          <a:lstStyle/>
          <a:p>
            <a:pPr indent="0" marL="0">
              <a:buNone/>
            </a:pPr>
            <a:r>
              <a:rPr lang="en-US" sz="1500" b="1" dirty="0">
                <a:solidFill>
                  <a:srgbClr val="1D2430"/>
                </a:solidFill>
              </a:rPr>
              <a:t>사회적 연결망</a:t>
            </a:r>
            <a:endParaRPr lang="en-US" sz="1500" dirty="0"/>
          </a:p>
        </p:txBody>
      </p:sp>
      <p:sp>
        <p:nvSpPr>
          <p:cNvPr id="19" name="Text 16"/>
          <p:cNvSpPr txBox="1"/>
          <p:nvPr/>
        </p:nvSpPr>
        <p:spPr>
          <a:xfrm>
            <a:off x="749808" y="5074920"/>
            <a:ext cx="3291840" cy="329184"/>
          </a:xfrm>
          <a:prstGeom prst="rect">
            <a:avLst/>
          </a:prstGeom>
          <a:noFill/>
          <a:ln/>
        </p:spPr>
        <p:txBody>
          <a:bodyPr wrap="square" lIns="0" tIns="0" rIns="0" bIns="0" rtlCol="0" anchor="t"/>
          <a:lstStyle/>
          <a:p>
            <a:pPr indent="0" marL="0">
              <a:buNone/>
            </a:pPr>
            <a:r>
              <a:rPr lang="en-US" sz="1100" dirty="0">
                <a:solidFill>
                  <a:srgbClr val="5B6472"/>
                </a:solidFill>
              </a:rPr>
              <a:t>노인의 연결망·동네 만족과 우울 (Lee 등, 2025)</a:t>
            </a:r>
            <a:endParaRPr lang="en-US" sz="1100" dirty="0"/>
          </a:p>
        </p:txBody>
      </p:sp>
      <p:sp>
        <p:nvSpPr>
          <p:cNvPr id="20" name="Shape 17"/>
          <p:cNvSpPr/>
          <p:nvPr/>
        </p:nvSpPr>
        <p:spPr>
          <a:xfrm flipV="1">
            <a:off x="4114800" y="3639312"/>
            <a:ext cx="713232" cy="1426464"/>
          </a:xfrm>
          <a:prstGeom prst="line">
            <a:avLst/>
          </a:prstGeom>
          <a:noFill/>
          <a:ln w="15875">
            <a:solidFill>
              <a:srgbClr val="A9B2C0"/>
            </a:solidFill>
            <a:prstDash val="solid"/>
            <a:tailEnd type="triangle"/>
          </a:ln>
        </p:spPr>
      </p:sp>
      <p:sp>
        <p:nvSpPr>
          <p:cNvPr id="21" name="Shape 18"/>
          <p:cNvSpPr/>
          <p:nvPr/>
        </p:nvSpPr>
        <p:spPr>
          <a:xfrm>
            <a:off x="4828032" y="2980944"/>
            <a:ext cx="1316736" cy="1316736"/>
          </a:xfrm>
          <a:prstGeom prst="ellipse">
            <a:avLst/>
          </a:prstGeom>
          <a:solidFill>
            <a:srgbClr val="1D2430"/>
          </a:solidFill>
          <a:ln w="12700">
            <a:solidFill>
              <a:srgbClr val="1D2430"/>
            </a:solidFill>
            <a:prstDash val="solid"/>
          </a:ln>
        </p:spPr>
      </p:sp>
      <p:sp>
        <p:nvSpPr>
          <p:cNvPr id="22" name="Text 19"/>
          <p:cNvSpPr txBox="1"/>
          <p:nvPr/>
        </p:nvSpPr>
        <p:spPr>
          <a:xfrm>
            <a:off x="4828032" y="2980944"/>
            <a:ext cx="1316736" cy="1316736"/>
          </a:xfrm>
          <a:prstGeom prst="rect">
            <a:avLst/>
          </a:prstGeom>
          <a:noFill/>
          <a:ln/>
        </p:spPr>
        <p:txBody>
          <a:bodyPr wrap="square" lIns="0" tIns="0" rIns="0" bIns="0" rtlCol="0" anchor="ctr"/>
          <a:lstStyle/>
          <a:p>
            <a:pPr algn="ctr" indent="0" marL="0">
              <a:buNone/>
            </a:pPr>
            <a:r>
              <a:rPr lang="en-US" sz="1500" b="1" dirty="0">
                <a:solidFill>
                  <a:srgbClr val="FFFFFF"/>
                </a:solidFill>
              </a:rPr>
              <a:t>우울 증상</a:t>
            </a:r>
            <a:endParaRPr lang="en-US" sz="1500" dirty="0"/>
          </a:p>
        </p:txBody>
      </p:sp>
      <p:sp>
        <p:nvSpPr>
          <p:cNvPr id="23" name="Shape 20"/>
          <p:cNvSpPr/>
          <p:nvPr/>
        </p:nvSpPr>
        <p:spPr>
          <a:xfrm>
            <a:off x="6812280" y="1783080"/>
            <a:ext cx="4828032" cy="1755648"/>
          </a:xfrm>
          <a:prstGeom prst="roundRect">
            <a:avLst>
              <a:gd name="adj" fmla="val 5208"/>
            </a:avLst>
          </a:prstGeom>
          <a:solidFill>
            <a:srgbClr val="FFFFFF"/>
          </a:solidFill>
          <a:ln w="15875">
            <a:solidFill>
              <a:srgbClr val="E3E6EA"/>
            </a:solidFill>
            <a:prstDash val="solid"/>
          </a:ln>
        </p:spPr>
      </p:sp>
      <p:sp>
        <p:nvSpPr>
          <p:cNvPr id="24" name="Text 21"/>
          <p:cNvSpPr txBox="1"/>
          <p:nvPr/>
        </p:nvSpPr>
        <p:spPr>
          <a:xfrm>
            <a:off x="7040880" y="1984248"/>
            <a:ext cx="868680" cy="310896"/>
          </a:xfrm>
          <a:prstGeom prst="roundRect">
            <a:avLst>
              <a:gd name="adj" fmla="val 47059"/>
            </a:avLst>
          </a:prstGeom>
          <a:solidFill>
            <a:srgbClr val="FBE0DA"/>
          </a:solidFill>
          <a:ln>
            <a:solidFill>
              <a:srgbClr val="FBE0DA"/>
            </a:solidFill>
          </a:ln>
        </p:spPr>
        <p:txBody>
          <a:bodyPr wrap="square" lIns="0" tIns="0" rIns="0" bIns="0" rtlCol="0" anchor="ctr"/>
          <a:lstStyle/>
          <a:p>
            <a:pPr algn="ctr" indent="0" marL="0">
              <a:buNone/>
            </a:pPr>
            <a:r>
              <a:rPr lang="en-US" sz="1200" b="1" dirty="0">
                <a:solidFill>
                  <a:srgbClr val="C2412D"/>
                </a:solidFill>
              </a:rPr>
              <a:t>빈틈 1</a:t>
            </a:r>
            <a:endParaRPr lang="en-US" sz="1200" dirty="0"/>
          </a:p>
        </p:txBody>
      </p:sp>
      <p:sp>
        <p:nvSpPr>
          <p:cNvPr id="25" name="Text 22"/>
          <p:cNvSpPr txBox="1"/>
          <p:nvPr/>
        </p:nvSpPr>
        <p:spPr>
          <a:xfrm>
            <a:off x="7040880" y="2404872"/>
            <a:ext cx="4434840" cy="365760"/>
          </a:xfrm>
          <a:prstGeom prst="rect">
            <a:avLst/>
          </a:prstGeom>
          <a:noFill/>
          <a:ln/>
        </p:spPr>
        <p:txBody>
          <a:bodyPr wrap="square" lIns="0" tIns="0" rIns="0" bIns="0" rtlCol="0" anchor="t"/>
          <a:lstStyle/>
          <a:p>
            <a:pPr indent="0" marL="0">
              <a:buNone/>
            </a:pPr>
            <a:r>
              <a:rPr lang="en-US" sz="1700" b="1" dirty="0">
                <a:solidFill>
                  <a:srgbClr val="1D2430"/>
                </a:solidFill>
              </a:rPr>
              <a:t>영역끼리 비교한 연구가 드물다</a:t>
            </a:r>
            <a:endParaRPr lang="en-US" sz="1700" dirty="0"/>
          </a:p>
        </p:txBody>
      </p:sp>
      <p:sp>
        <p:nvSpPr>
          <p:cNvPr id="26" name="Text 23"/>
          <p:cNvSpPr txBox="1"/>
          <p:nvPr/>
        </p:nvSpPr>
        <p:spPr>
          <a:xfrm>
            <a:off x="7040880" y="2807208"/>
            <a:ext cx="4434840" cy="594360"/>
          </a:xfrm>
          <a:prstGeom prst="rect">
            <a:avLst/>
          </a:prstGeom>
          <a:noFill/>
          <a:ln/>
        </p:spPr>
        <p:txBody>
          <a:bodyPr wrap="square" lIns="0" tIns="0" rIns="0" bIns="0" rtlCol="0" anchor="t"/>
          <a:lstStyle/>
          <a:p>
            <a:pPr indent="0" marL="0">
              <a:buNone/>
            </a:pPr>
            <a:r>
              <a:rPr lang="en-US" sz="1300" dirty="0">
                <a:solidFill>
                  <a:srgbClr val="5B6472"/>
                </a:solidFill>
              </a:rPr>
              <a:t>한 요인의 관련이 다른 영역 요인 때문인지 가릴 수 없다</a:t>
            </a:r>
            <a:endParaRPr lang="en-US" sz="1300" dirty="0"/>
          </a:p>
        </p:txBody>
      </p:sp>
      <p:sp>
        <p:nvSpPr>
          <p:cNvPr id="27" name="Shape 24"/>
          <p:cNvSpPr/>
          <p:nvPr/>
        </p:nvSpPr>
        <p:spPr>
          <a:xfrm>
            <a:off x="6812280" y="3721608"/>
            <a:ext cx="4828032" cy="1755648"/>
          </a:xfrm>
          <a:prstGeom prst="roundRect">
            <a:avLst>
              <a:gd name="adj" fmla="val 5208"/>
            </a:avLst>
          </a:prstGeom>
          <a:solidFill>
            <a:srgbClr val="FFFFFF"/>
          </a:solidFill>
          <a:ln w="15875">
            <a:solidFill>
              <a:srgbClr val="E3E6EA"/>
            </a:solidFill>
            <a:prstDash val="solid"/>
          </a:ln>
        </p:spPr>
      </p:sp>
      <p:sp>
        <p:nvSpPr>
          <p:cNvPr id="28" name="Text 25"/>
          <p:cNvSpPr txBox="1"/>
          <p:nvPr/>
        </p:nvSpPr>
        <p:spPr>
          <a:xfrm>
            <a:off x="7040880" y="3922776"/>
            <a:ext cx="868680" cy="310896"/>
          </a:xfrm>
          <a:prstGeom prst="roundRect">
            <a:avLst>
              <a:gd name="adj" fmla="val 47059"/>
            </a:avLst>
          </a:prstGeom>
          <a:solidFill>
            <a:srgbClr val="FBE0DA"/>
          </a:solidFill>
          <a:ln>
            <a:solidFill>
              <a:srgbClr val="FBE0DA"/>
            </a:solidFill>
          </a:ln>
        </p:spPr>
        <p:txBody>
          <a:bodyPr wrap="square" lIns="0" tIns="0" rIns="0" bIns="0" rtlCol="0" anchor="ctr"/>
          <a:lstStyle/>
          <a:p>
            <a:pPr algn="ctr" indent="0" marL="0">
              <a:buNone/>
            </a:pPr>
            <a:r>
              <a:rPr lang="en-US" sz="1200" b="1" dirty="0">
                <a:solidFill>
                  <a:srgbClr val="C2412D"/>
                </a:solidFill>
              </a:rPr>
              <a:t>빈틈 2</a:t>
            </a:r>
            <a:endParaRPr lang="en-US" sz="1200" dirty="0"/>
          </a:p>
        </p:txBody>
      </p:sp>
      <p:sp>
        <p:nvSpPr>
          <p:cNvPr id="29" name="Text 26"/>
          <p:cNvSpPr txBox="1"/>
          <p:nvPr/>
        </p:nvSpPr>
        <p:spPr>
          <a:xfrm>
            <a:off x="7040880" y="4343400"/>
            <a:ext cx="4434840" cy="365760"/>
          </a:xfrm>
          <a:prstGeom prst="rect">
            <a:avLst/>
          </a:prstGeom>
          <a:noFill/>
          <a:ln/>
        </p:spPr>
        <p:txBody>
          <a:bodyPr wrap="square" lIns="0" tIns="0" rIns="0" bIns="0" rtlCol="0" anchor="t"/>
          <a:lstStyle/>
          <a:p>
            <a:pPr indent="0" marL="0">
              <a:buNone/>
            </a:pPr>
            <a:r>
              <a:rPr lang="en-US" sz="1700" b="1" dirty="0">
                <a:solidFill>
                  <a:srgbClr val="1D2430"/>
                </a:solidFill>
              </a:rPr>
              <a:t>우울과 겹치는 변수로 우울을 설명한다</a:t>
            </a:r>
            <a:endParaRPr lang="en-US" sz="1700" dirty="0"/>
          </a:p>
        </p:txBody>
      </p:sp>
      <p:sp>
        <p:nvSpPr>
          <p:cNvPr id="30" name="Text 27"/>
          <p:cNvSpPr txBox="1"/>
          <p:nvPr/>
        </p:nvSpPr>
        <p:spPr>
          <a:xfrm>
            <a:off x="7040880" y="4745736"/>
            <a:ext cx="4434840" cy="594360"/>
          </a:xfrm>
          <a:prstGeom prst="rect">
            <a:avLst/>
          </a:prstGeom>
          <a:noFill/>
          <a:ln/>
        </p:spPr>
        <p:txBody>
          <a:bodyPr wrap="square" lIns="0" tIns="0" rIns="0" bIns="0" rtlCol="0" anchor="t"/>
          <a:lstStyle/>
          <a:p>
            <a:pPr indent="0" marL="0">
              <a:buNone/>
            </a:pPr>
            <a:r>
              <a:rPr lang="en-US" sz="1300" dirty="0">
                <a:solidFill>
                  <a:srgbClr val="5B6472"/>
                </a:solidFill>
              </a:rPr>
              <a:t>Han &amp; Park(2025): 스트레스 OR 9.65, 주관적 건강 OR 3.38 — PHQ-9 수면·피로 문항과 개념이 겹친다</a:t>
            </a:r>
            <a:endParaRPr lang="en-US" sz="1300" dirty="0"/>
          </a:p>
        </p:txBody>
      </p:sp>
      <p:sp>
        <p:nvSpPr>
          <p:cNvPr id="31" name="Shape 28"/>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32" name="Text 29"/>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현황   </a:t>
            </a:r>
            <a:pPr indent="0" marL="0">
              <a:buNone/>
            </a:pPr>
            <a:r>
              <a:rPr lang="en-US" sz="1300" dirty="0">
                <a:solidFill>
                  <a:srgbClr val="1D2430"/>
                </a:solidFill>
              </a:rPr>
              <a:t>한국 성인 3.76%가 우울 증상 기준 충족(PHQ-9 10점 이상, 가중) — 이 연구의 결과변수</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그래서 네 가지를 묻고, 질문마다 맞는 방법으로 답한다</a:t>
            </a:r>
            <a:endParaRPr lang="en-US" sz="26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연구 질문</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822960"/>
                <a:gridCol w="4572000"/>
                <a:gridCol w="2834640"/>
                <a:gridCol w="2864815"/>
              </a:tblGrid>
              <a:tr h="457200">
                <a:tc>
                  <a:txBody>
                    <a:bodyPr/>
                    <a:lstStyle/>
                    <a:p>
                      <a:pPr indent="0" marL="0">
                        <a:buNone/>
                      </a:pP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5B6472"/>
                          </a:solidFill>
                          <a:latin typeface="맑은 고딕" pitchFamily="34" charset="0"/>
                          <a:ea typeface="맑은 고딕" pitchFamily="34" charset="-122"/>
                          <a:cs typeface="맑은 고딕" pitchFamily="34" charset="-120"/>
                        </a:rPr>
                        <a:t>질문</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2F5FB3"/>
                          </a:solidFill>
                          <a:latin typeface="맑은 고딕" pitchFamily="34" charset="0"/>
                          <a:ea typeface="맑은 고딕" pitchFamily="34" charset="-122"/>
                          <a:cs typeface="맑은 고딕" pitchFamily="34" charset="-120"/>
                        </a:rPr>
                        <a:t>머신러닝 — 정보량</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5B"/>
                          </a:solidFill>
                          <a:latin typeface="맑은 고딕" pitchFamily="34" charset="0"/>
                          <a:ea typeface="맑은 고딕" pitchFamily="34" charset="-122"/>
                          <a:cs typeface="맑은 고딕" pitchFamily="34" charset="-120"/>
                        </a:rPr>
                        <a:t>조사설계 회귀 — 조정 연관</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r>
              <a:tr h="749808">
                <a:tc>
                  <a:txBody>
                    <a:bodyP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RQ1</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D2430"/>
                    </a:solidFill>
                  </a:tcPr>
                </a:tc>
                <a:tc>
                  <a:txBody>
                    <a:bodyPr/>
                    <a:lstStyle/>
                    <a:p>
                      <a:pPr indent="0" marL="0">
                        <a:buNone/>
                      </a:pPr>
                      <a:r>
                        <a:rPr lang="en-US" sz="1500" b="1" dirty="0">
                          <a:solidFill>
                            <a:srgbClr val="1D2430"/>
                          </a:solidFill>
                          <a:latin typeface="맑은 고딕" pitchFamily="34" charset="0"/>
                          <a:ea typeface="맑은 고딕" pitchFamily="34" charset="-122"/>
                          <a:cs typeface="맑은 고딕" pitchFamily="34" charset="-120"/>
                        </a:rPr>
                        <a:t>어느 영역이 우울에 대한 정보를 가장 많이 갖는가</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2F5FB3"/>
                          </a:solidFill>
                          <a:latin typeface="맑은 고딕" pitchFamily="34" charset="0"/>
                          <a:ea typeface="맑은 고딕" pitchFamily="34" charset="-122"/>
                          <a:cs typeface="맑은 고딕" pitchFamily="34" charset="-120"/>
                        </a:rPr>
                        <a:t>영역 추가·제거 ΔAP, SHAP</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3ECFB"/>
                    </a:solidFill>
                  </a:tcPr>
                </a:tc>
                <a:tc>
                  <a:txBody>
                    <a:bodyPr/>
                    <a:lstStyle/>
                    <a:p>
                      <a:pPr indent="0" marL="0">
                        <a:buNone/>
                      </a:pPr>
                      <a:r>
                        <a:rPr lang="en-US" sz="1500" dirty="0">
                          <a:solidFill>
                            <a:srgbClr val="5B6472"/>
                          </a:solidFill>
                          <a:latin typeface="맑은 고딕" pitchFamily="34" charset="0"/>
                          <a:ea typeface="맑은 고딕" pitchFamily="34" charset="-122"/>
                          <a:cs typeface="맑은 고딕" pitchFamily="34" charset="-120"/>
                        </a:rPr>
                        <a:t>변수별 결합검정으로 확인</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r>
              <a:tr h="749808">
                <a:tc>
                  <a:txBody>
                    <a:bodyP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RQ2</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D2430"/>
                    </a:solidFill>
                  </a:tcPr>
                </a:tc>
                <a:tc>
                  <a:txBody>
                    <a:bodyPr/>
                    <a:lstStyle/>
                    <a:p>
                      <a:pPr indent="0" marL="0">
                        <a:buNone/>
                      </a:pPr>
                      <a:r>
                        <a:rPr lang="en-US" sz="1500" b="1" dirty="0">
                          <a:solidFill>
                            <a:srgbClr val="1D2430"/>
                          </a:solidFill>
                          <a:latin typeface="맑은 고딕" pitchFamily="34" charset="0"/>
                          <a:ea typeface="맑은 고딕" pitchFamily="34" charset="-122"/>
                          <a:cs typeface="맑은 고딕" pitchFamily="34" charset="-120"/>
                        </a:rPr>
                        <a:t>그중 바꿀 수 있는 위험 요인은 무엇인가</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dirty="0">
                          <a:solidFill>
                            <a:srgbClr val="5B6472"/>
                          </a:solidFill>
                          <a:latin typeface="맑은 고딕" pitchFamily="34" charset="0"/>
                          <a:ea typeface="맑은 고딕" pitchFamily="34" charset="-122"/>
                          <a:cs typeface="맑은 고딕" pitchFamily="34" charset="-120"/>
                        </a:rPr>
                        <a:t>SHAP으로 확인</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5B"/>
                          </a:solidFill>
                          <a:latin typeface="맑은 고딕" pitchFamily="34" charset="0"/>
                          <a:ea typeface="맑은 고딕" pitchFamily="34" charset="-122"/>
                          <a:cs typeface="맑은 고딕" pitchFamily="34" charset="-120"/>
                        </a:rPr>
                        <a:t>조정 OR + 수정 유형 A/B</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DF3E8"/>
                    </a:solidFill>
                  </a:tcPr>
                </a:tc>
              </a:tr>
              <a:tr h="749808">
                <a:tc>
                  <a:txBody>
                    <a:bodyP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RQ3</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D2430"/>
                    </a:solidFill>
                  </a:tcPr>
                </a:tc>
                <a:tc>
                  <a:txBody>
                    <a:bodyPr/>
                    <a:lstStyle/>
                    <a:p>
                      <a:pPr indent="0" marL="0">
                        <a:buNone/>
                      </a:pPr>
                      <a:r>
                        <a:rPr lang="en-US" sz="1500" b="1" dirty="0">
                          <a:solidFill>
                            <a:srgbClr val="1D2430"/>
                          </a:solidFill>
                          <a:latin typeface="맑은 고딕" pitchFamily="34" charset="0"/>
                          <a:ea typeface="맑은 고딕" pitchFamily="34" charset="-122"/>
                          <a:cs typeface="맑은 고딕" pitchFamily="34" charset="-120"/>
                        </a:rPr>
                        <a:t>연령대마다 핵심 영역이 다른가</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2F5FB3"/>
                          </a:solidFill>
                          <a:latin typeface="맑은 고딕" pitchFamily="34" charset="0"/>
                          <a:ea typeface="맑은 고딕" pitchFamily="34" charset="-122"/>
                          <a:cs typeface="맑은 고딕" pitchFamily="34" charset="-120"/>
                        </a:rPr>
                        <a:t>연령대별 재학습 ΔAP</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E3ECFB"/>
                    </a:solidFill>
                  </a:tcPr>
                </a:tc>
                <a:tc>
                  <a:txBody>
                    <a:bodyPr/>
                    <a:lstStyle/>
                    <a:p>
                      <a:pPr indent="0" marL="0">
                        <a:buNone/>
                      </a:pP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r>
              <a:tr h="749808">
                <a:tc>
                  <a:txBody>
                    <a:bodyP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RQ4</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D2430"/>
                    </a:solidFill>
                  </a:tcPr>
                </a:tc>
                <a:tc>
                  <a:txBody>
                    <a:bodyPr/>
                    <a:lstStyle/>
                    <a:p>
                      <a:pPr indent="0" marL="0">
                        <a:buNone/>
                      </a:pPr>
                      <a:r>
                        <a:rPr lang="en-US" sz="1500" b="1" dirty="0">
                          <a:solidFill>
                            <a:srgbClr val="1D2430"/>
                          </a:solidFill>
                          <a:latin typeface="맑은 고딕" pitchFamily="34" charset="0"/>
                          <a:ea typeface="맑은 고딕" pitchFamily="34" charset="-122"/>
                          <a:cs typeface="맑은 고딕" pitchFamily="34" charset="-120"/>
                        </a:rPr>
                        <a:t>신체활동은 어떤 생활요인과 함께할 때 유리한가</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500" b="1" dirty="0">
                          <a:solidFill>
                            <a:srgbClr val="1F8A5B"/>
                          </a:solidFill>
                          <a:latin typeface="맑은 고딕" pitchFamily="34" charset="0"/>
                          <a:ea typeface="맑은 고딕" pitchFamily="34" charset="-122"/>
                          <a:cs typeface="맑은 고딕" pitchFamily="34" charset="-120"/>
                        </a:rPr>
                        <a:t>조합·점수별 조정 유병률</a:t>
                      </a:r>
                      <a:endParaRPr lang="en-US" sz="1500" dirty="0">
                        <a:latin typeface="맑은 고딕" charset="0"/>
                        <a:ea typeface="맑은 고딕" charset="0"/>
                        <a:cs typeface="맑은 고딕" charset="0"/>
                      </a:endParaRPr>
                    </a:p>
                  </a:txBody>
                  <a:tcPr marL="91440" marR="91440" marT="45720" marB="4572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DF3E8"/>
                    </a:solidFill>
                  </a:tcPr>
                </a:tc>
              </a:tr>
            </a:tbl>
          </a:graphicData>
        </a:graphic>
      </p:graphicFrame>
      <p:sp>
        <p:nvSpPr>
          <p:cNvPr id="6" name="Shape 2"/>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7" name="Text 3"/>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원칙   </a:t>
            </a:r>
            <a:pPr indent="0" marL="0">
              <a:buNone/>
            </a:pPr>
            <a:r>
              <a:rPr lang="en-US" sz="1300" dirty="0">
                <a:solidFill>
                  <a:srgbClr val="1D2430"/>
                </a:solidFill>
              </a:rPr>
              <a:t>PHQ-9와 개념이 겹치는 증상근접 변수 13개(스트레스·수면·주관적 건강 등)는 두 방법 모두 주 분석에서 뺀다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성인 23만 명을 8개 영역 66개 변수로 보았다</a:t>
            </a:r>
            <a:endParaRPr lang="en-US" sz="26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자료와 방법</a:t>
            </a:r>
            <a:endParaRPr lang="en-US" sz="1300" dirty="0"/>
          </a:p>
        </p:txBody>
      </p:sp>
      <p:sp>
        <p:nvSpPr>
          <p:cNvPr id="5" name="Shape 2"/>
          <p:cNvSpPr/>
          <p:nvPr/>
        </p:nvSpPr>
        <p:spPr>
          <a:xfrm>
            <a:off x="548640" y="1783080"/>
            <a:ext cx="3931920" cy="914400"/>
          </a:xfrm>
          <a:prstGeom prst="roundRect">
            <a:avLst>
              <a:gd name="adj" fmla="val 10000"/>
            </a:avLst>
          </a:prstGeom>
          <a:solidFill>
            <a:srgbClr val="F3F5F8"/>
          </a:solidFill>
          <a:ln w="9525">
            <a:solidFill>
              <a:srgbClr val="F3F5F8"/>
            </a:solidFill>
            <a:prstDash val="solid"/>
          </a:ln>
        </p:spPr>
      </p:sp>
      <p:sp>
        <p:nvSpPr>
          <p:cNvPr id="6" name="Text 3"/>
          <p:cNvSpPr txBox="1"/>
          <p:nvPr/>
        </p:nvSpPr>
        <p:spPr>
          <a:xfrm>
            <a:off x="777240" y="1874520"/>
            <a:ext cx="3566160" cy="777240"/>
          </a:xfrm>
          <a:prstGeom prst="rect">
            <a:avLst/>
          </a:prstGeom>
          <a:noFill/>
          <a:ln/>
        </p:spPr>
        <p:txBody>
          <a:bodyPr wrap="square" lIns="0" tIns="0" rIns="0" bIns="0" rtlCol="0" anchor="t"/>
          <a:lstStyle/>
          <a:p>
            <a:pPr indent="0" marL="0">
              <a:buNone/>
            </a:pPr>
            <a:r>
              <a:rPr lang="en-US" sz="2600" b="1" dirty="0">
                <a:solidFill>
                  <a:srgbClr val="1D2430"/>
                </a:solidFill>
              </a:rPr>
              <a:t>231,615</a:t>
            </a:r>
            <a:endParaRPr lang="en-US" sz="1400" dirty="0"/>
          </a:p>
          <a:p>
            <a:pPr indent="0" marL="0">
              <a:buNone/>
            </a:pPr>
            <a:r>
              <a:rPr lang="en-US" sz="1200" dirty="0">
                <a:solidFill>
                  <a:srgbClr val="5B6472"/>
                </a:solidFill>
              </a:rPr>
              <a:t>조사 응답 성인(만 19세 이상)</a:t>
            </a:r>
            <a:endParaRPr lang="en-US" sz="1400" dirty="0"/>
          </a:p>
        </p:txBody>
      </p:sp>
      <p:sp>
        <p:nvSpPr>
          <p:cNvPr id="7" name="Shape 4"/>
          <p:cNvSpPr/>
          <p:nvPr/>
        </p:nvSpPr>
        <p:spPr>
          <a:xfrm>
            <a:off x="2514600" y="2697480"/>
            <a:ext cx="914" cy="274320"/>
          </a:xfrm>
          <a:prstGeom prst="line">
            <a:avLst/>
          </a:prstGeom>
          <a:noFill/>
          <a:ln w="15875">
            <a:solidFill>
              <a:srgbClr val="A9B2C0"/>
            </a:solidFill>
            <a:prstDash val="solid"/>
            <a:tailEnd type="triangle"/>
          </a:ln>
        </p:spPr>
      </p:sp>
      <p:sp>
        <p:nvSpPr>
          <p:cNvPr id="8" name="Shape 5"/>
          <p:cNvSpPr/>
          <p:nvPr/>
        </p:nvSpPr>
        <p:spPr>
          <a:xfrm>
            <a:off x="548640" y="2971800"/>
            <a:ext cx="3931920" cy="914400"/>
          </a:xfrm>
          <a:prstGeom prst="roundRect">
            <a:avLst>
              <a:gd name="adj" fmla="val 10000"/>
            </a:avLst>
          </a:prstGeom>
          <a:solidFill>
            <a:srgbClr val="1D2430"/>
          </a:solidFill>
          <a:ln w="9525">
            <a:solidFill>
              <a:srgbClr val="1D2430"/>
            </a:solidFill>
            <a:prstDash val="solid"/>
          </a:ln>
        </p:spPr>
      </p:sp>
      <p:sp>
        <p:nvSpPr>
          <p:cNvPr id="9" name="Text 6"/>
          <p:cNvSpPr txBox="1"/>
          <p:nvPr/>
        </p:nvSpPr>
        <p:spPr>
          <a:xfrm>
            <a:off x="777240" y="3063240"/>
            <a:ext cx="3566160" cy="777240"/>
          </a:xfrm>
          <a:prstGeom prst="rect">
            <a:avLst/>
          </a:prstGeom>
          <a:noFill/>
          <a:ln/>
        </p:spPr>
        <p:txBody>
          <a:bodyPr wrap="square" lIns="0" tIns="0" rIns="0" bIns="0" rtlCol="0" anchor="t"/>
          <a:lstStyle/>
          <a:p>
            <a:pPr indent="0" marL="0">
              <a:buNone/>
            </a:pPr>
            <a:r>
              <a:rPr lang="en-US" sz="2600" b="1" dirty="0">
                <a:solidFill>
                  <a:srgbClr val="FFFFFF"/>
                </a:solidFill>
              </a:rPr>
              <a:t>231,290</a:t>
            </a:r>
            <a:endParaRPr lang="en-US" sz="1400" dirty="0"/>
          </a:p>
          <a:p>
            <a:pPr indent="0" marL="0">
              <a:buNone/>
            </a:pPr>
            <a:r>
              <a:rPr lang="en-US" sz="1200" dirty="0">
                <a:solidFill>
                  <a:srgbClr val="A9B2C0"/>
                </a:solidFill>
              </a:rPr>
              <a:t>분석 대상 (PHQ-9 결측 325명 제외)</a:t>
            </a:r>
            <a:endParaRPr lang="en-US" sz="1400" dirty="0"/>
          </a:p>
        </p:txBody>
      </p:sp>
      <p:sp>
        <p:nvSpPr>
          <p:cNvPr id="10" name="Shape 7"/>
          <p:cNvSpPr/>
          <p:nvPr/>
        </p:nvSpPr>
        <p:spPr>
          <a:xfrm>
            <a:off x="2514600" y="3886200"/>
            <a:ext cx="914" cy="228600"/>
          </a:xfrm>
          <a:prstGeom prst="line">
            <a:avLst/>
          </a:prstGeom>
          <a:noFill/>
          <a:ln w="15875">
            <a:solidFill>
              <a:srgbClr val="A9B2C0"/>
            </a:solidFill>
            <a:prstDash val="solid"/>
            <a:tailEnd type="triangle"/>
          </a:ln>
        </p:spPr>
      </p:sp>
      <p:sp>
        <p:nvSpPr>
          <p:cNvPr id="11" name="Shape 8"/>
          <p:cNvSpPr/>
          <p:nvPr/>
        </p:nvSpPr>
        <p:spPr>
          <a:xfrm>
            <a:off x="548640" y="4114800"/>
            <a:ext cx="1920240" cy="868680"/>
          </a:xfrm>
          <a:prstGeom prst="roundRect">
            <a:avLst>
              <a:gd name="adj" fmla="val 10526"/>
            </a:avLst>
          </a:prstGeom>
          <a:solidFill>
            <a:srgbClr val="FFFFFF"/>
          </a:solidFill>
          <a:ln w="15875">
            <a:solidFill>
              <a:srgbClr val="E3E6EA"/>
            </a:solidFill>
            <a:prstDash val="solid"/>
          </a:ln>
        </p:spPr>
      </p:sp>
      <p:sp>
        <p:nvSpPr>
          <p:cNvPr id="12" name="Text 9"/>
          <p:cNvSpPr txBox="1"/>
          <p:nvPr/>
        </p:nvSpPr>
        <p:spPr>
          <a:xfrm>
            <a:off x="713232" y="4187952"/>
            <a:ext cx="1691640" cy="731520"/>
          </a:xfrm>
          <a:prstGeom prst="rect">
            <a:avLst/>
          </a:prstGeom>
          <a:noFill/>
          <a:ln/>
        </p:spPr>
        <p:txBody>
          <a:bodyPr wrap="square" lIns="0" tIns="0" rIns="0" bIns="0" rtlCol="0" anchor="t"/>
          <a:lstStyle/>
          <a:p>
            <a:pPr indent="0" marL="0">
              <a:buNone/>
            </a:pPr>
            <a:r>
              <a:rPr lang="en-US" sz="1800" b="1" dirty="0">
                <a:solidFill>
                  <a:srgbClr val="1D2430"/>
                </a:solidFill>
              </a:rPr>
              <a:t>184,762</a:t>
            </a:r>
            <a:endParaRPr lang="en-US" sz="1400" dirty="0"/>
          </a:p>
          <a:p>
            <a:pPr indent="0" marL="0">
              <a:buNone/>
            </a:pPr>
            <a:r>
              <a:rPr lang="en-US" sz="1100" dirty="0">
                <a:solidFill>
                  <a:srgbClr val="5B6472"/>
                </a:solidFill>
              </a:rPr>
              <a:t>학습 · 우울 6,891명</a:t>
            </a:r>
            <a:endParaRPr lang="en-US" sz="1400" dirty="0"/>
          </a:p>
        </p:txBody>
      </p:sp>
      <p:sp>
        <p:nvSpPr>
          <p:cNvPr id="13" name="Shape 10"/>
          <p:cNvSpPr/>
          <p:nvPr/>
        </p:nvSpPr>
        <p:spPr>
          <a:xfrm>
            <a:off x="2560320" y="4114800"/>
            <a:ext cx="1920240" cy="868680"/>
          </a:xfrm>
          <a:prstGeom prst="roundRect">
            <a:avLst>
              <a:gd name="adj" fmla="val 10526"/>
            </a:avLst>
          </a:prstGeom>
          <a:solidFill>
            <a:srgbClr val="FFFFFF"/>
          </a:solidFill>
          <a:ln w="15875">
            <a:solidFill>
              <a:srgbClr val="E3E6EA"/>
            </a:solidFill>
            <a:prstDash val="solid"/>
          </a:ln>
        </p:spPr>
      </p:sp>
      <p:sp>
        <p:nvSpPr>
          <p:cNvPr id="14" name="Text 11"/>
          <p:cNvSpPr txBox="1"/>
          <p:nvPr/>
        </p:nvSpPr>
        <p:spPr>
          <a:xfrm>
            <a:off x="2724912" y="4187952"/>
            <a:ext cx="1691640" cy="731520"/>
          </a:xfrm>
          <a:prstGeom prst="rect">
            <a:avLst/>
          </a:prstGeom>
          <a:noFill/>
          <a:ln/>
        </p:spPr>
        <p:txBody>
          <a:bodyPr wrap="square" lIns="0" tIns="0" rIns="0" bIns="0" rtlCol="0" anchor="t"/>
          <a:lstStyle/>
          <a:p>
            <a:pPr indent="0" marL="0">
              <a:buNone/>
            </a:pPr>
            <a:r>
              <a:rPr lang="en-US" sz="1800" b="1" dirty="0">
                <a:solidFill>
                  <a:srgbClr val="1D2430"/>
                </a:solidFill>
              </a:rPr>
              <a:t>46,528</a:t>
            </a:r>
            <a:endParaRPr lang="en-US" sz="1400" dirty="0"/>
          </a:p>
          <a:p>
            <a:pPr indent="0" marL="0">
              <a:buNone/>
            </a:pPr>
            <a:r>
              <a:rPr lang="en-US" sz="1100" dirty="0">
                <a:solidFill>
                  <a:srgbClr val="5B6472"/>
                </a:solidFill>
              </a:rPr>
              <a:t>시험 · 우울 1,813명</a:t>
            </a:r>
            <a:endParaRPr lang="en-US" sz="1400" dirty="0"/>
          </a:p>
        </p:txBody>
      </p:sp>
      <p:sp>
        <p:nvSpPr>
          <p:cNvPr id="15" name="Text 12"/>
          <p:cNvSpPr txBox="1"/>
          <p:nvPr/>
        </p:nvSpPr>
        <p:spPr>
          <a:xfrm>
            <a:off x="548640" y="5074920"/>
            <a:ext cx="3931920" cy="274320"/>
          </a:xfrm>
          <a:prstGeom prst="rect">
            <a:avLst/>
          </a:prstGeom>
          <a:noFill/>
          <a:ln/>
        </p:spPr>
        <p:txBody>
          <a:bodyPr wrap="square" lIns="0" tIns="0" rIns="0" bIns="0" rtlCol="0" anchor="t"/>
          <a:lstStyle/>
          <a:p>
            <a:pPr indent="0" marL="0">
              <a:buNone/>
            </a:pPr>
            <a:r>
              <a:rPr lang="en-US" sz="1100" dirty="0">
                <a:solidFill>
                  <a:srgbClr val="5B6472"/>
                </a:solidFill>
              </a:rPr>
              <a:t>가구 단위 분할 109,355 / 27,338가구</a:t>
            </a:r>
            <a:endParaRPr lang="en-US" sz="1100" dirty="0"/>
          </a:p>
        </p:txBody>
      </p:sp>
      <p:sp>
        <p:nvSpPr>
          <p:cNvPr id="16" name="Shape 13"/>
          <p:cNvSpPr/>
          <p:nvPr/>
        </p:nvSpPr>
        <p:spPr>
          <a:xfrm>
            <a:off x="4800600" y="1783080"/>
            <a:ext cx="3310128" cy="768096"/>
          </a:xfrm>
          <a:prstGeom prst="roundRect">
            <a:avLst>
              <a:gd name="adj" fmla="val 11905"/>
            </a:avLst>
          </a:prstGeom>
          <a:solidFill>
            <a:srgbClr val="F3F5F8"/>
          </a:solidFill>
          <a:ln w="9525">
            <a:solidFill>
              <a:srgbClr val="F3F5F8"/>
            </a:solidFill>
            <a:prstDash val="solid"/>
          </a:ln>
        </p:spPr>
      </p:sp>
      <p:sp>
        <p:nvSpPr>
          <p:cNvPr id="17" name="Text 14"/>
          <p:cNvSpPr txBox="1"/>
          <p:nvPr/>
        </p:nvSpPr>
        <p:spPr>
          <a:xfrm>
            <a:off x="4983480" y="1856232"/>
            <a:ext cx="3017520" cy="329184"/>
          </a:xfrm>
          <a:prstGeom prst="rect">
            <a:avLst/>
          </a:prstGeom>
          <a:noFill/>
          <a:ln/>
        </p:spPr>
        <p:txBody>
          <a:bodyPr wrap="square" lIns="0" tIns="0" rIns="0" bIns="0" rtlCol="0" anchor="t"/>
          <a:lstStyle/>
          <a:p>
            <a:pPr indent="0" marL="0">
              <a:buNone/>
            </a:pPr>
            <a:r>
              <a:rPr lang="en-US" sz="1500" b="1" dirty="0">
                <a:solidFill>
                  <a:srgbClr val="1D2430"/>
                </a:solidFill>
              </a:rPr>
              <a:t>인구</a:t>
            </a:r>
            <a:pPr indent="0" marL="0">
              <a:buNone/>
            </a:pPr>
            <a:r>
              <a:rPr lang="en-US" sz="1200" dirty="0">
                <a:solidFill>
                  <a:srgbClr val="5B6472"/>
                </a:solidFill>
              </a:rPr>
              <a:t>  5개</a:t>
            </a:r>
            <a:endParaRPr lang="en-US" sz="1500" dirty="0"/>
          </a:p>
        </p:txBody>
      </p:sp>
      <p:sp>
        <p:nvSpPr>
          <p:cNvPr id="18" name="Text 15"/>
          <p:cNvSpPr txBox="1"/>
          <p:nvPr/>
        </p:nvSpPr>
        <p:spPr>
          <a:xfrm>
            <a:off x="4983480" y="2194560"/>
            <a:ext cx="3017520" cy="292608"/>
          </a:xfrm>
          <a:prstGeom prst="rect">
            <a:avLst/>
          </a:prstGeom>
          <a:noFill/>
          <a:ln/>
        </p:spPr>
        <p:txBody>
          <a:bodyPr wrap="square" lIns="0" tIns="0" rIns="0" bIns="0" rtlCol="0" anchor="t"/>
          <a:lstStyle/>
          <a:p>
            <a:pPr indent="0" marL="0">
              <a:buNone/>
            </a:pPr>
            <a:r>
              <a:rPr lang="en-US" sz="1100" dirty="0">
                <a:solidFill>
                  <a:srgbClr val="5B6472"/>
                </a:solidFill>
              </a:rPr>
              <a:t>나이, 성별, 교육, 혼인, 세대유형</a:t>
            </a:r>
            <a:endParaRPr lang="en-US" sz="1100" dirty="0"/>
          </a:p>
        </p:txBody>
      </p:sp>
      <p:sp>
        <p:nvSpPr>
          <p:cNvPr id="19" name="Shape 16"/>
          <p:cNvSpPr/>
          <p:nvPr/>
        </p:nvSpPr>
        <p:spPr>
          <a:xfrm>
            <a:off x="8257032" y="1783080"/>
            <a:ext cx="3310128" cy="768096"/>
          </a:xfrm>
          <a:prstGeom prst="roundRect">
            <a:avLst>
              <a:gd name="adj" fmla="val 11905"/>
            </a:avLst>
          </a:prstGeom>
          <a:solidFill>
            <a:srgbClr val="F3F5F8"/>
          </a:solidFill>
          <a:ln w="9525">
            <a:solidFill>
              <a:srgbClr val="F3F5F8"/>
            </a:solidFill>
            <a:prstDash val="solid"/>
          </a:ln>
        </p:spPr>
      </p:sp>
      <p:sp>
        <p:nvSpPr>
          <p:cNvPr id="20" name="Text 17"/>
          <p:cNvSpPr txBox="1"/>
          <p:nvPr/>
        </p:nvSpPr>
        <p:spPr>
          <a:xfrm>
            <a:off x="8439912" y="1856232"/>
            <a:ext cx="3017520" cy="329184"/>
          </a:xfrm>
          <a:prstGeom prst="rect">
            <a:avLst/>
          </a:prstGeom>
          <a:noFill/>
          <a:ln/>
        </p:spPr>
        <p:txBody>
          <a:bodyPr wrap="square" lIns="0" tIns="0" rIns="0" bIns="0" rtlCol="0" anchor="t"/>
          <a:lstStyle/>
          <a:p>
            <a:pPr indent="0" marL="0">
              <a:buNone/>
            </a:pPr>
            <a:r>
              <a:rPr lang="en-US" sz="1500" b="1" dirty="0">
                <a:solidFill>
                  <a:srgbClr val="1D2430"/>
                </a:solidFill>
              </a:rPr>
              <a:t>경제</a:t>
            </a:r>
            <a:pPr indent="0" marL="0">
              <a:buNone/>
            </a:pPr>
            <a:r>
              <a:rPr lang="en-US" sz="1200" dirty="0">
                <a:solidFill>
                  <a:srgbClr val="5B6472"/>
                </a:solidFill>
              </a:rPr>
              <a:t>  5개</a:t>
            </a:r>
            <a:endParaRPr lang="en-US" sz="1500" dirty="0"/>
          </a:p>
        </p:txBody>
      </p:sp>
      <p:sp>
        <p:nvSpPr>
          <p:cNvPr id="21" name="Text 18"/>
          <p:cNvSpPr txBox="1"/>
          <p:nvPr/>
        </p:nvSpPr>
        <p:spPr>
          <a:xfrm>
            <a:off x="8439912" y="2194560"/>
            <a:ext cx="3017520" cy="292608"/>
          </a:xfrm>
          <a:prstGeom prst="rect">
            <a:avLst/>
          </a:prstGeom>
          <a:noFill/>
          <a:ln/>
        </p:spPr>
        <p:txBody>
          <a:bodyPr wrap="square" lIns="0" tIns="0" rIns="0" bIns="0" rtlCol="0" anchor="t"/>
          <a:lstStyle/>
          <a:p>
            <a:pPr indent="0" marL="0">
              <a:buNone/>
            </a:pPr>
            <a:r>
              <a:rPr lang="en-US" sz="1100" dirty="0">
                <a:solidFill>
                  <a:srgbClr val="5B6472"/>
                </a:solidFill>
              </a:rPr>
              <a:t>소득, 수급, 식품안정성, 직업</a:t>
            </a:r>
            <a:endParaRPr lang="en-US" sz="1100" dirty="0"/>
          </a:p>
        </p:txBody>
      </p:sp>
      <p:sp>
        <p:nvSpPr>
          <p:cNvPr id="22" name="Shape 19"/>
          <p:cNvSpPr/>
          <p:nvPr/>
        </p:nvSpPr>
        <p:spPr>
          <a:xfrm>
            <a:off x="4800600" y="2679192"/>
            <a:ext cx="3310128" cy="768096"/>
          </a:xfrm>
          <a:prstGeom prst="roundRect">
            <a:avLst>
              <a:gd name="adj" fmla="val 11905"/>
            </a:avLst>
          </a:prstGeom>
          <a:solidFill>
            <a:srgbClr val="F3F5F8"/>
          </a:solidFill>
          <a:ln w="9525">
            <a:solidFill>
              <a:srgbClr val="F3F5F8"/>
            </a:solidFill>
            <a:prstDash val="solid"/>
          </a:ln>
        </p:spPr>
      </p:sp>
      <p:sp>
        <p:nvSpPr>
          <p:cNvPr id="23" name="Text 20"/>
          <p:cNvSpPr txBox="1"/>
          <p:nvPr/>
        </p:nvSpPr>
        <p:spPr>
          <a:xfrm>
            <a:off x="4983480" y="2752344"/>
            <a:ext cx="3017520" cy="329184"/>
          </a:xfrm>
          <a:prstGeom prst="rect">
            <a:avLst/>
          </a:prstGeom>
          <a:noFill/>
          <a:ln/>
        </p:spPr>
        <p:txBody>
          <a:bodyPr wrap="square" lIns="0" tIns="0" rIns="0" bIns="0" rtlCol="0" anchor="t"/>
          <a:lstStyle/>
          <a:p>
            <a:pPr indent="0" marL="0">
              <a:buNone/>
            </a:pPr>
            <a:r>
              <a:rPr lang="en-US" sz="1500" b="1" dirty="0">
                <a:solidFill>
                  <a:srgbClr val="1D2430"/>
                </a:solidFill>
              </a:rPr>
              <a:t>신체건강</a:t>
            </a:r>
            <a:pPr indent="0" marL="0">
              <a:buNone/>
            </a:pPr>
            <a:r>
              <a:rPr lang="en-US" sz="1200" dirty="0">
                <a:solidFill>
                  <a:srgbClr val="5B6472"/>
                </a:solidFill>
              </a:rPr>
              <a:t>  9개</a:t>
            </a:r>
            <a:endParaRPr lang="en-US" sz="1500" dirty="0"/>
          </a:p>
        </p:txBody>
      </p:sp>
      <p:sp>
        <p:nvSpPr>
          <p:cNvPr id="24" name="Text 21"/>
          <p:cNvSpPr txBox="1"/>
          <p:nvPr/>
        </p:nvSpPr>
        <p:spPr>
          <a:xfrm>
            <a:off x="4983480" y="3090672"/>
            <a:ext cx="3017520" cy="292608"/>
          </a:xfrm>
          <a:prstGeom prst="rect">
            <a:avLst/>
          </a:prstGeom>
          <a:noFill/>
          <a:ln/>
        </p:spPr>
        <p:txBody>
          <a:bodyPr wrap="square" lIns="0" tIns="0" rIns="0" bIns="0" rtlCol="0" anchor="t"/>
          <a:lstStyle/>
          <a:p>
            <a:pPr indent="0" marL="0">
              <a:buNone/>
            </a:pPr>
            <a:r>
              <a:rPr lang="en-US" sz="1100" dirty="0">
                <a:solidFill>
                  <a:srgbClr val="5B6472"/>
                </a:solidFill>
              </a:rPr>
              <a:t>구강, 저작, 낙상, 체형, 만성질환</a:t>
            </a:r>
            <a:endParaRPr lang="en-US" sz="1100" dirty="0"/>
          </a:p>
        </p:txBody>
      </p:sp>
      <p:sp>
        <p:nvSpPr>
          <p:cNvPr id="25" name="Shape 22"/>
          <p:cNvSpPr/>
          <p:nvPr/>
        </p:nvSpPr>
        <p:spPr>
          <a:xfrm>
            <a:off x="8257032" y="2679192"/>
            <a:ext cx="3310128" cy="768096"/>
          </a:xfrm>
          <a:prstGeom prst="roundRect">
            <a:avLst>
              <a:gd name="adj" fmla="val 11905"/>
            </a:avLst>
          </a:prstGeom>
          <a:solidFill>
            <a:srgbClr val="F3F5F8"/>
          </a:solidFill>
          <a:ln w="9525">
            <a:solidFill>
              <a:srgbClr val="F3F5F8"/>
            </a:solidFill>
            <a:prstDash val="solid"/>
          </a:ln>
        </p:spPr>
      </p:sp>
      <p:sp>
        <p:nvSpPr>
          <p:cNvPr id="26" name="Text 23"/>
          <p:cNvSpPr txBox="1"/>
          <p:nvPr/>
        </p:nvSpPr>
        <p:spPr>
          <a:xfrm>
            <a:off x="8439912" y="2752344"/>
            <a:ext cx="3017520" cy="329184"/>
          </a:xfrm>
          <a:prstGeom prst="rect">
            <a:avLst/>
          </a:prstGeom>
          <a:noFill/>
          <a:ln/>
        </p:spPr>
        <p:txBody>
          <a:bodyPr wrap="square" lIns="0" tIns="0" rIns="0" bIns="0" rtlCol="0" anchor="t"/>
          <a:lstStyle/>
          <a:p>
            <a:pPr indent="0" marL="0">
              <a:buNone/>
            </a:pPr>
            <a:r>
              <a:rPr lang="en-US" sz="1500" b="1" dirty="0">
                <a:solidFill>
                  <a:srgbClr val="1D2430"/>
                </a:solidFill>
              </a:rPr>
              <a:t>건강행태</a:t>
            </a:r>
            <a:pPr indent="0" marL="0">
              <a:buNone/>
            </a:pPr>
            <a:r>
              <a:rPr lang="en-US" sz="1200" dirty="0">
                <a:solidFill>
                  <a:srgbClr val="5B6472"/>
                </a:solidFill>
              </a:rPr>
              <a:t>  12개</a:t>
            </a:r>
            <a:endParaRPr lang="en-US" sz="1500" dirty="0"/>
          </a:p>
        </p:txBody>
      </p:sp>
      <p:sp>
        <p:nvSpPr>
          <p:cNvPr id="27" name="Text 24"/>
          <p:cNvSpPr txBox="1"/>
          <p:nvPr/>
        </p:nvSpPr>
        <p:spPr>
          <a:xfrm>
            <a:off x="8439912" y="3090672"/>
            <a:ext cx="3017520" cy="292608"/>
          </a:xfrm>
          <a:prstGeom prst="rect">
            <a:avLst/>
          </a:prstGeom>
          <a:noFill/>
          <a:ln/>
        </p:spPr>
        <p:txBody>
          <a:bodyPr wrap="square" lIns="0" tIns="0" rIns="0" bIns="0" rtlCol="0" anchor="t"/>
          <a:lstStyle/>
          <a:p>
            <a:pPr indent="0" marL="0">
              <a:buNone/>
            </a:pPr>
            <a:r>
              <a:rPr lang="en-US" sz="1100" dirty="0">
                <a:solidFill>
                  <a:srgbClr val="5B6472"/>
                </a:solidFill>
              </a:rPr>
              <a:t>신체활동, 흡연, 음주, 아침식사</a:t>
            </a:r>
            <a:endParaRPr lang="en-US" sz="1100" dirty="0"/>
          </a:p>
        </p:txBody>
      </p:sp>
      <p:sp>
        <p:nvSpPr>
          <p:cNvPr id="28" name="Shape 25"/>
          <p:cNvSpPr/>
          <p:nvPr/>
        </p:nvSpPr>
        <p:spPr>
          <a:xfrm>
            <a:off x="4800600" y="3575304"/>
            <a:ext cx="3310128" cy="768096"/>
          </a:xfrm>
          <a:prstGeom prst="roundRect">
            <a:avLst>
              <a:gd name="adj" fmla="val 11905"/>
            </a:avLst>
          </a:prstGeom>
          <a:solidFill>
            <a:srgbClr val="F3F5F8"/>
          </a:solidFill>
          <a:ln w="9525">
            <a:solidFill>
              <a:srgbClr val="F3F5F8"/>
            </a:solidFill>
            <a:prstDash val="solid"/>
          </a:ln>
        </p:spPr>
      </p:sp>
      <p:sp>
        <p:nvSpPr>
          <p:cNvPr id="29" name="Text 26"/>
          <p:cNvSpPr txBox="1"/>
          <p:nvPr/>
        </p:nvSpPr>
        <p:spPr>
          <a:xfrm>
            <a:off x="4983480" y="3648456"/>
            <a:ext cx="3017520" cy="329184"/>
          </a:xfrm>
          <a:prstGeom prst="rect">
            <a:avLst/>
          </a:prstGeom>
          <a:noFill/>
          <a:ln/>
        </p:spPr>
        <p:txBody>
          <a:bodyPr wrap="square" lIns="0" tIns="0" rIns="0" bIns="0" rtlCol="0" anchor="t"/>
          <a:lstStyle/>
          <a:p>
            <a:pPr indent="0" marL="0">
              <a:buNone/>
            </a:pPr>
            <a:r>
              <a:rPr lang="en-US" sz="1500" b="1" dirty="0">
                <a:solidFill>
                  <a:srgbClr val="1D2430"/>
                </a:solidFill>
              </a:rPr>
              <a:t>사회관계</a:t>
            </a:r>
            <a:pPr indent="0" marL="0">
              <a:buNone/>
            </a:pPr>
            <a:r>
              <a:rPr lang="en-US" sz="1200" dirty="0">
                <a:solidFill>
                  <a:srgbClr val="5B6472"/>
                </a:solidFill>
              </a:rPr>
              <a:t>  6개</a:t>
            </a:r>
            <a:endParaRPr lang="en-US" sz="1500" dirty="0"/>
          </a:p>
        </p:txBody>
      </p:sp>
      <p:sp>
        <p:nvSpPr>
          <p:cNvPr id="30" name="Text 27"/>
          <p:cNvSpPr txBox="1"/>
          <p:nvPr/>
        </p:nvSpPr>
        <p:spPr>
          <a:xfrm>
            <a:off x="4983480" y="3986784"/>
            <a:ext cx="3017520" cy="292608"/>
          </a:xfrm>
          <a:prstGeom prst="rect">
            <a:avLst/>
          </a:prstGeom>
          <a:noFill/>
          <a:ln/>
        </p:spPr>
        <p:txBody>
          <a:bodyPr wrap="square" lIns="0" tIns="0" rIns="0" bIns="0" rtlCol="0" anchor="t"/>
          <a:lstStyle/>
          <a:p>
            <a:pPr indent="0" marL="0">
              <a:buNone/>
            </a:pPr>
            <a:r>
              <a:rPr lang="en-US" sz="1100" dirty="0">
                <a:solidFill>
                  <a:srgbClr val="5B6472"/>
                </a:solidFill>
              </a:rPr>
              <a:t>친구·친척·이웃 연락, 이웃 신뢰</a:t>
            </a:r>
            <a:endParaRPr lang="en-US" sz="1100" dirty="0"/>
          </a:p>
        </p:txBody>
      </p:sp>
      <p:sp>
        <p:nvSpPr>
          <p:cNvPr id="31" name="Shape 28"/>
          <p:cNvSpPr/>
          <p:nvPr/>
        </p:nvSpPr>
        <p:spPr>
          <a:xfrm>
            <a:off x="8257032" y="3575304"/>
            <a:ext cx="3310128" cy="768096"/>
          </a:xfrm>
          <a:prstGeom prst="roundRect">
            <a:avLst>
              <a:gd name="adj" fmla="val 11905"/>
            </a:avLst>
          </a:prstGeom>
          <a:solidFill>
            <a:srgbClr val="F3F5F8"/>
          </a:solidFill>
          <a:ln w="9525">
            <a:solidFill>
              <a:srgbClr val="F3F5F8"/>
            </a:solidFill>
            <a:prstDash val="solid"/>
          </a:ln>
        </p:spPr>
      </p:sp>
      <p:sp>
        <p:nvSpPr>
          <p:cNvPr id="32" name="Text 29"/>
          <p:cNvSpPr txBox="1"/>
          <p:nvPr/>
        </p:nvSpPr>
        <p:spPr>
          <a:xfrm>
            <a:off x="8439912" y="3648456"/>
            <a:ext cx="3017520" cy="329184"/>
          </a:xfrm>
          <a:prstGeom prst="rect">
            <a:avLst/>
          </a:prstGeom>
          <a:noFill/>
          <a:ln/>
        </p:spPr>
        <p:txBody>
          <a:bodyPr wrap="square" lIns="0" tIns="0" rIns="0" bIns="0" rtlCol="0" anchor="t"/>
          <a:lstStyle/>
          <a:p>
            <a:pPr indent="0" marL="0">
              <a:buNone/>
            </a:pPr>
            <a:r>
              <a:rPr lang="en-US" sz="1500" b="1" dirty="0">
                <a:solidFill>
                  <a:srgbClr val="1D2430"/>
                </a:solidFill>
              </a:rPr>
              <a:t>생활환경</a:t>
            </a:r>
            <a:pPr indent="0" marL="0">
              <a:buNone/>
            </a:pPr>
            <a:r>
              <a:rPr lang="en-US" sz="1200" dirty="0">
                <a:solidFill>
                  <a:srgbClr val="5B6472"/>
                </a:solidFill>
              </a:rPr>
              <a:t>  8개</a:t>
            </a:r>
            <a:endParaRPr lang="en-US" sz="1500" dirty="0"/>
          </a:p>
        </p:txBody>
      </p:sp>
      <p:sp>
        <p:nvSpPr>
          <p:cNvPr id="33" name="Text 30"/>
          <p:cNvSpPr txBox="1"/>
          <p:nvPr/>
        </p:nvSpPr>
        <p:spPr>
          <a:xfrm>
            <a:off x="8439912" y="3986784"/>
            <a:ext cx="3017520" cy="292608"/>
          </a:xfrm>
          <a:prstGeom prst="rect">
            <a:avLst/>
          </a:prstGeom>
          <a:noFill/>
          <a:ln/>
        </p:spPr>
        <p:txBody>
          <a:bodyPr wrap="square" lIns="0" tIns="0" rIns="0" bIns="0" rtlCol="0" anchor="t"/>
          <a:lstStyle/>
          <a:p>
            <a:pPr indent="0" marL="0">
              <a:buNone/>
            </a:pPr>
            <a:r>
              <a:rPr lang="en-US" sz="1100" dirty="0">
                <a:solidFill>
                  <a:srgbClr val="5B6472"/>
                </a:solidFill>
              </a:rPr>
              <a:t>동네 안전·환경 만족, 지역</a:t>
            </a:r>
            <a:endParaRPr lang="en-US" sz="1100" dirty="0"/>
          </a:p>
        </p:txBody>
      </p:sp>
      <p:sp>
        <p:nvSpPr>
          <p:cNvPr id="34" name="Shape 31"/>
          <p:cNvSpPr/>
          <p:nvPr/>
        </p:nvSpPr>
        <p:spPr>
          <a:xfrm>
            <a:off x="4800600" y="4471416"/>
            <a:ext cx="3310128" cy="768096"/>
          </a:xfrm>
          <a:prstGeom prst="roundRect">
            <a:avLst>
              <a:gd name="adj" fmla="val 11905"/>
            </a:avLst>
          </a:prstGeom>
          <a:solidFill>
            <a:srgbClr val="F3F5F8"/>
          </a:solidFill>
          <a:ln w="9525">
            <a:solidFill>
              <a:srgbClr val="F3F5F8"/>
            </a:solidFill>
            <a:prstDash val="solid"/>
          </a:ln>
        </p:spPr>
      </p:sp>
      <p:sp>
        <p:nvSpPr>
          <p:cNvPr id="35" name="Text 32"/>
          <p:cNvSpPr txBox="1"/>
          <p:nvPr/>
        </p:nvSpPr>
        <p:spPr>
          <a:xfrm>
            <a:off x="4983480" y="4544568"/>
            <a:ext cx="3017520" cy="329184"/>
          </a:xfrm>
          <a:prstGeom prst="rect">
            <a:avLst/>
          </a:prstGeom>
          <a:noFill/>
          <a:ln/>
        </p:spPr>
        <p:txBody>
          <a:bodyPr wrap="square" lIns="0" tIns="0" rIns="0" bIns="0" rtlCol="0" anchor="t"/>
          <a:lstStyle/>
          <a:p>
            <a:pPr indent="0" marL="0">
              <a:buNone/>
            </a:pPr>
            <a:r>
              <a:rPr lang="en-US" sz="1500" b="1" dirty="0">
                <a:solidFill>
                  <a:srgbClr val="1D2430"/>
                </a:solidFill>
              </a:rPr>
              <a:t>의료접근·건강정보</a:t>
            </a:r>
            <a:pPr indent="0" marL="0">
              <a:buNone/>
            </a:pPr>
            <a:r>
              <a:rPr lang="en-US" sz="1200" dirty="0">
                <a:solidFill>
                  <a:srgbClr val="5B6472"/>
                </a:solidFill>
              </a:rPr>
              <a:t>  8개</a:t>
            </a:r>
            <a:endParaRPr lang="en-US" sz="1500" dirty="0"/>
          </a:p>
        </p:txBody>
      </p:sp>
      <p:sp>
        <p:nvSpPr>
          <p:cNvPr id="36" name="Text 33"/>
          <p:cNvSpPr txBox="1"/>
          <p:nvPr/>
        </p:nvSpPr>
        <p:spPr>
          <a:xfrm>
            <a:off x="4983480" y="4882896"/>
            <a:ext cx="3017520" cy="292608"/>
          </a:xfrm>
          <a:prstGeom prst="rect">
            <a:avLst/>
          </a:prstGeom>
          <a:noFill/>
          <a:ln/>
        </p:spPr>
        <p:txBody>
          <a:bodyPr wrap="square" lIns="0" tIns="0" rIns="0" bIns="0" rtlCol="0" anchor="t"/>
          <a:lstStyle/>
          <a:p>
            <a:pPr indent="0" marL="0">
              <a:buNone/>
            </a:pPr>
            <a:r>
              <a:rPr lang="en-US" sz="1100" dirty="0">
                <a:solidFill>
                  <a:srgbClr val="5B6472"/>
                </a:solidFill>
              </a:rPr>
              <a:t>미충족 의료·치과, 건강정보 이해</a:t>
            </a:r>
            <a:endParaRPr lang="en-US" sz="1100" dirty="0"/>
          </a:p>
        </p:txBody>
      </p:sp>
      <p:sp>
        <p:nvSpPr>
          <p:cNvPr id="37" name="Shape 34"/>
          <p:cNvSpPr/>
          <p:nvPr/>
        </p:nvSpPr>
        <p:spPr>
          <a:xfrm>
            <a:off x="8257032" y="4471416"/>
            <a:ext cx="3310128" cy="768096"/>
          </a:xfrm>
          <a:prstGeom prst="roundRect">
            <a:avLst>
              <a:gd name="adj" fmla="val 11905"/>
            </a:avLst>
          </a:prstGeom>
          <a:solidFill>
            <a:srgbClr val="FFFFFF"/>
          </a:solidFill>
          <a:ln w="15875">
            <a:solidFill>
              <a:srgbClr val="A9B2C0"/>
            </a:solidFill>
            <a:prstDash val="dash"/>
          </a:ln>
        </p:spPr>
      </p:sp>
      <p:sp>
        <p:nvSpPr>
          <p:cNvPr id="38" name="Text 35"/>
          <p:cNvSpPr txBox="1"/>
          <p:nvPr/>
        </p:nvSpPr>
        <p:spPr>
          <a:xfrm>
            <a:off x="8439912" y="4544568"/>
            <a:ext cx="3017520" cy="329184"/>
          </a:xfrm>
          <a:prstGeom prst="rect">
            <a:avLst/>
          </a:prstGeom>
          <a:noFill/>
          <a:ln/>
        </p:spPr>
        <p:txBody>
          <a:bodyPr wrap="square" lIns="0" tIns="0" rIns="0" bIns="0" rtlCol="0" anchor="t"/>
          <a:lstStyle/>
          <a:p>
            <a:pPr indent="0" marL="0">
              <a:buNone/>
            </a:pPr>
            <a:r>
              <a:rPr lang="en-US" sz="1500" b="1" dirty="0">
                <a:solidFill>
                  <a:srgbClr val="5B6472"/>
                </a:solidFill>
              </a:rPr>
              <a:t>심리·증상근접</a:t>
            </a:r>
            <a:pPr indent="0" marL="0">
              <a:buNone/>
            </a:pPr>
            <a:r>
              <a:rPr lang="en-US" sz="1200" dirty="0">
                <a:solidFill>
                  <a:srgbClr val="5B6472"/>
                </a:solidFill>
              </a:rPr>
              <a:t>  13개</a:t>
            </a:r>
            <a:endParaRPr lang="en-US" sz="1500" dirty="0"/>
          </a:p>
        </p:txBody>
      </p:sp>
      <p:sp>
        <p:nvSpPr>
          <p:cNvPr id="39" name="Text 36"/>
          <p:cNvSpPr txBox="1"/>
          <p:nvPr/>
        </p:nvSpPr>
        <p:spPr>
          <a:xfrm>
            <a:off x="8439912" y="4882896"/>
            <a:ext cx="3017520" cy="292608"/>
          </a:xfrm>
          <a:prstGeom prst="rect">
            <a:avLst/>
          </a:prstGeom>
          <a:noFill/>
          <a:ln/>
        </p:spPr>
        <p:txBody>
          <a:bodyPr wrap="square" lIns="0" tIns="0" rIns="0" bIns="0" rtlCol="0" anchor="t"/>
          <a:lstStyle/>
          <a:p>
            <a:pPr indent="0" marL="0">
              <a:buNone/>
            </a:pPr>
            <a:r>
              <a:rPr lang="en-US" sz="1100" dirty="0">
                <a:solidFill>
                  <a:srgbClr val="5B6472"/>
                </a:solidFill>
              </a:rPr>
              <a:t>스트레스, 수면, 주관적 건강 — 주 분석 제외</a:t>
            </a:r>
            <a:endParaRPr lang="en-US" sz="1100" dirty="0"/>
          </a:p>
        </p:txBody>
      </p:sp>
      <p:sp>
        <p:nvSpPr>
          <p:cNvPr id="40" name="Shape 37"/>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41" name="Text 38"/>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결과변수   </a:t>
            </a:r>
            <a:pPr indent="0" marL="0">
              <a:buNone/>
            </a:pPr>
            <a:r>
              <a:rPr lang="en-US" sz="1300" dirty="0">
                <a:solidFill>
                  <a:srgbClr val="1D2430"/>
                </a:solidFill>
              </a:rPr>
              <a:t>PHQ-9 총점 10점 이상 = 우울 증상 기준 충족 · 8,704명 (가중 3.76%)</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두 방법은 같은 변수를 보면서도 서로 다른 것을 잰다</a:t>
            </a:r>
            <a:endParaRPr lang="en-US" sz="26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자료와 방법</a:t>
            </a:r>
            <a:endParaRPr lang="en-US" sz="1300" dirty="0"/>
          </a:p>
        </p:txBody>
      </p:sp>
      <p:sp>
        <p:nvSpPr>
          <p:cNvPr id="5" name="Text 2"/>
          <p:cNvSpPr txBox="1"/>
          <p:nvPr/>
        </p:nvSpPr>
        <p:spPr>
          <a:xfrm>
            <a:off x="10202875" y="292608"/>
            <a:ext cx="14401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조사설계 회귀</a:t>
            </a:r>
            <a:endParaRPr lang="en-US" sz="1200" dirty="0"/>
          </a:p>
        </p:txBody>
      </p:sp>
      <p:sp>
        <p:nvSpPr>
          <p:cNvPr id="6" name="Text 3"/>
          <p:cNvSpPr txBox="1"/>
          <p:nvPr/>
        </p:nvSpPr>
        <p:spPr>
          <a:xfrm>
            <a:off x="9105595" y="292608"/>
            <a:ext cx="987552" cy="310896"/>
          </a:xfrm>
          <a:prstGeom prst="roundRect">
            <a:avLst>
              <a:gd name="adj" fmla="val 47059"/>
            </a:avLst>
          </a:prstGeom>
          <a:solidFill>
            <a:srgbClr val="E3ECFB"/>
          </a:solidFill>
          <a:ln>
            <a:solidFill>
              <a:srgbClr val="E3ECFB"/>
            </a:solidFill>
          </a:ln>
        </p:spPr>
        <p:txBody>
          <a:bodyPr wrap="square" lIns="0" tIns="0" rIns="0" bIns="0" rtlCol="0" anchor="ctr"/>
          <a:lstStyle/>
          <a:p>
            <a:pPr algn="ctr" indent="0" marL="0">
              <a:buNone/>
            </a:pPr>
            <a:r>
              <a:rPr lang="en-US" sz="1200" b="1" dirty="0">
                <a:solidFill>
                  <a:srgbClr val="2F5FB3"/>
                </a:solidFill>
              </a:rPr>
              <a:t>머신러닝</a:t>
            </a:r>
            <a:endParaRPr lang="en-US" sz="1200" dirty="0"/>
          </a:p>
        </p:txBody>
      </p:sp>
      <p:sp>
        <p:nvSpPr>
          <p:cNvPr id="7" name="Shape 4"/>
          <p:cNvSpPr/>
          <p:nvPr/>
        </p:nvSpPr>
        <p:spPr>
          <a:xfrm>
            <a:off x="548640" y="1783080"/>
            <a:ext cx="5440680" cy="3611880"/>
          </a:xfrm>
          <a:prstGeom prst="roundRect">
            <a:avLst>
              <a:gd name="adj" fmla="val 2532"/>
            </a:avLst>
          </a:prstGeom>
          <a:solidFill>
            <a:srgbClr val="E3ECFB"/>
          </a:solidFill>
          <a:ln w="9525">
            <a:solidFill>
              <a:srgbClr val="E3ECFB"/>
            </a:solidFill>
            <a:prstDash val="solid"/>
          </a:ln>
        </p:spPr>
      </p:sp>
      <p:sp>
        <p:nvSpPr>
          <p:cNvPr id="8" name="Text 5"/>
          <p:cNvSpPr txBox="1"/>
          <p:nvPr/>
        </p:nvSpPr>
        <p:spPr>
          <a:xfrm>
            <a:off x="822960" y="1938528"/>
            <a:ext cx="2743200" cy="292608"/>
          </a:xfrm>
          <a:prstGeom prst="rect">
            <a:avLst/>
          </a:prstGeom>
          <a:noFill/>
          <a:ln/>
        </p:spPr>
        <p:txBody>
          <a:bodyPr wrap="square" lIns="0" tIns="0" rIns="0" bIns="0" rtlCol="0" anchor="t"/>
          <a:lstStyle/>
          <a:p>
            <a:pPr indent="0" marL="0">
              <a:buNone/>
            </a:pPr>
            <a:r>
              <a:rPr lang="en-US" sz="1300" b="1" dirty="0">
                <a:solidFill>
                  <a:srgbClr val="2F5FB3"/>
                </a:solidFill>
              </a:rPr>
              <a:t>머신러닝</a:t>
            </a:r>
            <a:endParaRPr lang="en-US" sz="1300" dirty="0"/>
          </a:p>
        </p:txBody>
      </p:sp>
      <p:sp>
        <p:nvSpPr>
          <p:cNvPr id="9" name="Text 6"/>
          <p:cNvSpPr txBox="1"/>
          <p:nvPr/>
        </p:nvSpPr>
        <p:spPr>
          <a:xfrm>
            <a:off x="822960" y="2267712"/>
            <a:ext cx="4937760" cy="457200"/>
          </a:xfrm>
          <a:prstGeom prst="rect">
            <a:avLst/>
          </a:prstGeom>
          <a:noFill/>
          <a:ln/>
        </p:spPr>
        <p:txBody>
          <a:bodyPr wrap="square" lIns="0" tIns="0" rIns="0" bIns="0" rtlCol="0" anchor="t"/>
          <a:lstStyle/>
          <a:p>
            <a:pPr indent="0" marL="0">
              <a:buNone/>
            </a:pPr>
            <a:r>
              <a:rPr lang="en-US" sz="2000" b="1" dirty="0">
                <a:solidFill>
                  <a:srgbClr val="1D2430"/>
                </a:solidFill>
              </a:rPr>
              <a:t>모형이 이 영역·변수에 얼마나 기대나</a:t>
            </a:r>
            <a:endParaRPr lang="en-US" sz="2000" dirty="0"/>
          </a:p>
        </p:txBody>
      </p:sp>
      <p:sp>
        <p:nvSpPr>
          <p:cNvPr id="10" name="Text 7"/>
          <p:cNvSpPr txBox="1"/>
          <p:nvPr/>
        </p:nvSpPr>
        <p:spPr>
          <a:xfrm>
            <a:off x="822960" y="2926080"/>
            <a:ext cx="731520" cy="457200"/>
          </a:xfrm>
          <a:prstGeom prst="rect">
            <a:avLst/>
          </a:prstGeom>
          <a:noFill/>
          <a:ln/>
        </p:spPr>
        <p:txBody>
          <a:bodyPr wrap="square" lIns="0" tIns="0" rIns="0" bIns="0" rtlCol="0" anchor="ctr"/>
          <a:lstStyle/>
          <a:p>
            <a:pPr indent="0" marL="0">
              <a:buNone/>
            </a:pPr>
            <a:r>
              <a:rPr lang="en-US" sz="1300" b="1" dirty="0">
                <a:solidFill>
                  <a:srgbClr val="2F5FB3"/>
                </a:solidFill>
              </a:rPr>
              <a:t>단위</a:t>
            </a:r>
            <a:endParaRPr lang="en-US" sz="1300" dirty="0"/>
          </a:p>
        </p:txBody>
      </p:sp>
      <p:sp>
        <p:nvSpPr>
          <p:cNvPr id="11" name="Text 8"/>
          <p:cNvSpPr txBox="1"/>
          <p:nvPr/>
        </p:nvSpPr>
        <p:spPr>
          <a:xfrm>
            <a:off x="1600200" y="2926080"/>
            <a:ext cx="4206240" cy="457200"/>
          </a:xfrm>
          <a:prstGeom prst="rect">
            <a:avLst/>
          </a:prstGeom>
          <a:noFill/>
          <a:ln/>
        </p:spPr>
        <p:txBody>
          <a:bodyPr wrap="square" lIns="0" tIns="0" rIns="0" bIns="0" rtlCol="0" anchor="ctr"/>
          <a:lstStyle/>
          <a:p>
            <a:pPr indent="0" marL="0">
              <a:buNone/>
            </a:pPr>
            <a:r>
              <a:rPr lang="en-US" sz="1400" dirty="0">
                <a:solidFill>
                  <a:srgbClr val="1D2430"/>
                </a:solidFill>
              </a:rPr>
              <a:t>영역(ΔAP) · 변수(SHAP)</a:t>
            </a:r>
            <a:endParaRPr lang="en-US" sz="1400" dirty="0"/>
          </a:p>
        </p:txBody>
      </p:sp>
      <p:sp>
        <p:nvSpPr>
          <p:cNvPr id="12" name="Text 9"/>
          <p:cNvSpPr txBox="1"/>
          <p:nvPr/>
        </p:nvSpPr>
        <p:spPr>
          <a:xfrm>
            <a:off x="822960" y="3511296"/>
            <a:ext cx="731520" cy="457200"/>
          </a:xfrm>
          <a:prstGeom prst="rect">
            <a:avLst/>
          </a:prstGeom>
          <a:noFill/>
          <a:ln/>
        </p:spPr>
        <p:txBody>
          <a:bodyPr wrap="square" lIns="0" tIns="0" rIns="0" bIns="0" rtlCol="0" anchor="ctr"/>
          <a:lstStyle/>
          <a:p>
            <a:pPr indent="0" marL="0">
              <a:buNone/>
            </a:pPr>
            <a:r>
              <a:rPr lang="en-US" sz="1300" b="1" dirty="0">
                <a:solidFill>
                  <a:srgbClr val="2F5FB3"/>
                </a:solidFill>
              </a:rPr>
              <a:t>방법</a:t>
            </a:r>
            <a:endParaRPr lang="en-US" sz="1300" dirty="0"/>
          </a:p>
        </p:txBody>
      </p:sp>
      <p:sp>
        <p:nvSpPr>
          <p:cNvPr id="13" name="Text 10"/>
          <p:cNvSpPr txBox="1"/>
          <p:nvPr/>
        </p:nvSpPr>
        <p:spPr>
          <a:xfrm>
            <a:off x="1600200" y="3511296"/>
            <a:ext cx="4206240" cy="457200"/>
          </a:xfrm>
          <a:prstGeom prst="rect">
            <a:avLst/>
          </a:prstGeom>
          <a:noFill/>
          <a:ln/>
        </p:spPr>
        <p:txBody>
          <a:bodyPr wrap="square" lIns="0" tIns="0" rIns="0" bIns="0" rtlCol="0" anchor="ctr"/>
          <a:lstStyle/>
          <a:p>
            <a:pPr indent="0" marL="0">
              <a:buNone/>
            </a:pPr>
            <a:r>
              <a:rPr lang="en-US" sz="1400" dirty="0">
                <a:solidFill>
                  <a:srgbClr val="1D2430"/>
                </a:solidFill>
              </a:rPr>
              <a:t>영역 추가·제거 후 재학습, 예측값을 변수별 몫으로 분해</a:t>
            </a:r>
            <a:endParaRPr lang="en-US" sz="1400" dirty="0"/>
          </a:p>
        </p:txBody>
      </p:sp>
      <p:sp>
        <p:nvSpPr>
          <p:cNvPr id="14" name="Text 11"/>
          <p:cNvSpPr txBox="1"/>
          <p:nvPr/>
        </p:nvSpPr>
        <p:spPr>
          <a:xfrm>
            <a:off x="822960" y="4096512"/>
            <a:ext cx="731520" cy="457200"/>
          </a:xfrm>
          <a:prstGeom prst="rect">
            <a:avLst/>
          </a:prstGeom>
          <a:noFill/>
          <a:ln/>
        </p:spPr>
        <p:txBody>
          <a:bodyPr wrap="square" lIns="0" tIns="0" rIns="0" bIns="0" rtlCol="0" anchor="ctr"/>
          <a:lstStyle/>
          <a:p>
            <a:pPr indent="0" marL="0">
              <a:buNone/>
            </a:pPr>
            <a:r>
              <a:rPr lang="en-US" sz="1300" b="1" dirty="0">
                <a:solidFill>
                  <a:srgbClr val="2F5FB3"/>
                </a:solidFill>
              </a:rPr>
              <a:t>결과</a:t>
            </a:r>
            <a:endParaRPr lang="en-US" sz="1300" dirty="0"/>
          </a:p>
        </p:txBody>
      </p:sp>
      <p:sp>
        <p:nvSpPr>
          <p:cNvPr id="15" name="Text 12"/>
          <p:cNvSpPr txBox="1"/>
          <p:nvPr/>
        </p:nvSpPr>
        <p:spPr>
          <a:xfrm>
            <a:off x="1600200" y="4096512"/>
            <a:ext cx="4206240" cy="457200"/>
          </a:xfrm>
          <a:prstGeom prst="rect">
            <a:avLst/>
          </a:prstGeom>
          <a:noFill/>
          <a:ln/>
        </p:spPr>
        <p:txBody>
          <a:bodyPr wrap="square" lIns="0" tIns="0" rIns="0" bIns="0" rtlCol="0" anchor="ctr"/>
          <a:lstStyle/>
          <a:p>
            <a:pPr indent="0" marL="0">
              <a:buNone/>
            </a:pPr>
            <a:r>
              <a:rPr lang="en-US" sz="1400" dirty="0">
                <a:solidFill>
                  <a:srgbClr val="1D2430"/>
                </a:solidFill>
              </a:rPr>
              <a:t>AP 증가량, 평균 |SHAP| — 크기만 있음</a:t>
            </a:r>
            <a:endParaRPr lang="en-US" sz="1400" dirty="0"/>
          </a:p>
        </p:txBody>
      </p:sp>
      <p:sp>
        <p:nvSpPr>
          <p:cNvPr id="16" name="Text 13"/>
          <p:cNvSpPr txBox="1"/>
          <p:nvPr/>
        </p:nvSpPr>
        <p:spPr>
          <a:xfrm>
            <a:off x="822960" y="4681728"/>
            <a:ext cx="731520" cy="457200"/>
          </a:xfrm>
          <a:prstGeom prst="rect">
            <a:avLst/>
          </a:prstGeom>
          <a:noFill/>
          <a:ln/>
        </p:spPr>
        <p:txBody>
          <a:bodyPr wrap="square" lIns="0" tIns="0" rIns="0" bIns="0" rtlCol="0" anchor="ctr"/>
          <a:lstStyle/>
          <a:p>
            <a:pPr indent="0" marL="0">
              <a:buNone/>
            </a:pPr>
            <a:r>
              <a:rPr lang="en-US" sz="1300" b="1" dirty="0">
                <a:solidFill>
                  <a:srgbClr val="2F5FB3"/>
                </a:solidFill>
              </a:rPr>
              <a:t>강점</a:t>
            </a:r>
            <a:endParaRPr lang="en-US" sz="1300" dirty="0"/>
          </a:p>
        </p:txBody>
      </p:sp>
      <p:sp>
        <p:nvSpPr>
          <p:cNvPr id="17" name="Text 14"/>
          <p:cNvSpPr txBox="1"/>
          <p:nvPr/>
        </p:nvSpPr>
        <p:spPr>
          <a:xfrm>
            <a:off x="1600200" y="4681728"/>
            <a:ext cx="4206240" cy="457200"/>
          </a:xfrm>
          <a:prstGeom prst="rect">
            <a:avLst/>
          </a:prstGeom>
          <a:noFill/>
          <a:ln/>
        </p:spPr>
        <p:txBody>
          <a:bodyPr wrap="square" lIns="0" tIns="0" rIns="0" bIns="0" rtlCol="0" anchor="ctr"/>
          <a:lstStyle/>
          <a:p>
            <a:pPr indent="0" marL="0">
              <a:buNone/>
            </a:pPr>
            <a:r>
              <a:rPr lang="en-US" sz="1400" dirty="0">
                <a:solidFill>
                  <a:srgbClr val="1D2430"/>
                </a:solidFill>
              </a:rPr>
              <a:t>비선형 관계와 상호작용까지 반영</a:t>
            </a:r>
            <a:endParaRPr lang="en-US" sz="1400" dirty="0"/>
          </a:p>
        </p:txBody>
      </p:sp>
      <p:sp>
        <p:nvSpPr>
          <p:cNvPr id="18" name="Shape 15"/>
          <p:cNvSpPr/>
          <p:nvPr/>
        </p:nvSpPr>
        <p:spPr>
          <a:xfrm>
            <a:off x="6199632" y="1783080"/>
            <a:ext cx="5440680" cy="3611880"/>
          </a:xfrm>
          <a:prstGeom prst="roundRect">
            <a:avLst>
              <a:gd name="adj" fmla="val 2532"/>
            </a:avLst>
          </a:prstGeom>
          <a:solidFill>
            <a:srgbClr val="DDF3E8"/>
          </a:solidFill>
          <a:ln w="9525">
            <a:solidFill>
              <a:srgbClr val="DDF3E8"/>
            </a:solidFill>
            <a:prstDash val="solid"/>
          </a:ln>
        </p:spPr>
      </p:sp>
      <p:sp>
        <p:nvSpPr>
          <p:cNvPr id="19" name="Text 16"/>
          <p:cNvSpPr txBox="1"/>
          <p:nvPr/>
        </p:nvSpPr>
        <p:spPr>
          <a:xfrm>
            <a:off x="6473952" y="1938528"/>
            <a:ext cx="2743200" cy="292608"/>
          </a:xfrm>
          <a:prstGeom prst="rect">
            <a:avLst/>
          </a:prstGeom>
          <a:noFill/>
          <a:ln/>
        </p:spPr>
        <p:txBody>
          <a:bodyPr wrap="square" lIns="0" tIns="0" rIns="0" bIns="0" rtlCol="0" anchor="t"/>
          <a:lstStyle/>
          <a:p>
            <a:pPr indent="0" marL="0">
              <a:buNone/>
            </a:pPr>
            <a:r>
              <a:rPr lang="en-US" sz="1300" b="1" dirty="0">
                <a:solidFill>
                  <a:srgbClr val="1F8A5B"/>
                </a:solidFill>
              </a:rPr>
              <a:t>조사설계 회귀</a:t>
            </a:r>
            <a:endParaRPr lang="en-US" sz="1300" dirty="0"/>
          </a:p>
        </p:txBody>
      </p:sp>
      <p:sp>
        <p:nvSpPr>
          <p:cNvPr id="20" name="Text 17"/>
          <p:cNvSpPr txBox="1"/>
          <p:nvPr/>
        </p:nvSpPr>
        <p:spPr>
          <a:xfrm>
            <a:off x="6473952" y="2267712"/>
            <a:ext cx="4937760" cy="457200"/>
          </a:xfrm>
          <a:prstGeom prst="rect">
            <a:avLst/>
          </a:prstGeom>
          <a:noFill/>
          <a:ln/>
        </p:spPr>
        <p:txBody>
          <a:bodyPr wrap="square" lIns="0" tIns="0" rIns="0" bIns="0" rtlCol="0" anchor="t"/>
          <a:lstStyle/>
          <a:p>
            <a:pPr indent="0" marL="0">
              <a:buNone/>
            </a:pPr>
            <a:r>
              <a:rPr lang="en-US" sz="2000" b="1" dirty="0">
                <a:solidFill>
                  <a:srgbClr val="1D2430"/>
                </a:solidFill>
              </a:rPr>
              <a:t>다른 요인을 고정해도 관련이 남나</a:t>
            </a:r>
            <a:endParaRPr lang="en-US" sz="2000" dirty="0"/>
          </a:p>
        </p:txBody>
      </p:sp>
      <p:sp>
        <p:nvSpPr>
          <p:cNvPr id="21" name="Text 18"/>
          <p:cNvSpPr txBox="1"/>
          <p:nvPr/>
        </p:nvSpPr>
        <p:spPr>
          <a:xfrm>
            <a:off x="6473952" y="2926080"/>
            <a:ext cx="731520" cy="457200"/>
          </a:xfrm>
          <a:prstGeom prst="rect">
            <a:avLst/>
          </a:prstGeom>
          <a:noFill/>
          <a:ln/>
        </p:spPr>
        <p:txBody>
          <a:bodyPr wrap="square" lIns="0" tIns="0" rIns="0" bIns="0" rtlCol="0" anchor="ctr"/>
          <a:lstStyle/>
          <a:p>
            <a:pPr indent="0" marL="0">
              <a:buNone/>
            </a:pPr>
            <a:r>
              <a:rPr lang="en-US" sz="1300" b="1" dirty="0">
                <a:solidFill>
                  <a:srgbClr val="1F8A5B"/>
                </a:solidFill>
              </a:rPr>
              <a:t>단위</a:t>
            </a:r>
            <a:endParaRPr lang="en-US" sz="1300" dirty="0"/>
          </a:p>
        </p:txBody>
      </p:sp>
      <p:sp>
        <p:nvSpPr>
          <p:cNvPr id="22" name="Text 19"/>
          <p:cNvSpPr txBox="1"/>
          <p:nvPr/>
        </p:nvSpPr>
        <p:spPr>
          <a:xfrm>
            <a:off x="7251192" y="2926080"/>
            <a:ext cx="4206240" cy="457200"/>
          </a:xfrm>
          <a:prstGeom prst="rect">
            <a:avLst/>
          </a:prstGeom>
          <a:noFill/>
          <a:ln/>
        </p:spPr>
        <p:txBody>
          <a:bodyPr wrap="square" lIns="0" tIns="0" rIns="0" bIns="0" rtlCol="0" anchor="ctr"/>
          <a:lstStyle/>
          <a:p>
            <a:pPr indent="0" marL="0">
              <a:buNone/>
            </a:pPr>
            <a:r>
              <a:rPr lang="en-US" sz="1400" dirty="0">
                <a:solidFill>
                  <a:srgbClr val="1D2430"/>
                </a:solidFill>
              </a:rPr>
              <a:t>변수의 응답 수준(기준범주와 비교)</a:t>
            </a:r>
            <a:endParaRPr lang="en-US" sz="1400" dirty="0"/>
          </a:p>
        </p:txBody>
      </p:sp>
      <p:sp>
        <p:nvSpPr>
          <p:cNvPr id="23" name="Text 20"/>
          <p:cNvSpPr txBox="1"/>
          <p:nvPr/>
        </p:nvSpPr>
        <p:spPr>
          <a:xfrm>
            <a:off x="6473952" y="3511296"/>
            <a:ext cx="731520" cy="457200"/>
          </a:xfrm>
          <a:prstGeom prst="rect">
            <a:avLst/>
          </a:prstGeom>
          <a:noFill/>
          <a:ln/>
        </p:spPr>
        <p:txBody>
          <a:bodyPr wrap="square" lIns="0" tIns="0" rIns="0" bIns="0" rtlCol="0" anchor="ctr"/>
          <a:lstStyle/>
          <a:p>
            <a:pPr indent="0" marL="0">
              <a:buNone/>
            </a:pPr>
            <a:r>
              <a:rPr lang="en-US" sz="1300" b="1" dirty="0">
                <a:solidFill>
                  <a:srgbClr val="1F8A5B"/>
                </a:solidFill>
              </a:rPr>
              <a:t>방법</a:t>
            </a:r>
            <a:endParaRPr lang="en-US" sz="1300" dirty="0"/>
          </a:p>
        </p:txBody>
      </p:sp>
      <p:sp>
        <p:nvSpPr>
          <p:cNvPr id="24" name="Text 21"/>
          <p:cNvSpPr txBox="1"/>
          <p:nvPr/>
        </p:nvSpPr>
        <p:spPr>
          <a:xfrm>
            <a:off x="7251192" y="3511296"/>
            <a:ext cx="4206240" cy="457200"/>
          </a:xfrm>
          <a:prstGeom prst="rect">
            <a:avLst/>
          </a:prstGeom>
          <a:noFill/>
          <a:ln/>
        </p:spPr>
        <p:txBody>
          <a:bodyPr wrap="square" lIns="0" tIns="0" rIns="0" bIns="0" rtlCol="0" anchor="ctr"/>
          <a:lstStyle/>
          <a:p>
            <a:pPr indent="0" marL="0">
              <a:buNone/>
            </a:pPr>
            <a:r>
              <a:rPr lang="en-US" sz="1400" dirty="0">
                <a:solidFill>
                  <a:srgbClr val="1D2430"/>
                </a:solidFill>
              </a:rPr>
              <a:t>주 분석 53개 동시 투입, 가중치·층·집락 반영</a:t>
            </a:r>
            <a:endParaRPr lang="en-US" sz="1400" dirty="0"/>
          </a:p>
        </p:txBody>
      </p:sp>
      <p:sp>
        <p:nvSpPr>
          <p:cNvPr id="25" name="Text 22"/>
          <p:cNvSpPr txBox="1"/>
          <p:nvPr/>
        </p:nvSpPr>
        <p:spPr>
          <a:xfrm>
            <a:off x="6473952" y="4096512"/>
            <a:ext cx="731520" cy="457200"/>
          </a:xfrm>
          <a:prstGeom prst="rect">
            <a:avLst/>
          </a:prstGeom>
          <a:noFill/>
          <a:ln/>
        </p:spPr>
        <p:txBody>
          <a:bodyPr wrap="square" lIns="0" tIns="0" rIns="0" bIns="0" rtlCol="0" anchor="ctr"/>
          <a:lstStyle/>
          <a:p>
            <a:pPr indent="0" marL="0">
              <a:buNone/>
            </a:pPr>
            <a:r>
              <a:rPr lang="en-US" sz="1300" b="1" dirty="0">
                <a:solidFill>
                  <a:srgbClr val="1F8A5B"/>
                </a:solidFill>
              </a:rPr>
              <a:t>결과</a:t>
            </a:r>
            <a:endParaRPr lang="en-US" sz="1300" dirty="0"/>
          </a:p>
        </p:txBody>
      </p:sp>
      <p:sp>
        <p:nvSpPr>
          <p:cNvPr id="26" name="Text 23"/>
          <p:cNvSpPr txBox="1"/>
          <p:nvPr/>
        </p:nvSpPr>
        <p:spPr>
          <a:xfrm>
            <a:off x="7251192" y="4096512"/>
            <a:ext cx="4206240" cy="457200"/>
          </a:xfrm>
          <a:prstGeom prst="rect">
            <a:avLst/>
          </a:prstGeom>
          <a:noFill/>
          <a:ln/>
        </p:spPr>
        <p:txBody>
          <a:bodyPr wrap="square" lIns="0" tIns="0" rIns="0" bIns="0" rtlCol="0" anchor="ctr"/>
          <a:lstStyle/>
          <a:p>
            <a:pPr indent="0" marL="0">
              <a:buNone/>
            </a:pPr>
            <a:r>
              <a:rPr lang="en-US" sz="1400" dirty="0">
                <a:solidFill>
                  <a:srgbClr val="1D2430"/>
                </a:solidFill>
              </a:rPr>
              <a:t>조정 OR + 95% CI — 방향과 크기</a:t>
            </a:r>
            <a:endParaRPr lang="en-US" sz="1400" dirty="0"/>
          </a:p>
        </p:txBody>
      </p:sp>
      <p:sp>
        <p:nvSpPr>
          <p:cNvPr id="27" name="Text 24"/>
          <p:cNvSpPr txBox="1"/>
          <p:nvPr/>
        </p:nvSpPr>
        <p:spPr>
          <a:xfrm>
            <a:off x="6473952" y="4681728"/>
            <a:ext cx="731520" cy="457200"/>
          </a:xfrm>
          <a:prstGeom prst="rect">
            <a:avLst/>
          </a:prstGeom>
          <a:noFill/>
          <a:ln/>
        </p:spPr>
        <p:txBody>
          <a:bodyPr wrap="square" lIns="0" tIns="0" rIns="0" bIns="0" rtlCol="0" anchor="ctr"/>
          <a:lstStyle/>
          <a:p>
            <a:pPr indent="0" marL="0">
              <a:buNone/>
            </a:pPr>
            <a:r>
              <a:rPr lang="en-US" sz="1300" b="1" dirty="0">
                <a:solidFill>
                  <a:srgbClr val="1F8A5B"/>
                </a:solidFill>
              </a:rPr>
              <a:t>강점</a:t>
            </a:r>
            <a:endParaRPr lang="en-US" sz="1300" dirty="0"/>
          </a:p>
        </p:txBody>
      </p:sp>
      <p:sp>
        <p:nvSpPr>
          <p:cNvPr id="28" name="Text 25"/>
          <p:cNvSpPr txBox="1"/>
          <p:nvPr/>
        </p:nvSpPr>
        <p:spPr>
          <a:xfrm>
            <a:off x="7251192" y="4681728"/>
            <a:ext cx="4206240" cy="457200"/>
          </a:xfrm>
          <a:prstGeom prst="rect">
            <a:avLst/>
          </a:prstGeom>
          <a:noFill/>
          <a:ln/>
        </p:spPr>
        <p:txBody>
          <a:bodyPr wrap="square" lIns="0" tIns="0" rIns="0" bIns="0" rtlCol="0" anchor="ctr"/>
          <a:lstStyle/>
          <a:p>
            <a:pPr indent="0" marL="0">
              <a:buNone/>
            </a:pPr>
            <a:r>
              <a:rPr lang="en-US" sz="1400" dirty="0">
                <a:solidFill>
                  <a:srgbClr val="1D2430"/>
                </a:solidFill>
              </a:rPr>
              <a:t>모집단 추론과 불확실성</a:t>
            </a:r>
            <a:endParaRPr lang="en-US" sz="1400" dirty="0"/>
          </a:p>
        </p:txBody>
      </p:sp>
      <p:sp>
        <p:nvSpPr>
          <p:cNvPr id="29" name="Shape 26"/>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30" name="Text 27"/>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예   </a:t>
            </a:r>
            <a:pPr indent="0" marL="0">
              <a:buNone/>
            </a:pPr>
            <a:r>
              <a:rPr lang="en-US" sz="1300" dirty="0">
                <a:solidFill>
                  <a:srgbClr val="1D2430"/>
                </a:solidFill>
              </a:rPr>
              <a:t>식품 불안정 — 해당자가 적어 SHAP 8위, 그러나 해당자의 조정 오즈는 3.24배(가장 큼). 그래서 두 결과를 함께 본다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모형은 실제 신호를 학습했다 — 다만 개인 선별 도구는 아니다</a:t>
            </a:r>
            <a:endParaRPr lang="en-US" sz="26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자료와 방법</a:t>
            </a:r>
            <a:endParaRPr lang="en-US" sz="1300" dirty="0"/>
          </a:p>
        </p:txBody>
      </p:sp>
      <p:sp>
        <p:nvSpPr>
          <p:cNvPr id="5" name="Text 2"/>
          <p:cNvSpPr txBox="1"/>
          <p:nvPr/>
        </p:nvSpPr>
        <p:spPr>
          <a:xfrm>
            <a:off x="10655503" y="292608"/>
            <a:ext cx="987552" cy="310896"/>
          </a:xfrm>
          <a:prstGeom prst="roundRect">
            <a:avLst>
              <a:gd name="adj" fmla="val 47059"/>
            </a:avLst>
          </a:prstGeom>
          <a:solidFill>
            <a:srgbClr val="E3ECFB"/>
          </a:solidFill>
          <a:ln>
            <a:solidFill>
              <a:srgbClr val="E3ECFB"/>
            </a:solidFill>
          </a:ln>
        </p:spPr>
        <p:txBody>
          <a:bodyPr wrap="square" lIns="0" tIns="0" rIns="0" bIns="0" rtlCol="0" anchor="ctr"/>
          <a:lstStyle/>
          <a:p>
            <a:pPr algn="ctr" indent="0" marL="0">
              <a:buNone/>
            </a:pPr>
            <a:r>
              <a:rPr lang="en-US" sz="1200" b="1" dirty="0">
                <a:solidFill>
                  <a:srgbClr val="2F5FB3"/>
                </a:solidFill>
              </a:rPr>
              <a:t>머신러닝</a:t>
            </a:r>
            <a:endParaRPr lang="en-US" sz="1200" dirty="0"/>
          </a:p>
        </p:txBody>
      </p:sp>
      <p:sp>
        <p:nvSpPr>
          <p:cNvPr id="6" name="Text 3"/>
          <p:cNvSpPr txBox="1"/>
          <p:nvPr/>
        </p:nvSpPr>
        <p:spPr>
          <a:xfrm>
            <a:off x="548640" y="1783080"/>
            <a:ext cx="3657600" cy="292608"/>
          </a:xfrm>
          <a:prstGeom prst="rect">
            <a:avLst/>
          </a:prstGeom>
          <a:noFill/>
          <a:ln/>
        </p:spPr>
        <p:txBody>
          <a:bodyPr wrap="square" lIns="0" tIns="0" rIns="0" bIns="0" rtlCol="0" anchor="t"/>
          <a:lstStyle/>
          <a:p>
            <a:pPr indent="0" marL="0">
              <a:buNone/>
            </a:pPr>
            <a:r>
              <a:rPr lang="en-US" sz="1400" b="1" dirty="0">
                <a:solidFill>
                  <a:srgbClr val="1D2430"/>
                </a:solidFill>
              </a:rPr>
              <a:t>AP (평균 정밀도)</a:t>
            </a:r>
            <a:endParaRPr lang="en-US" sz="1400" dirty="0"/>
          </a:p>
        </p:txBody>
      </p:sp>
      <p:sp>
        <p:nvSpPr>
          <p:cNvPr id="7" name="Text 4"/>
          <p:cNvSpPr txBox="1"/>
          <p:nvPr/>
        </p:nvSpPr>
        <p:spPr>
          <a:xfrm>
            <a:off x="548640" y="2240280"/>
            <a:ext cx="1737360" cy="457200"/>
          </a:xfrm>
          <a:prstGeom prst="rect">
            <a:avLst/>
          </a:prstGeom>
          <a:noFill/>
          <a:ln/>
        </p:spPr>
        <p:txBody>
          <a:bodyPr wrap="square" lIns="0" tIns="0" rIns="0" bIns="0" rtlCol="0" anchor="ctr"/>
          <a:lstStyle/>
          <a:p>
            <a:pPr indent="0" marL="0">
              <a:buNone/>
            </a:pPr>
            <a:r>
              <a:rPr lang="en-US" sz="1300" dirty="0">
                <a:solidFill>
                  <a:srgbClr val="5B6472"/>
                </a:solidFill>
              </a:rPr>
              <a:t>이 모형 (CatBoost)</a:t>
            </a:r>
            <a:endParaRPr lang="en-US" sz="1300" dirty="0"/>
          </a:p>
        </p:txBody>
      </p:sp>
      <p:sp>
        <p:nvSpPr>
          <p:cNvPr id="8" name="Shape 5"/>
          <p:cNvSpPr/>
          <p:nvPr/>
        </p:nvSpPr>
        <p:spPr>
          <a:xfrm>
            <a:off x="2377440" y="2304288"/>
            <a:ext cx="3105302" cy="329184"/>
          </a:xfrm>
          <a:prstGeom prst="rect">
            <a:avLst/>
          </a:prstGeom>
          <a:solidFill>
            <a:srgbClr val="2F5FB3"/>
          </a:solidFill>
          <a:ln w="9525">
            <a:solidFill>
              <a:srgbClr val="2F5FB3"/>
            </a:solidFill>
            <a:prstDash val="solid"/>
          </a:ln>
        </p:spPr>
      </p:sp>
      <p:sp>
        <p:nvSpPr>
          <p:cNvPr id="9" name="Text 6"/>
          <p:cNvSpPr txBox="1"/>
          <p:nvPr/>
        </p:nvSpPr>
        <p:spPr>
          <a:xfrm>
            <a:off x="5574182" y="2240280"/>
            <a:ext cx="914400" cy="457200"/>
          </a:xfrm>
          <a:prstGeom prst="rect">
            <a:avLst/>
          </a:prstGeom>
          <a:noFill/>
          <a:ln/>
        </p:spPr>
        <p:txBody>
          <a:bodyPr wrap="square" lIns="0" tIns="0" rIns="0" bIns="0" rtlCol="0" anchor="ctr"/>
          <a:lstStyle/>
          <a:p>
            <a:pPr indent="0" marL="0">
              <a:buNone/>
            </a:pPr>
            <a:r>
              <a:rPr lang="en-US" sz="1800" b="1" dirty="0">
                <a:solidFill>
                  <a:srgbClr val="2F5FB3"/>
                </a:solidFill>
              </a:rPr>
              <a:t>0.283</a:t>
            </a:r>
            <a:endParaRPr lang="en-US" sz="1800" dirty="0"/>
          </a:p>
        </p:txBody>
      </p:sp>
      <p:sp>
        <p:nvSpPr>
          <p:cNvPr id="10" name="Text 7"/>
          <p:cNvSpPr txBox="1"/>
          <p:nvPr/>
        </p:nvSpPr>
        <p:spPr>
          <a:xfrm>
            <a:off x="548640" y="2898648"/>
            <a:ext cx="1737360" cy="457200"/>
          </a:xfrm>
          <a:prstGeom prst="rect">
            <a:avLst/>
          </a:prstGeom>
          <a:noFill/>
          <a:ln/>
        </p:spPr>
        <p:txBody>
          <a:bodyPr wrap="square" lIns="0" tIns="0" rIns="0" bIns="0" rtlCol="0" anchor="ctr"/>
          <a:lstStyle/>
          <a:p>
            <a:pPr indent="0" marL="0">
              <a:buNone/>
            </a:pPr>
            <a:r>
              <a:rPr lang="en-US" sz="1300" dirty="0">
                <a:solidFill>
                  <a:srgbClr val="5B6472"/>
                </a:solidFill>
              </a:rPr>
              <a:t>정보 없이 찍기</a:t>
            </a:r>
            <a:endParaRPr lang="en-US" sz="1300" dirty="0"/>
          </a:p>
        </p:txBody>
      </p:sp>
      <p:sp>
        <p:nvSpPr>
          <p:cNvPr id="11" name="Shape 8"/>
          <p:cNvSpPr/>
          <p:nvPr/>
        </p:nvSpPr>
        <p:spPr>
          <a:xfrm>
            <a:off x="2377440" y="2962656"/>
            <a:ext cx="427564" cy="329184"/>
          </a:xfrm>
          <a:prstGeom prst="rect">
            <a:avLst/>
          </a:prstGeom>
          <a:solidFill>
            <a:srgbClr val="A9B2C0"/>
          </a:solidFill>
          <a:ln w="9525">
            <a:solidFill>
              <a:srgbClr val="A9B2C0"/>
            </a:solidFill>
            <a:prstDash val="solid"/>
          </a:ln>
        </p:spPr>
      </p:sp>
      <p:sp>
        <p:nvSpPr>
          <p:cNvPr id="12" name="Text 9"/>
          <p:cNvSpPr txBox="1"/>
          <p:nvPr/>
        </p:nvSpPr>
        <p:spPr>
          <a:xfrm>
            <a:off x="2896444" y="2898648"/>
            <a:ext cx="914400" cy="457200"/>
          </a:xfrm>
          <a:prstGeom prst="rect">
            <a:avLst/>
          </a:prstGeom>
          <a:noFill/>
          <a:ln/>
        </p:spPr>
        <p:txBody>
          <a:bodyPr wrap="square" lIns="0" tIns="0" rIns="0" bIns="0" rtlCol="0" anchor="ctr"/>
          <a:lstStyle/>
          <a:p>
            <a:pPr indent="0" marL="0">
              <a:buNone/>
            </a:pPr>
            <a:r>
              <a:rPr lang="en-US" sz="1800" b="1" dirty="0">
                <a:solidFill>
                  <a:srgbClr val="A9B2C0"/>
                </a:solidFill>
              </a:rPr>
              <a:t>0.039</a:t>
            </a:r>
            <a:endParaRPr lang="en-US" sz="1800" dirty="0"/>
          </a:p>
        </p:txBody>
      </p:sp>
      <p:sp>
        <p:nvSpPr>
          <p:cNvPr id="13" name="Text 10"/>
          <p:cNvSpPr txBox="1"/>
          <p:nvPr/>
        </p:nvSpPr>
        <p:spPr>
          <a:xfrm>
            <a:off x="548640" y="3703320"/>
            <a:ext cx="1645920" cy="502920"/>
          </a:xfrm>
          <a:prstGeom prst="rect">
            <a:avLst/>
          </a:prstGeom>
          <a:noFill/>
          <a:ln/>
        </p:spPr>
        <p:txBody>
          <a:bodyPr wrap="square" lIns="0" tIns="0" rIns="0" bIns="0" rtlCol="0" anchor="t"/>
          <a:lstStyle/>
          <a:p>
            <a:pPr indent="0" marL="0">
              <a:buNone/>
            </a:pPr>
            <a:r>
              <a:rPr lang="en-US" sz="2400" b="1" dirty="0">
                <a:solidFill>
                  <a:srgbClr val="1D2430"/>
                </a:solidFill>
              </a:rPr>
              <a:t>0.846</a:t>
            </a:r>
            <a:endParaRPr lang="en-US" sz="2400" dirty="0"/>
          </a:p>
        </p:txBody>
      </p:sp>
      <p:sp>
        <p:nvSpPr>
          <p:cNvPr id="14" name="Text 11"/>
          <p:cNvSpPr txBox="1"/>
          <p:nvPr/>
        </p:nvSpPr>
        <p:spPr>
          <a:xfrm>
            <a:off x="548640" y="4206240"/>
            <a:ext cx="1691640" cy="274320"/>
          </a:xfrm>
          <a:prstGeom prst="rect">
            <a:avLst/>
          </a:prstGeom>
          <a:noFill/>
          <a:ln/>
        </p:spPr>
        <p:txBody>
          <a:bodyPr wrap="square" lIns="0" tIns="0" rIns="0" bIns="0" rtlCol="0" anchor="t"/>
          <a:lstStyle/>
          <a:p>
            <a:pPr indent="0" marL="0">
              <a:buNone/>
            </a:pPr>
            <a:r>
              <a:rPr lang="en-US" sz="1100" dirty="0">
                <a:solidFill>
                  <a:srgbClr val="5B6472"/>
                </a:solidFill>
              </a:rPr>
              <a:t>ROC-AUC</a:t>
            </a:r>
            <a:endParaRPr lang="en-US" sz="1100" dirty="0"/>
          </a:p>
        </p:txBody>
      </p:sp>
      <p:sp>
        <p:nvSpPr>
          <p:cNvPr id="15" name="Text 12"/>
          <p:cNvSpPr txBox="1"/>
          <p:nvPr/>
        </p:nvSpPr>
        <p:spPr>
          <a:xfrm>
            <a:off x="2331720" y="3703320"/>
            <a:ext cx="1645920" cy="502920"/>
          </a:xfrm>
          <a:prstGeom prst="rect">
            <a:avLst/>
          </a:prstGeom>
          <a:noFill/>
          <a:ln/>
        </p:spPr>
        <p:txBody>
          <a:bodyPr wrap="square" lIns="0" tIns="0" rIns="0" bIns="0" rtlCol="0" anchor="t"/>
          <a:lstStyle/>
          <a:p>
            <a:pPr indent="0" marL="0">
              <a:buNone/>
            </a:pPr>
            <a:r>
              <a:rPr lang="en-US" sz="2400" b="1" dirty="0">
                <a:solidFill>
                  <a:srgbClr val="1D2430"/>
                </a:solidFill>
              </a:rPr>
              <a:t>1.02</a:t>
            </a:r>
            <a:endParaRPr lang="en-US" sz="2400" dirty="0"/>
          </a:p>
        </p:txBody>
      </p:sp>
      <p:sp>
        <p:nvSpPr>
          <p:cNvPr id="16" name="Text 13"/>
          <p:cNvSpPr txBox="1"/>
          <p:nvPr/>
        </p:nvSpPr>
        <p:spPr>
          <a:xfrm>
            <a:off x="2331720" y="4206240"/>
            <a:ext cx="1691640" cy="274320"/>
          </a:xfrm>
          <a:prstGeom prst="rect">
            <a:avLst/>
          </a:prstGeom>
          <a:noFill/>
          <a:ln/>
        </p:spPr>
        <p:txBody>
          <a:bodyPr wrap="square" lIns="0" tIns="0" rIns="0" bIns="0" rtlCol="0" anchor="t"/>
          <a:lstStyle/>
          <a:p>
            <a:pPr indent="0" marL="0">
              <a:buNone/>
            </a:pPr>
            <a:r>
              <a:rPr lang="en-US" sz="1100" dirty="0">
                <a:solidFill>
                  <a:srgbClr val="5B6472"/>
                </a:solidFill>
              </a:rPr>
              <a:t>보정 기울기 (1 = 완벽)</a:t>
            </a:r>
            <a:endParaRPr lang="en-US" sz="1100" dirty="0"/>
          </a:p>
        </p:txBody>
      </p:sp>
      <p:sp>
        <p:nvSpPr>
          <p:cNvPr id="17" name="Text 14"/>
          <p:cNvSpPr txBox="1"/>
          <p:nvPr/>
        </p:nvSpPr>
        <p:spPr>
          <a:xfrm>
            <a:off x="4114800" y="3703320"/>
            <a:ext cx="1645920" cy="502920"/>
          </a:xfrm>
          <a:prstGeom prst="rect">
            <a:avLst/>
          </a:prstGeom>
          <a:noFill/>
          <a:ln/>
        </p:spPr>
        <p:txBody>
          <a:bodyPr wrap="square" lIns="0" tIns="0" rIns="0" bIns="0" rtlCol="0" anchor="t"/>
          <a:lstStyle/>
          <a:p>
            <a:pPr indent="0" marL="0">
              <a:buNone/>
            </a:pPr>
            <a:r>
              <a:rPr lang="en-US" sz="2400" b="1" dirty="0">
                <a:solidFill>
                  <a:srgbClr val="1D2430"/>
                </a:solidFill>
              </a:rPr>
              <a:t>1.05</a:t>
            </a:r>
            <a:endParaRPr lang="en-US" sz="2400" dirty="0"/>
          </a:p>
        </p:txBody>
      </p:sp>
      <p:sp>
        <p:nvSpPr>
          <p:cNvPr id="18" name="Text 15"/>
          <p:cNvSpPr txBox="1"/>
          <p:nvPr/>
        </p:nvSpPr>
        <p:spPr>
          <a:xfrm>
            <a:off x="4114800" y="4206240"/>
            <a:ext cx="1691640" cy="274320"/>
          </a:xfrm>
          <a:prstGeom prst="rect">
            <a:avLst/>
          </a:prstGeom>
          <a:noFill/>
          <a:ln/>
        </p:spPr>
        <p:txBody>
          <a:bodyPr wrap="square" lIns="0" tIns="0" rIns="0" bIns="0" rtlCol="0" anchor="t"/>
          <a:lstStyle/>
          <a:p>
            <a:pPr indent="0" marL="0">
              <a:buNone/>
            </a:pPr>
            <a:r>
              <a:rPr lang="en-US" sz="1100" dirty="0">
                <a:solidFill>
                  <a:srgbClr val="5B6472"/>
                </a:solidFill>
              </a:rPr>
              <a:t>관측/기대 비 (1 = 완벽)</a:t>
            </a:r>
            <a:endParaRPr lang="en-US" sz="1100" dirty="0"/>
          </a:p>
        </p:txBody>
      </p:sp>
      <p:sp>
        <p:nvSpPr>
          <p:cNvPr id="19" name="Text 16"/>
          <p:cNvSpPr txBox="1"/>
          <p:nvPr/>
        </p:nvSpPr>
        <p:spPr>
          <a:xfrm>
            <a:off x="6263640" y="1783080"/>
            <a:ext cx="5394960" cy="292608"/>
          </a:xfrm>
          <a:prstGeom prst="rect">
            <a:avLst/>
          </a:prstGeom>
          <a:noFill/>
          <a:ln/>
        </p:spPr>
        <p:txBody>
          <a:bodyPr wrap="square" lIns="0" tIns="0" rIns="0" bIns="0" rtlCol="0" anchor="t"/>
          <a:lstStyle/>
          <a:p>
            <a:pPr indent="0" marL="0">
              <a:buNone/>
            </a:pPr>
            <a:r>
              <a:rPr lang="en-US" sz="1400" b="1" dirty="0">
                <a:solidFill>
                  <a:srgbClr val="1D2430"/>
                </a:solidFill>
              </a:rPr>
              <a:t>민감도 80%로 1만 명에게 적용하면</a:t>
            </a:r>
            <a:endParaRPr lang="en-US" sz="1400" dirty="0"/>
          </a:p>
        </p:txBody>
      </p:sp>
      <p:sp>
        <p:nvSpPr>
          <p:cNvPr id="20" name="Shape 17"/>
          <p:cNvSpPr/>
          <p:nvPr/>
        </p:nvSpPr>
        <p:spPr>
          <a:xfrm>
            <a:off x="6263640" y="2286000"/>
            <a:ext cx="167752" cy="566928"/>
          </a:xfrm>
          <a:prstGeom prst="rect">
            <a:avLst/>
          </a:prstGeom>
          <a:solidFill>
            <a:srgbClr val="1F8A5B"/>
          </a:solidFill>
          <a:ln w="9525">
            <a:solidFill>
              <a:srgbClr val="1F8A5B"/>
            </a:solidFill>
            <a:prstDash val="solid"/>
          </a:ln>
        </p:spPr>
      </p:sp>
      <p:sp>
        <p:nvSpPr>
          <p:cNvPr id="21" name="Shape 18"/>
          <p:cNvSpPr/>
          <p:nvPr/>
        </p:nvSpPr>
        <p:spPr>
          <a:xfrm>
            <a:off x="6431392" y="2286000"/>
            <a:ext cx="1399010" cy="566928"/>
          </a:xfrm>
          <a:prstGeom prst="rect">
            <a:avLst/>
          </a:prstGeom>
          <a:solidFill>
            <a:srgbClr val="C2412D"/>
          </a:solidFill>
          <a:ln w="9525">
            <a:solidFill>
              <a:srgbClr val="C2412D"/>
            </a:solidFill>
            <a:prstDash val="solid"/>
          </a:ln>
        </p:spPr>
      </p:sp>
      <p:sp>
        <p:nvSpPr>
          <p:cNvPr id="22" name="Shape 19"/>
          <p:cNvSpPr/>
          <p:nvPr/>
        </p:nvSpPr>
        <p:spPr>
          <a:xfrm>
            <a:off x="7830402" y="2286000"/>
            <a:ext cx="41938" cy="566928"/>
          </a:xfrm>
          <a:prstGeom prst="rect">
            <a:avLst/>
          </a:prstGeom>
          <a:solidFill>
            <a:srgbClr val="A86400"/>
          </a:solidFill>
          <a:ln w="9525">
            <a:solidFill>
              <a:srgbClr val="A86400"/>
            </a:solidFill>
            <a:prstDash val="solid"/>
          </a:ln>
        </p:spPr>
      </p:sp>
      <p:sp>
        <p:nvSpPr>
          <p:cNvPr id="23" name="Shape 20"/>
          <p:cNvSpPr/>
          <p:nvPr/>
        </p:nvSpPr>
        <p:spPr>
          <a:xfrm>
            <a:off x="7872340" y="2286000"/>
            <a:ext cx="3767972" cy="566928"/>
          </a:xfrm>
          <a:prstGeom prst="rect">
            <a:avLst/>
          </a:prstGeom>
          <a:solidFill>
            <a:srgbClr val="E3E6EA"/>
          </a:solidFill>
          <a:ln w="9525">
            <a:solidFill>
              <a:srgbClr val="E3E6EA"/>
            </a:solidFill>
            <a:prstDash val="solid"/>
          </a:ln>
        </p:spPr>
      </p:sp>
      <p:sp>
        <p:nvSpPr>
          <p:cNvPr id="24" name="Shape 21"/>
          <p:cNvSpPr/>
          <p:nvPr/>
        </p:nvSpPr>
        <p:spPr>
          <a:xfrm>
            <a:off x="6263640" y="2971800"/>
            <a:ext cx="1566762" cy="914"/>
          </a:xfrm>
          <a:prstGeom prst="line">
            <a:avLst/>
          </a:prstGeom>
          <a:noFill/>
          <a:ln w="19050">
            <a:solidFill>
              <a:srgbClr val="1D2430"/>
            </a:solidFill>
            <a:prstDash val="solid"/>
          </a:ln>
        </p:spPr>
      </p:sp>
      <p:sp>
        <p:nvSpPr>
          <p:cNvPr id="25" name="Text 22"/>
          <p:cNvSpPr txBox="1"/>
          <p:nvPr/>
        </p:nvSpPr>
        <p:spPr>
          <a:xfrm>
            <a:off x="6263640" y="3035808"/>
            <a:ext cx="2743200" cy="274320"/>
          </a:xfrm>
          <a:prstGeom prst="rect">
            <a:avLst/>
          </a:prstGeom>
          <a:noFill/>
          <a:ln/>
        </p:spPr>
        <p:txBody>
          <a:bodyPr wrap="square" lIns="0" tIns="0" rIns="0" bIns="0" rtlCol="0" anchor="t"/>
          <a:lstStyle/>
          <a:p>
            <a:pPr indent="0" marL="0">
              <a:buNone/>
            </a:pPr>
            <a:r>
              <a:rPr lang="en-US" sz="1200" b="1" dirty="0">
                <a:solidFill>
                  <a:srgbClr val="1D2430"/>
                </a:solidFill>
              </a:rPr>
              <a:t>고위험 판정 2,914명</a:t>
            </a:r>
            <a:endParaRPr lang="en-US" sz="1200" dirty="0"/>
          </a:p>
        </p:txBody>
      </p:sp>
      <p:sp>
        <p:nvSpPr>
          <p:cNvPr id="26" name="Shape 23"/>
          <p:cNvSpPr/>
          <p:nvPr/>
        </p:nvSpPr>
        <p:spPr>
          <a:xfrm>
            <a:off x="6263640" y="3584448"/>
            <a:ext cx="237744" cy="237744"/>
          </a:xfrm>
          <a:prstGeom prst="rect">
            <a:avLst/>
          </a:prstGeom>
          <a:solidFill>
            <a:srgbClr val="1F8A5B"/>
          </a:solidFill>
          <a:ln w="9525">
            <a:solidFill>
              <a:srgbClr val="1F8A5B"/>
            </a:solidFill>
            <a:prstDash val="solid"/>
          </a:ln>
        </p:spPr>
      </p:sp>
      <p:sp>
        <p:nvSpPr>
          <p:cNvPr id="27" name="Text 24"/>
          <p:cNvSpPr txBox="1"/>
          <p:nvPr/>
        </p:nvSpPr>
        <p:spPr>
          <a:xfrm>
            <a:off x="6629400" y="3520440"/>
            <a:ext cx="4572000" cy="365760"/>
          </a:xfrm>
          <a:prstGeom prst="rect">
            <a:avLst/>
          </a:prstGeom>
          <a:noFill/>
          <a:ln/>
        </p:spPr>
        <p:txBody>
          <a:bodyPr wrap="square" lIns="0" tIns="0" rIns="0" bIns="0" rtlCol="0" anchor="ctr"/>
          <a:lstStyle/>
          <a:p>
            <a:pPr indent="0" marL="0">
              <a:buNone/>
            </a:pPr>
            <a:r>
              <a:rPr lang="en-US" sz="1400" b="1" dirty="0">
                <a:solidFill>
                  <a:srgbClr val="1D2430"/>
                </a:solidFill>
              </a:rPr>
              <a:t>312</a:t>
            </a:r>
            <a:pPr indent="0" marL="0">
              <a:buNone/>
            </a:pPr>
            <a:r>
              <a:rPr lang="en-US" sz="1400" dirty="0">
                <a:solidFill>
                  <a:srgbClr val="5B6472"/>
                </a:solidFill>
              </a:rPr>
              <a:t>  실제 우울을 잡음</a:t>
            </a:r>
            <a:endParaRPr lang="en-US" sz="1400" dirty="0"/>
          </a:p>
        </p:txBody>
      </p:sp>
      <p:sp>
        <p:nvSpPr>
          <p:cNvPr id="28" name="Shape 25"/>
          <p:cNvSpPr/>
          <p:nvPr/>
        </p:nvSpPr>
        <p:spPr>
          <a:xfrm>
            <a:off x="6263640" y="3968496"/>
            <a:ext cx="237744" cy="237744"/>
          </a:xfrm>
          <a:prstGeom prst="rect">
            <a:avLst/>
          </a:prstGeom>
          <a:solidFill>
            <a:srgbClr val="C2412D"/>
          </a:solidFill>
          <a:ln w="9525">
            <a:solidFill>
              <a:srgbClr val="C2412D"/>
            </a:solidFill>
            <a:prstDash val="solid"/>
          </a:ln>
        </p:spPr>
      </p:sp>
      <p:sp>
        <p:nvSpPr>
          <p:cNvPr id="29" name="Text 26"/>
          <p:cNvSpPr txBox="1"/>
          <p:nvPr/>
        </p:nvSpPr>
        <p:spPr>
          <a:xfrm>
            <a:off x="6629400" y="3904488"/>
            <a:ext cx="4572000" cy="365760"/>
          </a:xfrm>
          <a:prstGeom prst="rect">
            <a:avLst/>
          </a:prstGeom>
          <a:noFill/>
          <a:ln/>
        </p:spPr>
        <p:txBody>
          <a:bodyPr wrap="square" lIns="0" tIns="0" rIns="0" bIns="0" rtlCol="0" anchor="ctr"/>
          <a:lstStyle/>
          <a:p>
            <a:pPr indent="0" marL="0">
              <a:buNone/>
            </a:pPr>
            <a:r>
              <a:rPr lang="en-US" sz="1400" b="1" dirty="0">
                <a:solidFill>
                  <a:srgbClr val="1D2430"/>
                </a:solidFill>
              </a:rPr>
              <a:t>2,602</a:t>
            </a:r>
            <a:pPr indent="0" marL="0">
              <a:buNone/>
            </a:pPr>
            <a:r>
              <a:rPr lang="en-US" sz="1400" dirty="0">
                <a:solidFill>
                  <a:srgbClr val="5B6472"/>
                </a:solidFill>
              </a:rPr>
              <a:t>  헛경보</a:t>
            </a:r>
            <a:endParaRPr lang="en-US" sz="1400" dirty="0"/>
          </a:p>
        </p:txBody>
      </p:sp>
      <p:sp>
        <p:nvSpPr>
          <p:cNvPr id="30" name="Shape 27"/>
          <p:cNvSpPr/>
          <p:nvPr/>
        </p:nvSpPr>
        <p:spPr>
          <a:xfrm>
            <a:off x="6263640" y="4352544"/>
            <a:ext cx="237744" cy="237744"/>
          </a:xfrm>
          <a:prstGeom prst="rect">
            <a:avLst/>
          </a:prstGeom>
          <a:solidFill>
            <a:srgbClr val="A86400"/>
          </a:solidFill>
          <a:ln w="9525">
            <a:solidFill>
              <a:srgbClr val="A86400"/>
            </a:solidFill>
            <a:prstDash val="solid"/>
          </a:ln>
        </p:spPr>
      </p:sp>
      <p:sp>
        <p:nvSpPr>
          <p:cNvPr id="31" name="Text 28"/>
          <p:cNvSpPr txBox="1"/>
          <p:nvPr/>
        </p:nvSpPr>
        <p:spPr>
          <a:xfrm>
            <a:off x="6629400" y="4288536"/>
            <a:ext cx="4572000" cy="365760"/>
          </a:xfrm>
          <a:prstGeom prst="rect">
            <a:avLst/>
          </a:prstGeom>
          <a:noFill/>
          <a:ln/>
        </p:spPr>
        <p:txBody>
          <a:bodyPr wrap="square" lIns="0" tIns="0" rIns="0" bIns="0" rtlCol="0" anchor="ctr"/>
          <a:lstStyle/>
          <a:p>
            <a:pPr indent="0" marL="0">
              <a:buNone/>
            </a:pPr>
            <a:r>
              <a:rPr lang="en-US" sz="1400" b="1" dirty="0">
                <a:solidFill>
                  <a:srgbClr val="1D2430"/>
                </a:solidFill>
              </a:rPr>
              <a:t>78</a:t>
            </a:r>
            <a:pPr indent="0" marL="0">
              <a:buNone/>
            </a:pPr>
            <a:r>
              <a:rPr lang="en-US" sz="1400" dirty="0">
                <a:solidFill>
                  <a:srgbClr val="5B6472"/>
                </a:solidFill>
              </a:rPr>
              <a:t>  놓친 우울</a:t>
            </a:r>
            <a:endParaRPr lang="en-US" sz="1400" dirty="0"/>
          </a:p>
        </p:txBody>
      </p:sp>
      <p:sp>
        <p:nvSpPr>
          <p:cNvPr id="32" name="Shape 29"/>
          <p:cNvSpPr/>
          <p:nvPr/>
        </p:nvSpPr>
        <p:spPr>
          <a:xfrm>
            <a:off x="6263640" y="4736592"/>
            <a:ext cx="237744" cy="237744"/>
          </a:xfrm>
          <a:prstGeom prst="rect">
            <a:avLst/>
          </a:prstGeom>
          <a:solidFill>
            <a:srgbClr val="E3E6EA"/>
          </a:solidFill>
          <a:ln w="9525">
            <a:solidFill>
              <a:srgbClr val="E3E6EA"/>
            </a:solidFill>
            <a:prstDash val="solid"/>
          </a:ln>
        </p:spPr>
      </p:sp>
      <p:sp>
        <p:nvSpPr>
          <p:cNvPr id="33" name="Text 30"/>
          <p:cNvSpPr txBox="1"/>
          <p:nvPr/>
        </p:nvSpPr>
        <p:spPr>
          <a:xfrm>
            <a:off x="6629400" y="4672584"/>
            <a:ext cx="4572000" cy="365760"/>
          </a:xfrm>
          <a:prstGeom prst="rect">
            <a:avLst/>
          </a:prstGeom>
          <a:noFill/>
          <a:ln/>
        </p:spPr>
        <p:txBody>
          <a:bodyPr wrap="square" lIns="0" tIns="0" rIns="0" bIns="0" rtlCol="0" anchor="ctr"/>
          <a:lstStyle/>
          <a:p>
            <a:pPr indent="0" marL="0">
              <a:buNone/>
            </a:pPr>
            <a:r>
              <a:rPr lang="en-US" sz="1400" b="1" dirty="0">
                <a:solidFill>
                  <a:srgbClr val="1D2430"/>
                </a:solidFill>
              </a:rPr>
              <a:t>7,008</a:t>
            </a:r>
            <a:pPr indent="0" marL="0">
              <a:buNone/>
            </a:pPr>
            <a:r>
              <a:rPr lang="en-US" sz="1400" dirty="0">
                <a:solidFill>
                  <a:srgbClr val="5B6472"/>
                </a:solidFill>
              </a:rPr>
              <a:t>  정상으로 판정</a:t>
            </a:r>
            <a:endParaRPr lang="en-US" sz="1400" dirty="0"/>
          </a:p>
        </p:txBody>
      </p:sp>
      <p:sp>
        <p:nvSpPr>
          <p:cNvPr id="34" name="Shape 31"/>
          <p:cNvSpPr/>
          <p:nvPr/>
        </p:nvSpPr>
        <p:spPr>
          <a:xfrm>
            <a:off x="548640" y="5349240"/>
            <a:ext cx="11094415" cy="457200"/>
          </a:xfrm>
          <a:prstGeom prst="roundRect">
            <a:avLst>
              <a:gd name="adj" fmla="val 20000"/>
            </a:avLst>
          </a:prstGeom>
          <a:solidFill>
            <a:srgbClr val="FDEBC8"/>
          </a:solidFill>
          <a:ln w="9525">
            <a:solidFill>
              <a:srgbClr val="FDEBC8"/>
            </a:solidFill>
            <a:prstDash val="solid"/>
          </a:ln>
        </p:spPr>
      </p:sp>
      <p:sp>
        <p:nvSpPr>
          <p:cNvPr id="35" name="Text 32"/>
          <p:cNvSpPr txBox="1"/>
          <p:nvPr/>
        </p:nvSpPr>
        <p:spPr>
          <a:xfrm>
            <a:off x="777240" y="534924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판정   </a:t>
            </a:r>
            <a:pPr indent="0" marL="0">
              <a:buNone/>
            </a:pPr>
            <a:r>
              <a:rPr lang="en-US" sz="1300" dirty="0">
                <a:solidFill>
                  <a:srgbClr val="1D2430"/>
                </a:solidFill>
              </a:rPr>
              <a:t>영역 간 정보량을 비교하기엔 충분히 정확하다. 개인 선별은 PHQ-9 9문항을 직접 묻는 편이 더 싸고 정확하다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모든 영역이 고유한 정보를 더하고, 신체건강이 가장 크다</a:t>
            </a:r>
            <a:endParaRPr lang="en-US" sz="2600" dirty="0"/>
          </a:p>
        </p:txBody>
      </p:sp>
      <p:sp>
        <p:nvSpPr>
          <p:cNvPr id="4" name="Text 1"/>
          <p:cNvSpPr txBox="1"/>
          <p:nvPr/>
        </p:nvSpPr>
        <p:spPr>
          <a:xfrm>
            <a:off x="548640" y="292608"/>
            <a:ext cx="713232" cy="310896"/>
          </a:xfrm>
          <a:prstGeom prst="roundRect">
            <a:avLst>
              <a:gd name="adj" fmla="val 47059"/>
            </a:avLst>
          </a:prstGeom>
          <a:solidFill>
            <a:srgbClr val="1D2430"/>
          </a:solidFill>
          <a:ln>
            <a:solidFill>
              <a:srgbClr val="1D2430"/>
            </a:solidFill>
          </a:ln>
        </p:spPr>
        <p:txBody>
          <a:bodyPr wrap="square" lIns="0" tIns="0" rIns="0" bIns="0" rtlCol="0" anchor="ctr"/>
          <a:lstStyle/>
          <a:p>
            <a:pPr algn="ctr" indent="0" marL="0">
              <a:buNone/>
            </a:pPr>
            <a:r>
              <a:rPr lang="en-US" sz="1200" b="1" dirty="0">
                <a:solidFill>
                  <a:srgbClr val="FFFFFF"/>
                </a:solidFill>
              </a:rPr>
              <a:t>RQ1</a:t>
            </a:r>
            <a:endParaRPr lang="en-US" sz="1200" dirty="0"/>
          </a:p>
        </p:txBody>
      </p:sp>
      <p:sp>
        <p:nvSpPr>
          <p:cNvPr id="5" name="Text 2"/>
          <p:cNvSpPr txBox="1"/>
          <p:nvPr/>
        </p:nvSpPr>
        <p:spPr>
          <a:xfrm>
            <a:off x="1389888" y="292608"/>
            <a:ext cx="7315200" cy="310896"/>
          </a:xfrm>
          <a:prstGeom prst="rect">
            <a:avLst/>
          </a:prstGeom>
          <a:noFill/>
          <a:ln/>
        </p:spPr>
        <p:txBody>
          <a:bodyPr wrap="square" lIns="0" tIns="0" rIns="0" bIns="0" rtlCol="0" anchor="ctr"/>
          <a:lstStyle/>
          <a:p>
            <a:pPr indent="0" marL="0">
              <a:buNone/>
            </a:pPr>
            <a:r>
              <a:rPr lang="en-US" sz="1300" dirty="0">
                <a:solidFill>
                  <a:srgbClr val="5B6472"/>
                </a:solidFill>
              </a:rPr>
              <a:t>어느 영역이 우울에 대한 정보를 가장 많이 갖는가</a:t>
            </a:r>
            <a:endParaRPr lang="en-US" sz="1300" dirty="0"/>
          </a:p>
        </p:txBody>
      </p:sp>
      <p:sp>
        <p:nvSpPr>
          <p:cNvPr id="6" name="Text 3"/>
          <p:cNvSpPr txBox="1"/>
          <p:nvPr/>
        </p:nvSpPr>
        <p:spPr>
          <a:xfrm>
            <a:off x="10655503" y="292608"/>
            <a:ext cx="987552" cy="310896"/>
          </a:xfrm>
          <a:prstGeom prst="roundRect">
            <a:avLst>
              <a:gd name="adj" fmla="val 47059"/>
            </a:avLst>
          </a:prstGeom>
          <a:solidFill>
            <a:srgbClr val="E3ECFB"/>
          </a:solidFill>
          <a:ln>
            <a:solidFill>
              <a:srgbClr val="E3ECFB"/>
            </a:solidFill>
          </a:ln>
        </p:spPr>
        <p:txBody>
          <a:bodyPr wrap="square" lIns="0" tIns="0" rIns="0" bIns="0" rtlCol="0" anchor="ctr"/>
          <a:lstStyle/>
          <a:p>
            <a:pPr algn="ctr" indent="0" marL="0">
              <a:buNone/>
            </a:pPr>
            <a:r>
              <a:rPr lang="en-US" sz="1200" b="1" dirty="0">
                <a:solidFill>
                  <a:srgbClr val="2F5FB3"/>
                </a:solidFill>
              </a:rPr>
              <a:t>머신러닝</a:t>
            </a:r>
            <a:endParaRPr lang="en-US" sz="1200" dirty="0"/>
          </a:p>
        </p:txBody>
      </p:sp>
      <p:graphicFrame>
        <p:nvGraphicFramePr>
          <p:cNvPr id="7" name="Chart 0" descr=""/>
          <p:cNvGraphicFramePr/>
          <p:nvPr/>
        </p:nvGraphicFramePr>
        <p:xfrm>
          <a:off x="548640" y="1691640"/>
          <a:ext cx="7406640" cy="393192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366760" y="1783080"/>
            <a:ext cx="3291840" cy="292608"/>
          </a:xfrm>
          <a:prstGeom prst="rect">
            <a:avLst/>
          </a:prstGeom>
          <a:noFill/>
          <a:ln/>
        </p:spPr>
        <p:txBody>
          <a:bodyPr wrap="square" lIns="0" tIns="0" rIns="0" bIns="0" rtlCol="0" anchor="t"/>
          <a:lstStyle/>
          <a:p>
            <a:pPr indent="0" marL="0">
              <a:buNone/>
            </a:pPr>
            <a:r>
              <a:rPr lang="en-US" sz="1300" dirty="0">
                <a:solidFill>
                  <a:srgbClr val="5B6472"/>
                </a:solidFill>
              </a:rPr>
              <a:t>신체건강 단독 정보량</a:t>
            </a:r>
            <a:endParaRPr lang="en-US" sz="1300" dirty="0"/>
          </a:p>
        </p:txBody>
      </p:sp>
      <p:sp>
        <p:nvSpPr>
          <p:cNvPr id="9" name="Text 5"/>
          <p:cNvSpPr txBox="1"/>
          <p:nvPr/>
        </p:nvSpPr>
        <p:spPr>
          <a:xfrm>
            <a:off x="8366760" y="2103120"/>
            <a:ext cx="3291840" cy="822960"/>
          </a:xfrm>
          <a:prstGeom prst="rect">
            <a:avLst/>
          </a:prstGeom>
          <a:noFill/>
          <a:ln/>
        </p:spPr>
        <p:txBody>
          <a:bodyPr wrap="square" lIns="0" tIns="0" rIns="0" bIns="0" rtlCol="0" anchor="t"/>
          <a:lstStyle/>
          <a:p>
            <a:pPr indent="0" marL="0">
              <a:buNone/>
            </a:pPr>
            <a:r>
              <a:rPr lang="en-US" sz="4800" b="1" dirty="0">
                <a:solidFill>
                  <a:srgbClr val="2F5FB3"/>
                </a:solidFill>
              </a:rPr>
              <a:t>+0.090</a:t>
            </a:r>
            <a:pPr indent="0" marL="0">
              <a:buNone/>
            </a:pPr>
            <a:r>
              <a:rPr lang="en-US" sz="1600" dirty="0">
                <a:solidFill>
                  <a:srgbClr val="5B6472"/>
                </a:solidFill>
              </a:rPr>
              <a:t>  ΔAP</a:t>
            </a:r>
            <a:endParaRPr lang="en-US" sz="1400" dirty="0"/>
          </a:p>
        </p:txBody>
      </p:sp>
      <p:sp>
        <p:nvSpPr>
          <p:cNvPr id="10" name="Text 6"/>
          <p:cNvSpPr txBox="1"/>
          <p:nvPr/>
        </p:nvSpPr>
        <p:spPr>
          <a:xfrm>
            <a:off x="8366760" y="2926080"/>
            <a:ext cx="3291840" cy="274320"/>
          </a:xfrm>
          <a:prstGeom prst="rect">
            <a:avLst/>
          </a:prstGeom>
          <a:noFill/>
          <a:ln/>
        </p:spPr>
        <p:txBody>
          <a:bodyPr wrap="square" lIns="0" tIns="0" rIns="0" bIns="0" rtlCol="0" anchor="t"/>
          <a:lstStyle/>
          <a:p>
            <a:pPr indent="0" marL="0">
              <a:buNone/>
            </a:pPr>
            <a:r>
              <a:rPr lang="en-US" sz="1200" dirty="0">
                <a:solidFill>
                  <a:srgbClr val="5B6472"/>
                </a:solidFill>
              </a:rPr>
              <a:t>인구만 쓴 모형 0.086에서 출발</a:t>
            </a:r>
            <a:endParaRPr lang="en-US" sz="1200" dirty="0"/>
          </a:p>
        </p:txBody>
      </p:sp>
      <p:sp>
        <p:nvSpPr>
          <p:cNvPr id="11" name="Shape 7"/>
          <p:cNvSpPr/>
          <p:nvPr/>
        </p:nvSpPr>
        <p:spPr>
          <a:xfrm>
            <a:off x="8366760" y="3429000"/>
            <a:ext cx="3276295" cy="914"/>
          </a:xfrm>
          <a:prstGeom prst="line">
            <a:avLst/>
          </a:prstGeom>
          <a:noFill/>
          <a:ln w="15875">
            <a:solidFill>
              <a:srgbClr val="E3E6EA"/>
            </a:solidFill>
            <a:prstDash val="solid"/>
          </a:ln>
        </p:spPr>
      </p:sp>
      <p:sp>
        <p:nvSpPr>
          <p:cNvPr id="12" name="Text 8"/>
          <p:cNvSpPr txBox="1"/>
          <p:nvPr/>
        </p:nvSpPr>
        <p:spPr>
          <a:xfrm>
            <a:off x="8366760" y="3611880"/>
            <a:ext cx="3291840" cy="1280160"/>
          </a:xfrm>
          <a:prstGeom prst="rect">
            <a:avLst/>
          </a:prstGeom>
          <a:noFill/>
          <a:ln/>
        </p:spPr>
        <p:txBody>
          <a:bodyPr wrap="square" lIns="0" tIns="0" rIns="0" bIns="0" rtlCol="0" anchor="t"/>
          <a:lstStyle/>
          <a:p>
            <a:pPr indent="0" marL="0">
              <a:buNone/>
            </a:pPr>
            <a:r>
              <a:rPr lang="en-US" sz="3600" b="1" dirty="0">
                <a:solidFill>
                  <a:srgbClr val="1D2430"/>
                </a:solidFill>
              </a:rPr>
              <a:t>7 / 7</a:t>
            </a:r>
            <a:endParaRPr lang="en-US" sz="1400" dirty="0"/>
          </a:p>
          <a:p>
            <a:pPr indent="0" marL="0">
              <a:buNone/>
            </a:pPr>
            <a:r>
              <a:rPr lang="en-US" sz="1200" dirty="0">
                <a:solidFill>
                  <a:srgbClr val="5B6472"/>
                </a:solidFill>
              </a:rPr>
              <a:t>빼면 성능이 떨어지는 영역 (95% CI &gt; 0)</a:t>
            </a:r>
            <a:endParaRPr lang="en-US" sz="1400" dirty="0"/>
          </a:p>
        </p:txBody>
      </p:sp>
      <p:sp>
        <p:nvSpPr>
          <p:cNvPr id="13" name="Shape 9"/>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14" name="Text 10"/>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읽는 법   </a:t>
            </a:r>
            <a:pPr indent="0" marL="0">
              <a:buNone/>
            </a:pPr>
            <a:r>
              <a:rPr lang="en-US" sz="1300" dirty="0">
                <a:solidFill>
                  <a:srgbClr val="1D2430"/>
                </a:solidFill>
              </a:rPr>
              <a:t>단독 = 인구 정보에 이 영역만 더했을 때 오른 AP. 고유 = 전부 넣은 모형에서 이 영역만 뺐을 때 떨어진 AP</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변수 수준에서도 두 방법이 같은 요인을 가리킨다</a:t>
            </a:r>
            <a:endParaRPr lang="en-US" sz="2600" dirty="0"/>
          </a:p>
        </p:txBody>
      </p:sp>
      <p:sp>
        <p:nvSpPr>
          <p:cNvPr id="4" name="Text 1"/>
          <p:cNvSpPr txBox="1"/>
          <p:nvPr/>
        </p:nvSpPr>
        <p:spPr>
          <a:xfrm>
            <a:off x="548640" y="292608"/>
            <a:ext cx="713232" cy="310896"/>
          </a:xfrm>
          <a:prstGeom prst="roundRect">
            <a:avLst>
              <a:gd name="adj" fmla="val 47059"/>
            </a:avLst>
          </a:prstGeom>
          <a:solidFill>
            <a:srgbClr val="1D2430"/>
          </a:solidFill>
          <a:ln>
            <a:solidFill>
              <a:srgbClr val="1D2430"/>
            </a:solidFill>
          </a:ln>
        </p:spPr>
        <p:txBody>
          <a:bodyPr wrap="square" lIns="0" tIns="0" rIns="0" bIns="0" rtlCol="0" anchor="ctr"/>
          <a:lstStyle/>
          <a:p>
            <a:pPr algn="ctr" indent="0" marL="0">
              <a:buNone/>
            </a:pPr>
            <a:r>
              <a:rPr lang="en-US" sz="1200" b="1" dirty="0">
                <a:solidFill>
                  <a:srgbClr val="FFFFFF"/>
                </a:solidFill>
              </a:rPr>
              <a:t>RQ1</a:t>
            </a:r>
            <a:endParaRPr lang="en-US" sz="1200" dirty="0"/>
          </a:p>
        </p:txBody>
      </p:sp>
      <p:sp>
        <p:nvSpPr>
          <p:cNvPr id="5" name="Text 2"/>
          <p:cNvSpPr txBox="1"/>
          <p:nvPr/>
        </p:nvSpPr>
        <p:spPr>
          <a:xfrm>
            <a:off x="1389888" y="292608"/>
            <a:ext cx="7315200" cy="310896"/>
          </a:xfrm>
          <a:prstGeom prst="rect">
            <a:avLst/>
          </a:prstGeom>
          <a:noFill/>
          <a:ln/>
        </p:spPr>
        <p:txBody>
          <a:bodyPr wrap="square" lIns="0" tIns="0" rIns="0" bIns="0" rtlCol="0" anchor="ctr"/>
          <a:lstStyle/>
          <a:p>
            <a:pPr indent="0" marL="0">
              <a:buNone/>
            </a:pPr>
            <a:r>
              <a:rPr lang="en-US" sz="1300" dirty="0">
                <a:solidFill>
                  <a:srgbClr val="5B6472"/>
                </a:solidFill>
              </a:rPr>
              <a:t>어느 영역이 우울에 대한 정보를 가장 많이 갖는가</a:t>
            </a:r>
            <a:endParaRPr lang="en-US" sz="1300" dirty="0"/>
          </a:p>
        </p:txBody>
      </p:sp>
      <p:sp>
        <p:nvSpPr>
          <p:cNvPr id="6" name="Text 3"/>
          <p:cNvSpPr txBox="1"/>
          <p:nvPr/>
        </p:nvSpPr>
        <p:spPr>
          <a:xfrm>
            <a:off x="10202875" y="292608"/>
            <a:ext cx="14401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조사설계 회귀</a:t>
            </a:r>
            <a:endParaRPr lang="en-US" sz="1200" dirty="0"/>
          </a:p>
        </p:txBody>
      </p:sp>
      <p:sp>
        <p:nvSpPr>
          <p:cNvPr id="7" name="Text 4"/>
          <p:cNvSpPr txBox="1"/>
          <p:nvPr/>
        </p:nvSpPr>
        <p:spPr>
          <a:xfrm>
            <a:off x="9105595" y="292608"/>
            <a:ext cx="987552" cy="310896"/>
          </a:xfrm>
          <a:prstGeom prst="roundRect">
            <a:avLst>
              <a:gd name="adj" fmla="val 47059"/>
            </a:avLst>
          </a:prstGeom>
          <a:solidFill>
            <a:srgbClr val="E3ECFB"/>
          </a:solidFill>
          <a:ln>
            <a:solidFill>
              <a:srgbClr val="E3ECFB"/>
            </a:solidFill>
          </a:ln>
        </p:spPr>
        <p:txBody>
          <a:bodyPr wrap="square" lIns="0" tIns="0" rIns="0" bIns="0" rtlCol="0" anchor="ctr"/>
          <a:lstStyle/>
          <a:p>
            <a:pPr algn="ctr" indent="0" marL="0">
              <a:buNone/>
            </a:pPr>
            <a:r>
              <a:rPr lang="en-US" sz="1200" b="1" dirty="0">
                <a:solidFill>
                  <a:srgbClr val="2F5FB3"/>
                </a:solidFill>
              </a:rPr>
              <a:t>머신러닝</a:t>
            </a:r>
            <a:endParaRPr lang="en-US" sz="1200" dirty="0"/>
          </a:p>
        </p:txBody>
      </p:sp>
      <p:pic>
        <p:nvPicPr>
          <p:cNvPr id="8" name="Image 0" descr="SHAP 상위 10개 변수와 회귀 결합검정 F 비교">    </p:cNvPr>
          <p:cNvPicPr>
            <a:picLocks noChangeAspect="1"/>
          </p:cNvPicPr>
          <p:nvPr/>
        </p:nvPicPr>
        <p:blipFill>
          <a:blip r:embed="rId1"/>
          <a:stretch>
            <a:fillRect/>
          </a:stretch>
        </p:blipFill>
        <p:spPr>
          <a:xfrm>
            <a:off x="548640" y="1645920"/>
            <a:ext cx="7589520" cy="4069080"/>
          </a:xfrm>
          <a:prstGeom prst="rect">
            <a:avLst/>
          </a:prstGeom>
        </p:spPr>
      </p:pic>
      <p:sp>
        <p:nvSpPr>
          <p:cNvPr id="9" name="Shape 5"/>
          <p:cNvSpPr/>
          <p:nvPr/>
        </p:nvSpPr>
        <p:spPr>
          <a:xfrm>
            <a:off x="8412480" y="1783080"/>
            <a:ext cx="3227832" cy="3749040"/>
          </a:xfrm>
          <a:prstGeom prst="roundRect">
            <a:avLst>
              <a:gd name="adj" fmla="val 2833"/>
            </a:avLst>
          </a:prstGeom>
          <a:solidFill>
            <a:srgbClr val="F3F5F8"/>
          </a:solidFill>
          <a:ln w="9525">
            <a:solidFill>
              <a:srgbClr val="F3F5F8"/>
            </a:solidFill>
            <a:prstDash val="solid"/>
          </a:ln>
        </p:spPr>
      </p:sp>
      <p:sp>
        <p:nvSpPr>
          <p:cNvPr id="10" name="Text 6"/>
          <p:cNvSpPr txBox="1"/>
          <p:nvPr/>
        </p:nvSpPr>
        <p:spPr>
          <a:xfrm>
            <a:off x="8641080" y="1920240"/>
            <a:ext cx="2834640" cy="777240"/>
          </a:xfrm>
          <a:prstGeom prst="rect">
            <a:avLst/>
          </a:prstGeom>
          <a:noFill/>
          <a:ln/>
        </p:spPr>
        <p:txBody>
          <a:bodyPr wrap="square" lIns="0" tIns="0" rIns="0" bIns="0" rtlCol="0" anchor="t"/>
          <a:lstStyle/>
          <a:p>
            <a:pPr indent="0" marL="0">
              <a:buNone/>
            </a:pPr>
            <a:r>
              <a:rPr lang="en-US" sz="4400" b="1" dirty="0">
                <a:solidFill>
                  <a:srgbClr val="1D2430"/>
                </a:solidFill>
              </a:rPr>
              <a:t>7</a:t>
            </a:r>
            <a:pPr indent="0" marL="0">
              <a:buNone/>
            </a:pPr>
            <a:r>
              <a:rPr lang="en-US" sz="2000" dirty="0">
                <a:solidFill>
                  <a:srgbClr val="5B6472"/>
                </a:solidFill>
              </a:rPr>
              <a:t> / 10</a:t>
            </a:r>
            <a:endParaRPr lang="en-US" sz="1400" dirty="0"/>
          </a:p>
        </p:txBody>
      </p:sp>
      <p:sp>
        <p:nvSpPr>
          <p:cNvPr id="11" name="Text 7"/>
          <p:cNvSpPr txBox="1"/>
          <p:nvPr/>
        </p:nvSpPr>
        <p:spPr>
          <a:xfrm>
            <a:off x="8641080" y="2697480"/>
            <a:ext cx="2834640" cy="502920"/>
          </a:xfrm>
          <a:prstGeom prst="rect">
            <a:avLst/>
          </a:prstGeom>
          <a:noFill/>
          <a:ln/>
        </p:spPr>
        <p:txBody>
          <a:bodyPr wrap="square" lIns="0" tIns="0" rIns="0" bIns="0" rtlCol="0" anchor="t"/>
          <a:lstStyle/>
          <a:p>
            <a:pPr indent="0" marL="0">
              <a:buNone/>
            </a:pPr>
            <a:r>
              <a:rPr lang="en-US" sz="1200" dirty="0">
                <a:solidFill>
                  <a:srgbClr val="5B6472"/>
                </a:solidFill>
              </a:rPr>
              <a:t>회귀에서도 상위 10위인 변수</a:t>
            </a:r>
            <a:endParaRPr lang="en-US" sz="1200" dirty="0"/>
          </a:p>
        </p:txBody>
      </p:sp>
      <p:sp>
        <p:nvSpPr>
          <p:cNvPr id="12" name="Text 8"/>
          <p:cNvSpPr txBox="1"/>
          <p:nvPr/>
        </p:nvSpPr>
        <p:spPr>
          <a:xfrm>
            <a:off x="8641080" y="3291840"/>
            <a:ext cx="2834640" cy="2103120"/>
          </a:xfrm>
          <a:prstGeom prst="rect">
            <a:avLst/>
          </a:prstGeom>
          <a:noFill/>
          <a:ln/>
        </p:spPr>
        <p:txBody>
          <a:bodyPr wrap="square" lIns="0" tIns="0" rIns="0" bIns="0" rtlCol="0" anchor="t"/>
          <a:lstStyle/>
          <a:p>
            <a:pPr indent="0" marL="0">
              <a:spcAft>
                <a:spcPts val="400"/>
              </a:spcAft>
              <a:buNone/>
            </a:pPr>
            <a:r>
              <a:rPr lang="en-US" sz="1400" dirty="0">
                <a:solidFill>
                  <a:srgbClr val="1D2430"/>
                </a:solidFill>
              </a:rPr>
              <a:t>저작불편  회귀 7위</a:t>
            </a:r>
            <a:endParaRPr lang="en-US" sz="1400" dirty="0"/>
          </a:p>
          <a:p>
            <a:pPr indent="0" marL="0">
              <a:spcAft>
                <a:spcPts val="400"/>
              </a:spcAft>
              <a:buNone/>
            </a:pPr>
            <a:r>
              <a:rPr lang="en-US" sz="1400" dirty="0">
                <a:solidFill>
                  <a:srgbClr val="1D2430"/>
                </a:solidFill>
              </a:rPr>
              <a:t>성별  회귀 2위</a:t>
            </a:r>
            <a:endParaRPr lang="en-US" sz="1400" dirty="0"/>
          </a:p>
          <a:p>
            <a:pPr indent="0" marL="0">
              <a:spcAft>
                <a:spcPts val="400"/>
              </a:spcAft>
              <a:buNone/>
            </a:pPr>
            <a:r>
              <a:rPr lang="en-US" sz="1400" dirty="0">
                <a:solidFill>
                  <a:srgbClr val="1D2430"/>
                </a:solidFill>
              </a:rPr>
              <a:t>직업분류  회귀 10위</a:t>
            </a:r>
            <a:endParaRPr lang="en-US" sz="1400" dirty="0"/>
          </a:p>
          <a:p>
            <a:pPr indent="0" marL="0">
              <a:spcAft>
                <a:spcPts val="400"/>
              </a:spcAft>
              <a:buNone/>
            </a:pPr>
            <a:r>
              <a:rPr lang="en-US" sz="1400" dirty="0">
                <a:solidFill>
                  <a:srgbClr val="1D2430"/>
                </a:solidFill>
              </a:rPr>
              <a:t>낙상  회귀 1위</a:t>
            </a:r>
            <a:endParaRPr lang="en-US" sz="1400" dirty="0"/>
          </a:p>
          <a:p>
            <a:pPr indent="0" marL="0">
              <a:spcAft>
                <a:spcPts val="400"/>
              </a:spcAft>
              <a:buNone/>
            </a:pPr>
            <a:r>
              <a:rPr lang="en-US" sz="1400" dirty="0">
                <a:solidFill>
                  <a:srgbClr val="1D2430"/>
                </a:solidFill>
              </a:rPr>
              <a:t>친구 연락  회귀 9위</a:t>
            </a:r>
            <a:endParaRPr lang="en-US" sz="1400" dirty="0"/>
          </a:p>
          <a:p>
            <a:pPr indent="0" marL="0">
              <a:spcAft>
                <a:spcPts val="400"/>
              </a:spcAft>
              <a:buNone/>
            </a:pPr>
            <a:r>
              <a:rPr lang="en-US" sz="1400" dirty="0">
                <a:solidFill>
                  <a:srgbClr val="1D2430"/>
                </a:solidFill>
              </a:rPr>
              <a:t>식품 불안정  회귀 4위</a:t>
            </a:r>
            <a:endParaRPr lang="en-US" sz="1400" dirty="0"/>
          </a:p>
          <a:p>
            <a:pPr indent="0" marL="0">
              <a:spcAft>
                <a:spcPts val="400"/>
              </a:spcAft>
              <a:buNone/>
            </a:pPr>
            <a:r>
              <a:rPr lang="en-US" sz="1400" dirty="0">
                <a:solidFill>
                  <a:srgbClr val="1D2430"/>
                </a:solidFill>
              </a:rPr>
              <a:t>인지 체형  회귀 5위</a:t>
            </a:r>
            <a:endParaRPr lang="en-US" sz="1400" dirty="0"/>
          </a:p>
        </p:txBody>
      </p:sp>
      <p:sp>
        <p:nvSpPr>
          <p:cNvPr id="13" name="Shape 9"/>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14" name="Text 10"/>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읽는 법   </a:t>
            </a:r>
            <a:pPr indent="0" marL="0">
              <a:buNone/>
            </a:pPr>
            <a:r>
              <a:rPr lang="en-US" sz="1300" dirty="0">
                <a:solidFill>
                  <a:srgbClr val="1D2430"/>
                </a:solidFill>
              </a:rPr>
              <a:t>SHAP은 모형이 기댄 정도라 흔한 변수일수록 커진다. F는 다른 변수를 고정한 뒤 남는 관련의 강도다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바꿀 수 있는 위험 요인 중 식품 불안정과 구강 문제가 가장 크다</a:t>
            </a:r>
            <a:endParaRPr lang="en-US" sz="2600" dirty="0"/>
          </a:p>
        </p:txBody>
      </p:sp>
      <p:sp>
        <p:nvSpPr>
          <p:cNvPr id="4" name="Text 1"/>
          <p:cNvSpPr txBox="1"/>
          <p:nvPr/>
        </p:nvSpPr>
        <p:spPr>
          <a:xfrm>
            <a:off x="548640" y="292608"/>
            <a:ext cx="713232" cy="310896"/>
          </a:xfrm>
          <a:prstGeom prst="roundRect">
            <a:avLst>
              <a:gd name="adj" fmla="val 47059"/>
            </a:avLst>
          </a:prstGeom>
          <a:solidFill>
            <a:srgbClr val="1D2430"/>
          </a:solidFill>
          <a:ln>
            <a:solidFill>
              <a:srgbClr val="1D2430"/>
            </a:solidFill>
          </a:ln>
        </p:spPr>
        <p:txBody>
          <a:bodyPr wrap="square" lIns="0" tIns="0" rIns="0" bIns="0" rtlCol="0" anchor="ctr"/>
          <a:lstStyle/>
          <a:p>
            <a:pPr algn="ctr" indent="0" marL="0">
              <a:buNone/>
            </a:pPr>
            <a:r>
              <a:rPr lang="en-US" sz="1200" b="1" dirty="0">
                <a:solidFill>
                  <a:srgbClr val="FFFFFF"/>
                </a:solidFill>
              </a:rPr>
              <a:t>RQ2</a:t>
            </a:r>
            <a:endParaRPr lang="en-US" sz="1200" dirty="0"/>
          </a:p>
        </p:txBody>
      </p:sp>
      <p:sp>
        <p:nvSpPr>
          <p:cNvPr id="5" name="Text 2"/>
          <p:cNvSpPr txBox="1"/>
          <p:nvPr/>
        </p:nvSpPr>
        <p:spPr>
          <a:xfrm>
            <a:off x="1389888" y="292608"/>
            <a:ext cx="7315200" cy="310896"/>
          </a:xfrm>
          <a:prstGeom prst="rect">
            <a:avLst/>
          </a:prstGeom>
          <a:noFill/>
          <a:ln/>
        </p:spPr>
        <p:txBody>
          <a:bodyPr wrap="square" lIns="0" tIns="0" rIns="0" bIns="0" rtlCol="0" anchor="ctr"/>
          <a:lstStyle/>
          <a:p>
            <a:pPr indent="0" marL="0">
              <a:buNone/>
            </a:pPr>
            <a:r>
              <a:rPr lang="en-US" sz="1300" dirty="0">
                <a:solidFill>
                  <a:srgbClr val="5B6472"/>
                </a:solidFill>
              </a:rPr>
              <a:t>그중 바꿀 수 있는 위험 요인은 무엇인가</a:t>
            </a:r>
            <a:endParaRPr lang="en-US" sz="1300" dirty="0"/>
          </a:p>
        </p:txBody>
      </p:sp>
      <p:sp>
        <p:nvSpPr>
          <p:cNvPr id="6" name="Text 3"/>
          <p:cNvSpPr txBox="1"/>
          <p:nvPr/>
        </p:nvSpPr>
        <p:spPr>
          <a:xfrm>
            <a:off x="10202875" y="292608"/>
            <a:ext cx="14401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조사설계 회귀</a:t>
            </a:r>
            <a:endParaRPr lang="en-US" sz="1200" dirty="0"/>
          </a:p>
        </p:txBody>
      </p:sp>
      <p:pic>
        <p:nvPicPr>
          <p:cNvPr id="7" name="Image 0" descr="바꿀 수 있는 요인의 조정 오즈비와 95% 신뢰구간">    </p:cNvPr>
          <p:cNvPicPr>
            <a:picLocks noChangeAspect="1"/>
          </p:cNvPicPr>
          <p:nvPr/>
        </p:nvPicPr>
        <p:blipFill>
          <a:blip r:embed="rId1"/>
          <a:stretch>
            <a:fillRect/>
          </a:stretch>
        </p:blipFill>
        <p:spPr>
          <a:xfrm>
            <a:off x="548640" y="1645920"/>
            <a:ext cx="7589520" cy="4069080"/>
          </a:xfrm>
          <a:prstGeom prst="rect">
            <a:avLst/>
          </a:prstGeom>
        </p:spPr>
      </p:pic>
      <p:sp>
        <p:nvSpPr>
          <p:cNvPr id="8" name="Text 4"/>
          <p:cNvSpPr txBox="1"/>
          <p:nvPr/>
        </p:nvSpPr>
        <p:spPr>
          <a:xfrm>
            <a:off x="8412480" y="1783080"/>
            <a:ext cx="3200400" cy="292608"/>
          </a:xfrm>
          <a:prstGeom prst="rect">
            <a:avLst/>
          </a:prstGeom>
          <a:noFill/>
          <a:ln/>
        </p:spPr>
        <p:txBody>
          <a:bodyPr wrap="square" lIns="0" tIns="0" rIns="0" bIns="0" rtlCol="0" anchor="t"/>
          <a:lstStyle/>
          <a:p>
            <a:pPr indent="0" marL="0">
              <a:buNone/>
            </a:pPr>
            <a:r>
              <a:rPr lang="en-US" sz="1300" dirty="0">
                <a:solidFill>
                  <a:srgbClr val="5B6472"/>
                </a:solidFill>
              </a:rPr>
              <a:t>식품이 자주 부족한 가구</a:t>
            </a:r>
            <a:endParaRPr lang="en-US" sz="1300" dirty="0"/>
          </a:p>
        </p:txBody>
      </p:sp>
      <p:sp>
        <p:nvSpPr>
          <p:cNvPr id="9" name="Text 5"/>
          <p:cNvSpPr txBox="1"/>
          <p:nvPr/>
        </p:nvSpPr>
        <p:spPr>
          <a:xfrm>
            <a:off x="8412480" y="2103120"/>
            <a:ext cx="3200400" cy="822960"/>
          </a:xfrm>
          <a:prstGeom prst="rect">
            <a:avLst/>
          </a:prstGeom>
          <a:noFill/>
          <a:ln/>
        </p:spPr>
        <p:txBody>
          <a:bodyPr wrap="square" lIns="0" tIns="0" rIns="0" bIns="0" rtlCol="0" anchor="t"/>
          <a:lstStyle/>
          <a:p>
            <a:pPr indent="0" marL="0">
              <a:buNone/>
            </a:pPr>
            <a:r>
              <a:rPr lang="en-US" sz="4800" b="1" dirty="0">
                <a:solidFill>
                  <a:srgbClr val="C2412D"/>
                </a:solidFill>
              </a:rPr>
              <a:t>3.24</a:t>
            </a:r>
            <a:pPr indent="0" marL="0">
              <a:buNone/>
            </a:pPr>
            <a:r>
              <a:rPr lang="en-US" sz="1800" dirty="0">
                <a:solidFill>
                  <a:srgbClr val="5B6472"/>
                </a:solidFill>
              </a:rPr>
              <a:t> 배</a:t>
            </a:r>
            <a:endParaRPr lang="en-US" sz="1400" dirty="0"/>
          </a:p>
        </p:txBody>
      </p:sp>
      <p:sp>
        <p:nvSpPr>
          <p:cNvPr id="10" name="Text 6"/>
          <p:cNvSpPr txBox="1"/>
          <p:nvPr/>
        </p:nvSpPr>
        <p:spPr>
          <a:xfrm>
            <a:off x="8412480" y="2926080"/>
            <a:ext cx="3200400" cy="274320"/>
          </a:xfrm>
          <a:prstGeom prst="rect">
            <a:avLst/>
          </a:prstGeom>
          <a:noFill/>
          <a:ln/>
        </p:spPr>
        <p:txBody>
          <a:bodyPr wrap="square" lIns="0" tIns="0" rIns="0" bIns="0" rtlCol="0" anchor="t"/>
          <a:lstStyle/>
          <a:p>
            <a:pPr indent="0" marL="0">
              <a:buNone/>
            </a:pPr>
            <a:r>
              <a:rPr lang="en-US" sz="1200" dirty="0">
                <a:solidFill>
                  <a:srgbClr val="5B6472"/>
                </a:solidFill>
              </a:rPr>
              <a:t>95% CI 2.60~4.03, 충분·다양 대비</a:t>
            </a:r>
            <a:endParaRPr lang="en-US" sz="1200" dirty="0"/>
          </a:p>
        </p:txBody>
      </p:sp>
      <p:sp>
        <p:nvSpPr>
          <p:cNvPr id="11" name="Shape 7"/>
          <p:cNvSpPr/>
          <p:nvPr/>
        </p:nvSpPr>
        <p:spPr>
          <a:xfrm>
            <a:off x="8412480" y="3429000"/>
            <a:ext cx="3230575" cy="914"/>
          </a:xfrm>
          <a:prstGeom prst="line">
            <a:avLst/>
          </a:prstGeom>
          <a:noFill/>
          <a:ln w="15875">
            <a:solidFill>
              <a:srgbClr val="E3E6EA"/>
            </a:solidFill>
            <a:prstDash val="solid"/>
          </a:ln>
        </p:spPr>
      </p:sp>
      <p:sp>
        <p:nvSpPr>
          <p:cNvPr id="12" name="Text 8"/>
          <p:cNvSpPr txBox="1"/>
          <p:nvPr/>
        </p:nvSpPr>
        <p:spPr>
          <a:xfrm>
            <a:off x="8412480" y="3611880"/>
            <a:ext cx="3200400" cy="274320"/>
          </a:xfrm>
          <a:prstGeom prst="rect">
            <a:avLst/>
          </a:prstGeom>
          <a:noFill/>
          <a:ln/>
        </p:spPr>
        <p:txBody>
          <a:bodyPr wrap="square" lIns="0" tIns="0" rIns="0" bIns="0" rtlCol="0" anchor="t"/>
          <a:lstStyle/>
          <a:p>
            <a:pPr indent="0" marL="0">
              <a:buNone/>
            </a:pPr>
            <a:r>
              <a:rPr lang="en-US" sz="1200" b="1" dirty="0">
                <a:solidFill>
                  <a:srgbClr val="5B6472"/>
                </a:solidFill>
              </a:rPr>
              <a:t>유형 판정 기준 (분석 전에 정함)</a:t>
            </a:r>
            <a:endParaRPr lang="en-US" sz="1200" dirty="0"/>
          </a:p>
        </p:txBody>
      </p:sp>
      <p:sp>
        <p:nvSpPr>
          <p:cNvPr id="13" name="Text 9"/>
          <p:cNvSpPr txBox="1"/>
          <p:nvPr/>
        </p:nvSpPr>
        <p:spPr>
          <a:xfrm>
            <a:off x="8412480" y="3977640"/>
            <a:ext cx="3200400" cy="1554480"/>
          </a:xfrm>
          <a:prstGeom prst="rect">
            <a:avLst/>
          </a:prstGeom>
          <a:noFill/>
          <a:ln/>
        </p:spPr>
        <p:txBody>
          <a:bodyPr wrap="square" lIns="0" tIns="0" rIns="0" bIns="0" rtlCol="0" anchor="t"/>
          <a:lstStyle/>
          <a:p>
            <a:pPr indent="0" marL="0">
              <a:buNone/>
            </a:pPr>
            <a:r>
              <a:rPr lang="en-US" sz="1400" b="1" dirty="0">
                <a:solidFill>
                  <a:srgbClr val="1D2430"/>
                </a:solidFill>
              </a:rPr>
              <a:t>□  B 서비스·정책·환경</a:t>
            </a:r>
            <a:endParaRPr lang="en-US" sz="1400" dirty="0"/>
          </a:p>
          <a:p>
            <a:pPr indent="0" marL="0">
              <a:buNone/>
            </a:pPr>
            <a:r>
              <a:rPr lang="en-US" sz="1200" dirty="0">
                <a:solidFill>
                  <a:srgbClr val="5B6472"/>
                </a:solidFill>
              </a:rPr>
              <a:t>식품 지원, 치과 진료, 의료 접근</a:t>
            </a:r>
            <a:endParaRPr lang="en-US" sz="1400" dirty="0"/>
          </a:p>
          <a:p>
            <a:pPr indent="0" marL="0">
              <a:buNone/>
            </a:pPr>
            <a:r>
              <a:rPr lang="en-US" sz="600" dirty="0">
                <a:solidFill>
                  <a:srgbClr val="1D2430"/>
                </a:solidFill>
              </a:rPr>
              <a:t> </a:t>
            </a:r>
            <a:endParaRPr lang="en-US" sz="1400" dirty="0"/>
          </a:p>
          <a:p>
            <a:pPr indent="0" marL="0">
              <a:buNone/>
            </a:pPr>
            <a:r>
              <a:rPr lang="en-US" sz="1400" b="1" dirty="0">
                <a:solidFill>
                  <a:srgbClr val="1D2430"/>
                </a:solidFill>
              </a:rPr>
              <a:t>●  A 개인 행동</a:t>
            </a:r>
            <a:endParaRPr lang="en-US" sz="1400" dirty="0"/>
          </a:p>
          <a:p>
            <a:pPr indent="0" marL="0">
              <a:buNone/>
            </a:pPr>
            <a:r>
              <a:rPr lang="en-US" sz="1200" dirty="0">
                <a:solidFill>
                  <a:srgbClr val="5B6472"/>
                </a:solidFill>
              </a:rPr>
              <a:t>연락, 금연, 아침식사</a:t>
            </a:r>
            <a:endParaRPr lang="en-US" sz="1400" dirty="0"/>
          </a:p>
        </p:txBody>
      </p:sp>
      <p:sp>
        <p:nvSpPr>
          <p:cNvPr id="14" name="Shape 10"/>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15" name="Text 11"/>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읽는 법   </a:t>
            </a:r>
            <a:pPr indent="0" marL="0">
              <a:buNone/>
            </a:pPr>
            <a:r>
              <a:rPr lang="en-US" sz="1300" dirty="0">
                <a:solidFill>
                  <a:srgbClr val="1D2430"/>
                </a:solidFill>
              </a:rPr>
              <a:t>조정 OR = 주 분석 53개 변수를 동시에 고정했을 때의 오즈 배수. 기준은 건강한 상태, 변수마다 위험이 가장 큰 수준, 모두 p &lt; .05</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연령대마다 우울과 가장 관련된 영역이 다르다</a:t>
            </a:r>
            <a:endParaRPr lang="en-US" sz="2600" dirty="0"/>
          </a:p>
        </p:txBody>
      </p:sp>
      <p:sp>
        <p:nvSpPr>
          <p:cNvPr id="4" name="Text 1"/>
          <p:cNvSpPr txBox="1"/>
          <p:nvPr/>
        </p:nvSpPr>
        <p:spPr>
          <a:xfrm>
            <a:off x="548640" y="292608"/>
            <a:ext cx="713232" cy="310896"/>
          </a:xfrm>
          <a:prstGeom prst="roundRect">
            <a:avLst>
              <a:gd name="adj" fmla="val 47059"/>
            </a:avLst>
          </a:prstGeom>
          <a:solidFill>
            <a:srgbClr val="1D2430"/>
          </a:solidFill>
          <a:ln>
            <a:solidFill>
              <a:srgbClr val="1D2430"/>
            </a:solidFill>
          </a:ln>
        </p:spPr>
        <p:txBody>
          <a:bodyPr wrap="square" lIns="0" tIns="0" rIns="0" bIns="0" rtlCol="0" anchor="ctr"/>
          <a:lstStyle/>
          <a:p>
            <a:pPr algn="ctr" indent="0" marL="0">
              <a:buNone/>
            </a:pPr>
            <a:r>
              <a:rPr lang="en-US" sz="1200" b="1" dirty="0">
                <a:solidFill>
                  <a:srgbClr val="FFFFFF"/>
                </a:solidFill>
              </a:rPr>
              <a:t>RQ3</a:t>
            </a:r>
            <a:endParaRPr lang="en-US" sz="1200" dirty="0"/>
          </a:p>
        </p:txBody>
      </p:sp>
      <p:sp>
        <p:nvSpPr>
          <p:cNvPr id="5" name="Text 2"/>
          <p:cNvSpPr txBox="1"/>
          <p:nvPr/>
        </p:nvSpPr>
        <p:spPr>
          <a:xfrm>
            <a:off x="1389888" y="292608"/>
            <a:ext cx="7315200" cy="310896"/>
          </a:xfrm>
          <a:prstGeom prst="rect">
            <a:avLst/>
          </a:prstGeom>
          <a:noFill/>
          <a:ln/>
        </p:spPr>
        <p:txBody>
          <a:bodyPr wrap="square" lIns="0" tIns="0" rIns="0" bIns="0" rtlCol="0" anchor="ctr"/>
          <a:lstStyle/>
          <a:p>
            <a:pPr indent="0" marL="0">
              <a:buNone/>
            </a:pPr>
            <a:r>
              <a:rPr lang="en-US" sz="1300" dirty="0">
                <a:solidFill>
                  <a:srgbClr val="5B6472"/>
                </a:solidFill>
              </a:rPr>
              <a:t>연령대마다 핵심 영역이 다른가</a:t>
            </a:r>
            <a:endParaRPr lang="en-US" sz="1300" dirty="0"/>
          </a:p>
        </p:txBody>
      </p:sp>
      <p:sp>
        <p:nvSpPr>
          <p:cNvPr id="6" name="Text 3"/>
          <p:cNvSpPr txBox="1"/>
          <p:nvPr/>
        </p:nvSpPr>
        <p:spPr>
          <a:xfrm>
            <a:off x="10655503" y="292608"/>
            <a:ext cx="987552" cy="310896"/>
          </a:xfrm>
          <a:prstGeom prst="roundRect">
            <a:avLst>
              <a:gd name="adj" fmla="val 47059"/>
            </a:avLst>
          </a:prstGeom>
          <a:solidFill>
            <a:srgbClr val="E3ECFB"/>
          </a:solidFill>
          <a:ln>
            <a:solidFill>
              <a:srgbClr val="E3ECFB"/>
            </a:solidFill>
          </a:ln>
        </p:spPr>
        <p:txBody>
          <a:bodyPr wrap="square" lIns="0" tIns="0" rIns="0" bIns="0" rtlCol="0" anchor="ctr"/>
          <a:lstStyle/>
          <a:p>
            <a:pPr algn="ctr" indent="0" marL="0">
              <a:buNone/>
            </a:pPr>
            <a:r>
              <a:rPr lang="en-US" sz="1200" b="1" dirty="0">
                <a:solidFill>
                  <a:srgbClr val="2F5FB3"/>
                </a:solidFill>
              </a:rPr>
              <a:t>머신러닝</a:t>
            </a:r>
            <a:endParaRPr lang="en-US" sz="1200" dirty="0"/>
          </a:p>
        </p:txBody>
      </p:sp>
      <p:pic>
        <p:nvPicPr>
          <p:cNvPr id="7" name="Image 0" descr="연령대별 영역 단독 정보량 히트맵">    </p:cNvPr>
          <p:cNvPicPr>
            <a:picLocks noChangeAspect="1"/>
          </p:cNvPicPr>
          <p:nvPr/>
        </p:nvPicPr>
        <p:blipFill>
          <a:blip r:embed="rId1"/>
          <a:stretch>
            <a:fillRect/>
          </a:stretch>
        </p:blipFill>
        <p:spPr>
          <a:xfrm>
            <a:off x="548640" y="1645920"/>
            <a:ext cx="6583680" cy="3977640"/>
          </a:xfrm>
          <a:prstGeom prst="rect">
            <a:avLst/>
          </a:prstGeom>
        </p:spPr>
      </p:pic>
      <p:sp>
        <p:nvSpPr>
          <p:cNvPr id="8" name="Text 4"/>
          <p:cNvSpPr txBox="1"/>
          <p:nvPr/>
        </p:nvSpPr>
        <p:spPr>
          <a:xfrm>
            <a:off x="7498080" y="1783080"/>
            <a:ext cx="1188720" cy="310896"/>
          </a:xfrm>
          <a:prstGeom prst="roundRect">
            <a:avLst>
              <a:gd name="adj" fmla="val 47059"/>
            </a:avLst>
          </a:prstGeom>
          <a:solidFill>
            <a:srgbClr val="E3ECFB"/>
          </a:solidFill>
          <a:ln>
            <a:solidFill>
              <a:srgbClr val="E3ECFB"/>
            </a:solidFill>
          </a:ln>
        </p:spPr>
        <p:txBody>
          <a:bodyPr wrap="square" lIns="0" tIns="0" rIns="0" bIns="0" rtlCol="0" anchor="ctr"/>
          <a:lstStyle/>
          <a:p>
            <a:pPr algn="ctr" indent="0" marL="0">
              <a:buNone/>
            </a:pPr>
            <a:r>
              <a:rPr lang="en-US" sz="1200" b="1" dirty="0">
                <a:solidFill>
                  <a:srgbClr val="2F5FB3"/>
                </a:solidFill>
              </a:rPr>
              <a:t>19~39세</a:t>
            </a:r>
            <a:endParaRPr lang="en-US" sz="1200" dirty="0"/>
          </a:p>
        </p:txBody>
      </p:sp>
      <p:sp>
        <p:nvSpPr>
          <p:cNvPr id="9" name="Text 5"/>
          <p:cNvSpPr txBox="1"/>
          <p:nvPr/>
        </p:nvSpPr>
        <p:spPr>
          <a:xfrm>
            <a:off x="7498080" y="2194560"/>
            <a:ext cx="4114800" cy="384048"/>
          </a:xfrm>
          <a:prstGeom prst="rect">
            <a:avLst/>
          </a:prstGeom>
          <a:noFill/>
          <a:ln/>
        </p:spPr>
        <p:txBody>
          <a:bodyPr wrap="square" lIns="0" tIns="0" rIns="0" bIns="0" rtlCol="0" anchor="t"/>
          <a:lstStyle/>
          <a:p>
            <a:pPr indent="0" marL="0">
              <a:buNone/>
            </a:pPr>
            <a:r>
              <a:rPr lang="en-US" sz="1900" b="1" dirty="0">
                <a:solidFill>
                  <a:srgbClr val="1D2430"/>
                </a:solidFill>
              </a:rPr>
              <a:t>건강행태 ≈ 신체건강</a:t>
            </a:r>
            <a:endParaRPr lang="en-US" sz="1900" dirty="0"/>
          </a:p>
        </p:txBody>
      </p:sp>
      <p:sp>
        <p:nvSpPr>
          <p:cNvPr id="10" name="Text 6"/>
          <p:cNvSpPr txBox="1"/>
          <p:nvPr/>
        </p:nvSpPr>
        <p:spPr>
          <a:xfrm>
            <a:off x="7498080" y="2587752"/>
            <a:ext cx="4114800" cy="292608"/>
          </a:xfrm>
          <a:prstGeom prst="rect">
            <a:avLst/>
          </a:prstGeom>
          <a:noFill/>
          <a:ln/>
        </p:spPr>
        <p:txBody>
          <a:bodyPr wrap="square" lIns="0" tIns="0" rIns="0" bIns="0" rtlCol="0" anchor="t"/>
          <a:lstStyle/>
          <a:p>
            <a:pPr indent="0" marL="0">
              <a:buNone/>
            </a:pPr>
            <a:r>
              <a:rPr lang="en-US" sz="1200" dirty="0">
                <a:solidFill>
                  <a:srgbClr val="5B6472"/>
                </a:solidFill>
              </a:rPr>
              <a:t>운동·식사·흡연 같은 생활습관 +0.051, 경제는 +0.016</a:t>
            </a:r>
            <a:endParaRPr lang="en-US" sz="1200" dirty="0"/>
          </a:p>
        </p:txBody>
      </p:sp>
      <p:sp>
        <p:nvSpPr>
          <p:cNvPr id="11" name="Text 7"/>
          <p:cNvSpPr txBox="1"/>
          <p:nvPr/>
        </p:nvSpPr>
        <p:spPr>
          <a:xfrm>
            <a:off x="7498080" y="3044952"/>
            <a:ext cx="1188720" cy="310896"/>
          </a:xfrm>
          <a:prstGeom prst="roundRect">
            <a:avLst>
              <a:gd name="adj" fmla="val 47059"/>
            </a:avLst>
          </a:prstGeom>
          <a:solidFill>
            <a:srgbClr val="E3ECFB"/>
          </a:solidFill>
          <a:ln>
            <a:solidFill>
              <a:srgbClr val="E3ECFB"/>
            </a:solidFill>
          </a:ln>
        </p:spPr>
        <p:txBody>
          <a:bodyPr wrap="square" lIns="0" tIns="0" rIns="0" bIns="0" rtlCol="0" anchor="ctr"/>
          <a:lstStyle/>
          <a:p>
            <a:pPr algn="ctr" indent="0" marL="0">
              <a:buNone/>
            </a:pPr>
            <a:r>
              <a:rPr lang="en-US" sz="1200" b="1" dirty="0">
                <a:solidFill>
                  <a:srgbClr val="2F5FB3"/>
                </a:solidFill>
              </a:rPr>
              <a:t>40~64세</a:t>
            </a:r>
            <a:endParaRPr lang="en-US" sz="1200" dirty="0"/>
          </a:p>
        </p:txBody>
      </p:sp>
      <p:sp>
        <p:nvSpPr>
          <p:cNvPr id="12" name="Text 8"/>
          <p:cNvSpPr txBox="1"/>
          <p:nvPr/>
        </p:nvSpPr>
        <p:spPr>
          <a:xfrm>
            <a:off x="7498080" y="3456432"/>
            <a:ext cx="4114800" cy="384048"/>
          </a:xfrm>
          <a:prstGeom prst="rect">
            <a:avLst/>
          </a:prstGeom>
          <a:noFill/>
          <a:ln/>
        </p:spPr>
        <p:txBody>
          <a:bodyPr wrap="square" lIns="0" tIns="0" rIns="0" bIns="0" rtlCol="0" anchor="t"/>
          <a:lstStyle/>
          <a:p>
            <a:pPr indent="0" marL="0">
              <a:buNone/>
            </a:pPr>
            <a:r>
              <a:rPr lang="en-US" sz="1900" b="1" dirty="0">
                <a:solidFill>
                  <a:srgbClr val="1D2430"/>
                </a:solidFill>
              </a:rPr>
              <a:t>경제</a:t>
            </a:r>
            <a:endParaRPr lang="en-US" sz="1900" dirty="0"/>
          </a:p>
        </p:txBody>
      </p:sp>
      <p:sp>
        <p:nvSpPr>
          <p:cNvPr id="13" name="Text 9"/>
          <p:cNvSpPr txBox="1"/>
          <p:nvPr/>
        </p:nvSpPr>
        <p:spPr>
          <a:xfrm>
            <a:off x="7498080" y="3849624"/>
            <a:ext cx="4114800" cy="292608"/>
          </a:xfrm>
          <a:prstGeom prst="rect">
            <a:avLst/>
          </a:prstGeom>
          <a:noFill/>
          <a:ln/>
        </p:spPr>
        <p:txBody>
          <a:bodyPr wrap="square" lIns="0" tIns="0" rIns="0" bIns="0" rtlCol="0" anchor="t"/>
          <a:lstStyle/>
          <a:p>
            <a:pPr indent="0" marL="0">
              <a:buNone/>
            </a:pPr>
            <a:r>
              <a:rPr lang="en-US" sz="1200" dirty="0">
                <a:solidFill>
                  <a:srgbClr val="5B6472"/>
                </a:solidFill>
              </a:rPr>
              <a:t>소득·식품안정성·경제활동 +0.069</a:t>
            </a:r>
            <a:endParaRPr lang="en-US" sz="1200" dirty="0"/>
          </a:p>
        </p:txBody>
      </p:sp>
      <p:sp>
        <p:nvSpPr>
          <p:cNvPr id="14" name="Text 10"/>
          <p:cNvSpPr txBox="1"/>
          <p:nvPr/>
        </p:nvSpPr>
        <p:spPr>
          <a:xfrm>
            <a:off x="7498080" y="4306824"/>
            <a:ext cx="1188720" cy="310896"/>
          </a:xfrm>
          <a:prstGeom prst="roundRect">
            <a:avLst>
              <a:gd name="adj" fmla="val 47059"/>
            </a:avLst>
          </a:prstGeom>
          <a:solidFill>
            <a:srgbClr val="E3ECFB"/>
          </a:solidFill>
          <a:ln>
            <a:solidFill>
              <a:srgbClr val="E3ECFB"/>
            </a:solidFill>
          </a:ln>
        </p:spPr>
        <p:txBody>
          <a:bodyPr wrap="square" lIns="0" tIns="0" rIns="0" bIns="0" rtlCol="0" anchor="ctr"/>
          <a:lstStyle/>
          <a:p>
            <a:pPr algn="ctr" indent="0" marL="0">
              <a:buNone/>
            </a:pPr>
            <a:r>
              <a:rPr lang="en-US" sz="1200" b="1" dirty="0">
                <a:solidFill>
                  <a:srgbClr val="2F5FB3"/>
                </a:solidFill>
              </a:rPr>
              <a:t>65세 이상</a:t>
            </a:r>
            <a:endParaRPr lang="en-US" sz="1200" dirty="0"/>
          </a:p>
        </p:txBody>
      </p:sp>
      <p:sp>
        <p:nvSpPr>
          <p:cNvPr id="15" name="Text 11"/>
          <p:cNvSpPr txBox="1"/>
          <p:nvPr/>
        </p:nvSpPr>
        <p:spPr>
          <a:xfrm>
            <a:off x="7498080" y="4718304"/>
            <a:ext cx="4114800" cy="384048"/>
          </a:xfrm>
          <a:prstGeom prst="rect">
            <a:avLst/>
          </a:prstGeom>
          <a:noFill/>
          <a:ln/>
        </p:spPr>
        <p:txBody>
          <a:bodyPr wrap="square" lIns="0" tIns="0" rIns="0" bIns="0" rtlCol="0" anchor="t"/>
          <a:lstStyle/>
          <a:p>
            <a:pPr indent="0" marL="0">
              <a:buNone/>
            </a:pPr>
            <a:r>
              <a:rPr lang="en-US" sz="1900" b="1" dirty="0">
                <a:solidFill>
                  <a:srgbClr val="1D2430"/>
                </a:solidFill>
              </a:rPr>
              <a:t>신체건강, 의료접근</a:t>
            </a:r>
            <a:endParaRPr lang="en-US" sz="1900" dirty="0"/>
          </a:p>
        </p:txBody>
      </p:sp>
      <p:sp>
        <p:nvSpPr>
          <p:cNvPr id="16" name="Text 12"/>
          <p:cNvSpPr txBox="1"/>
          <p:nvPr/>
        </p:nvSpPr>
        <p:spPr>
          <a:xfrm>
            <a:off x="7498080" y="5111496"/>
            <a:ext cx="4114800" cy="292608"/>
          </a:xfrm>
          <a:prstGeom prst="rect">
            <a:avLst/>
          </a:prstGeom>
          <a:noFill/>
          <a:ln/>
        </p:spPr>
        <p:txBody>
          <a:bodyPr wrap="square" lIns="0" tIns="0" rIns="0" bIns="0" rtlCol="0" anchor="t"/>
          <a:lstStyle/>
          <a:p>
            <a:pPr indent="0" marL="0">
              <a:buNone/>
            </a:pPr>
            <a:r>
              <a:rPr lang="en-US" sz="1200" dirty="0">
                <a:solidFill>
                  <a:srgbClr val="5B6472"/>
                </a:solidFill>
              </a:rPr>
              <a:t>구강·낙상 +0.099, 미충족 의료 +0.085</a:t>
            </a:r>
            <a:endParaRPr lang="en-US" sz="1200" dirty="0"/>
          </a:p>
        </p:txBody>
      </p:sp>
      <p:sp>
        <p:nvSpPr>
          <p:cNvPr id="17" name="Shape 13"/>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18" name="Text 14"/>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읽는 법   </a:t>
            </a:r>
            <a:pPr indent="0" marL="0">
              <a:buNone/>
            </a:pPr>
            <a:r>
              <a:rPr lang="en-US" sz="1300" dirty="0">
                <a:solidFill>
                  <a:srgbClr val="1D2430"/>
                </a:solidFill>
              </a:rPr>
              <a:t>칸의 값 = 인구 영역에 그 영역을 더했을 때 오른 AP(연령대별 재학습). 굵은 글씨 = 그 연령대의 최대</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신체활동과 생활요인을 함께 지키면 우울 비율이 가장 낮다</a:t>
            </a:r>
            <a:endParaRPr lang="en-US" sz="2600" dirty="0"/>
          </a:p>
        </p:txBody>
      </p:sp>
      <p:sp>
        <p:nvSpPr>
          <p:cNvPr id="4" name="Text 1"/>
          <p:cNvSpPr txBox="1"/>
          <p:nvPr/>
        </p:nvSpPr>
        <p:spPr>
          <a:xfrm>
            <a:off x="548640" y="292608"/>
            <a:ext cx="713232" cy="310896"/>
          </a:xfrm>
          <a:prstGeom prst="roundRect">
            <a:avLst>
              <a:gd name="adj" fmla="val 47059"/>
            </a:avLst>
          </a:prstGeom>
          <a:solidFill>
            <a:srgbClr val="1D2430"/>
          </a:solidFill>
          <a:ln>
            <a:solidFill>
              <a:srgbClr val="1D2430"/>
            </a:solidFill>
          </a:ln>
        </p:spPr>
        <p:txBody>
          <a:bodyPr wrap="square" lIns="0" tIns="0" rIns="0" bIns="0" rtlCol="0" anchor="ctr"/>
          <a:lstStyle/>
          <a:p>
            <a:pPr algn="ctr" indent="0" marL="0">
              <a:buNone/>
            </a:pPr>
            <a:r>
              <a:rPr lang="en-US" sz="1200" b="1" dirty="0">
                <a:solidFill>
                  <a:srgbClr val="FFFFFF"/>
                </a:solidFill>
              </a:rPr>
              <a:t>RQ4</a:t>
            </a:r>
            <a:endParaRPr lang="en-US" sz="1200" dirty="0"/>
          </a:p>
        </p:txBody>
      </p:sp>
      <p:sp>
        <p:nvSpPr>
          <p:cNvPr id="5" name="Text 2"/>
          <p:cNvSpPr txBox="1"/>
          <p:nvPr/>
        </p:nvSpPr>
        <p:spPr>
          <a:xfrm>
            <a:off x="1389888" y="292608"/>
            <a:ext cx="7315200" cy="310896"/>
          </a:xfrm>
          <a:prstGeom prst="rect">
            <a:avLst/>
          </a:prstGeom>
          <a:noFill/>
          <a:ln/>
        </p:spPr>
        <p:txBody>
          <a:bodyPr wrap="square" lIns="0" tIns="0" rIns="0" bIns="0" rtlCol="0" anchor="ctr"/>
          <a:lstStyle/>
          <a:p>
            <a:pPr indent="0" marL="0">
              <a:buNone/>
            </a:pPr>
            <a:r>
              <a:rPr lang="en-US" sz="1300" dirty="0">
                <a:solidFill>
                  <a:srgbClr val="5B6472"/>
                </a:solidFill>
              </a:rPr>
              <a:t>신체활동은 어떤 생활요인과 함께할 때 유리한가</a:t>
            </a:r>
            <a:endParaRPr lang="en-US" sz="1300" dirty="0"/>
          </a:p>
        </p:txBody>
      </p:sp>
      <p:sp>
        <p:nvSpPr>
          <p:cNvPr id="6" name="Text 3"/>
          <p:cNvSpPr txBox="1"/>
          <p:nvPr/>
        </p:nvSpPr>
        <p:spPr>
          <a:xfrm>
            <a:off x="10202875" y="292608"/>
            <a:ext cx="14401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조사설계 회귀</a:t>
            </a:r>
            <a:endParaRPr lang="en-US" sz="1200" dirty="0"/>
          </a:p>
        </p:txBody>
      </p:sp>
      <p:pic>
        <p:nvPicPr>
          <p:cNvPr id="7" name="Image 0" descr="신체활동과 생활요인 조합별 조정 유병률">    </p:cNvPr>
          <p:cNvPicPr>
            <a:picLocks noChangeAspect="1"/>
          </p:cNvPicPr>
          <p:nvPr/>
        </p:nvPicPr>
        <p:blipFill>
          <a:blip r:embed="rId1"/>
          <a:stretch>
            <a:fillRect/>
          </a:stretch>
        </p:blipFill>
        <p:spPr>
          <a:xfrm>
            <a:off x="548640" y="1691640"/>
            <a:ext cx="7589520" cy="3840480"/>
          </a:xfrm>
          <a:prstGeom prst="rect">
            <a:avLst/>
          </a:prstGeom>
        </p:spPr>
      </p:pic>
      <p:sp>
        <p:nvSpPr>
          <p:cNvPr id="8" name="Text 4"/>
          <p:cNvSpPr txBox="1"/>
          <p:nvPr/>
        </p:nvSpPr>
        <p:spPr>
          <a:xfrm>
            <a:off x="8412480" y="1783080"/>
            <a:ext cx="3200400" cy="292608"/>
          </a:xfrm>
          <a:prstGeom prst="rect">
            <a:avLst/>
          </a:prstGeom>
          <a:noFill/>
          <a:ln/>
        </p:spPr>
        <p:txBody>
          <a:bodyPr wrap="square" lIns="0" tIns="0" rIns="0" bIns="0" rtlCol="0" anchor="t"/>
          <a:lstStyle/>
          <a:p>
            <a:pPr indent="0" marL="0">
              <a:buNone/>
            </a:pPr>
            <a:r>
              <a:rPr lang="en-US" sz="1300" dirty="0">
                <a:solidFill>
                  <a:srgbClr val="5B6472"/>
                </a:solidFill>
              </a:rPr>
              <a:t>신체활동 + 사회적 연결</a:t>
            </a:r>
            <a:endParaRPr lang="en-US" sz="1300" dirty="0"/>
          </a:p>
        </p:txBody>
      </p:sp>
      <p:sp>
        <p:nvSpPr>
          <p:cNvPr id="9" name="Text 5"/>
          <p:cNvSpPr txBox="1"/>
          <p:nvPr/>
        </p:nvSpPr>
        <p:spPr>
          <a:xfrm>
            <a:off x="8412480" y="2103120"/>
            <a:ext cx="3200400" cy="731520"/>
          </a:xfrm>
          <a:prstGeom prst="rect">
            <a:avLst/>
          </a:prstGeom>
          <a:noFill/>
          <a:ln/>
        </p:spPr>
        <p:txBody>
          <a:bodyPr wrap="square" lIns="0" tIns="0" rIns="0" bIns="0" rtlCol="0" anchor="t"/>
          <a:lstStyle/>
          <a:p>
            <a:pPr indent="0" marL="0">
              <a:buNone/>
            </a:pPr>
            <a:r>
              <a:rPr lang="en-US" sz="4000" b="1" dirty="0">
                <a:solidFill>
                  <a:srgbClr val="1F8A5B"/>
                </a:solidFill>
              </a:rPr>
              <a:t>2.5%</a:t>
            </a:r>
            <a:endParaRPr lang="en-US" sz="1400" dirty="0"/>
          </a:p>
        </p:txBody>
      </p:sp>
      <p:sp>
        <p:nvSpPr>
          <p:cNvPr id="10" name="Text 6"/>
          <p:cNvSpPr txBox="1"/>
          <p:nvPr/>
        </p:nvSpPr>
        <p:spPr>
          <a:xfrm>
            <a:off x="8412480" y="2834640"/>
            <a:ext cx="3200400" cy="274320"/>
          </a:xfrm>
          <a:prstGeom prst="rect">
            <a:avLst/>
          </a:prstGeom>
          <a:noFill/>
          <a:ln/>
        </p:spPr>
        <p:txBody>
          <a:bodyPr wrap="square" lIns="0" tIns="0" rIns="0" bIns="0" rtlCol="0" anchor="t"/>
          <a:lstStyle/>
          <a:p>
            <a:pPr indent="0" marL="0">
              <a:buNone/>
            </a:pPr>
            <a:r>
              <a:rPr lang="en-US" sz="1200" dirty="0">
                <a:solidFill>
                  <a:srgbClr val="5B6472"/>
                </a:solidFill>
              </a:rPr>
              <a:t>둘 다 아닐 때 5.3%의 절반 이하</a:t>
            </a:r>
            <a:endParaRPr lang="en-US" sz="1200" dirty="0"/>
          </a:p>
        </p:txBody>
      </p:sp>
      <p:sp>
        <p:nvSpPr>
          <p:cNvPr id="11" name="Shape 7"/>
          <p:cNvSpPr/>
          <p:nvPr/>
        </p:nvSpPr>
        <p:spPr>
          <a:xfrm>
            <a:off x="8412480" y="3337560"/>
            <a:ext cx="3230575" cy="914"/>
          </a:xfrm>
          <a:prstGeom prst="line">
            <a:avLst/>
          </a:prstGeom>
          <a:noFill/>
          <a:ln w="15875">
            <a:solidFill>
              <a:srgbClr val="E3E6EA"/>
            </a:solidFill>
            <a:prstDash val="solid"/>
          </a:ln>
        </p:spPr>
      </p:sp>
      <p:sp>
        <p:nvSpPr>
          <p:cNvPr id="12" name="Text 8"/>
          <p:cNvSpPr txBox="1"/>
          <p:nvPr/>
        </p:nvSpPr>
        <p:spPr>
          <a:xfrm>
            <a:off x="8412480" y="3520440"/>
            <a:ext cx="3200400" cy="1920240"/>
          </a:xfrm>
          <a:prstGeom prst="rect">
            <a:avLst/>
          </a:prstGeom>
          <a:noFill/>
          <a:ln/>
        </p:spPr>
        <p:txBody>
          <a:bodyPr wrap="square" lIns="0" tIns="0" rIns="0" bIns="0" rtlCol="0" anchor="t"/>
          <a:lstStyle/>
          <a:p>
            <a:pPr indent="0" marL="0">
              <a:buNone/>
            </a:pPr>
            <a:r>
              <a:rPr lang="en-US" sz="3600" b="1" dirty="0">
                <a:solidFill>
                  <a:srgbClr val="1D2430"/>
                </a:solidFill>
              </a:rPr>
              <a:t>5 / 5</a:t>
            </a:r>
            <a:endParaRPr lang="en-US" sz="1400" dirty="0"/>
          </a:p>
          <a:p>
            <a:pPr indent="0" marL="0">
              <a:buNone/>
            </a:pPr>
            <a:r>
              <a:rPr lang="en-US" sz="1200" dirty="0">
                <a:solidFill>
                  <a:srgbClr val="5B6472"/>
                </a:solidFill>
              </a:rPr>
              <a:t>상호작용이 없는 쌍 (가법·승법 모두 p ≥ .05)</a:t>
            </a:r>
            <a:endParaRPr lang="en-US" sz="1400" dirty="0"/>
          </a:p>
          <a:p>
            <a:pPr indent="0" marL="0">
              <a:buNone/>
            </a:pPr>
            <a:r>
              <a:rPr lang="en-US" sz="600" dirty="0">
                <a:solidFill>
                  <a:srgbClr val="1D2430"/>
                </a:solidFill>
              </a:rPr>
              <a:t> </a:t>
            </a:r>
            <a:endParaRPr lang="en-US" sz="1400" dirty="0"/>
          </a:p>
          <a:p>
            <a:pPr indent="0" marL="0">
              <a:buNone/>
            </a:pPr>
            <a:r>
              <a:rPr lang="en-US" sz="1300" b="1" dirty="0">
                <a:solidFill>
                  <a:srgbClr val="1D2430"/>
                </a:solidFill>
              </a:rPr>
              <a:t>→ 각 요인의 관련이 독립적으로 더해진다</a:t>
            </a:r>
            <a:endParaRPr lang="en-US" sz="1400" dirty="0"/>
          </a:p>
        </p:txBody>
      </p:sp>
      <p:sp>
        <p:nvSpPr>
          <p:cNvPr id="13" name="Shape 9"/>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14" name="Text 10"/>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읽는 법   </a:t>
            </a:r>
            <a:pPr indent="0" marL="0">
              <a:buNone/>
            </a:pPr>
            <a:r>
              <a:rPr lang="en-US" sz="1300" dirty="0">
                <a:solidFill>
                  <a:srgbClr val="1D2430"/>
                </a:solidFill>
              </a:rPr>
              <a:t>인구·경제·신체건강을 조정한 조사설계 회귀의 조정 유병률. 생활요인은 미리 정한 규칙으로 선정(다음 장)</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함께 지키는 생활요인이 많을수록 우울 비율이 단계적으로 낮다</a:t>
            </a:r>
            <a:endParaRPr lang="en-US" sz="2600" dirty="0"/>
          </a:p>
        </p:txBody>
      </p:sp>
      <p:sp>
        <p:nvSpPr>
          <p:cNvPr id="4" name="Text 1"/>
          <p:cNvSpPr txBox="1"/>
          <p:nvPr/>
        </p:nvSpPr>
        <p:spPr>
          <a:xfrm>
            <a:off x="548640" y="292608"/>
            <a:ext cx="713232" cy="310896"/>
          </a:xfrm>
          <a:prstGeom prst="roundRect">
            <a:avLst>
              <a:gd name="adj" fmla="val 47059"/>
            </a:avLst>
          </a:prstGeom>
          <a:solidFill>
            <a:srgbClr val="1D2430"/>
          </a:solidFill>
          <a:ln>
            <a:solidFill>
              <a:srgbClr val="1D2430"/>
            </a:solidFill>
          </a:ln>
        </p:spPr>
        <p:txBody>
          <a:bodyPr wrap="square" lIns="0" tIns="0" rIns="0" bIns="0" rtlCol="0" anchor="ctr"/>
          <a:lstStyle/>
          <a:p>
            <a:pPr algn="ctr" indent="0" marL="0">
              <a:buNone/>
            </a:pPr>
            <a:r>
              <a:rPr lang="en-US" sz="1200" b="1" dirty="0">
                <a:solidFill>
                  <a:srgbClr val="FFFFFF"/>
                </a:solidFill>
              </a:rPr>
              <a:t>RQ4</a:t>
            </a:r>
            <a:endParaRPr lang="en-US" sz="1200" dirty="0"/>
          </a:p>
        </p:txBody>
      </p:sp>
      <p:sp>
        <p:nvSpPr>
          <p:cNvPr id="5" name="Text 2"/>
          <p:cNvSpPr txBox="1"/>
          <p:nvPr/>
        </p:nvSpPr>
        <p:spPr>
          <a:xfrm>
            <a:off x="1389888" y="292608"/>
            <a:ext cx="7315200" cy="310896"/>
          </a:xfrm>
          <a:prstGeom prst="rect">
            <a:avLst/>
          </a:prstGeom>
          <a:noFill/>
          <a:ln/>
        </p:spPr>
        <p:txBody>
          <a:bodyPr wrap="square" lIns="0" tIns="0" rIns="0" bIns="0" rtlCol="0" anchor="ctr"/>
          <a:lstStyle/>
          <a:p>
            <a:pPr indent="0" marL="0">
              <a:buNone/>
            </a:pPr>
            <a:r>
              <a:rPr lang="en-US" sz="1300" dirty="0">
                <a:solidFill>
                  <a:srgbClr val="5B6472"/>
                </a:solidFill>
              </a:rPr>
              <a:t>신체활동은 어떤 생활요인과 함께할 때 유리한가</a:t>
            </a:r>
            <a:endParaRPr lang="en-US" sz="1300" dirty="0"/>
          </a:p>
        </p:txBody>
      </p:sp>
      <p:sp>
        <p:nvSpPr>
          <p:cNvPr id="6" name="Text 3"/>
          <p:cNvSpPr txBox="1"/>
          <p:nvPr/>
        </p:nvSpPr>
        <p:spPr>
          <a:xfrm>
            <a:off x="10202875" y="292608"/>
            <a:ext cx="14401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조사설계 회귀</a:t>
            </a:r>
            <a:endParaRPr lang="en-US" sz="1200" dirty="0"/>
          </a:p>
        </p:txBody>
      </p:sp>
      <p:sp>
        <p:nvSpPr>
          <p:cNvPr id="7" name="Text 4"/>
          <p:cNvSpPr txBox="1"/>
          <p:nvPr/>
        </p:nvSpPr>
        <p:spPr>
          <a:xfrm>
            <a:off x="548640" y="1783080"/>
            <a:ext cx="4206240" cy="292608"/>
          </a:xfrm>
          <a:prstGeom prst="rect">
            <a:avLst/>
          </a:prstGeom>
          <a:noFill/>
          <a:ln/>
        </p:spPr>
        <p:txBody>
          <a:bodyPr wrap="square" lIns="0" tIns="0" rIns="0" bIns="0" rtlCol="0" anchor="t"/>
          <a:lstStyle/>
          <a:p>
            <a:pPr indent="0" marL="0">
              <a:buNone/>
            </a:pPr>
            <a:r>
              <a:rPr lang="en-US" sz="1300" b="1" dirty="0">
                <a:solidFill>
                  <a:srgbClr val="5B6472"/>
                </a:solidFill>
              </a:rPr>
              <a:t>선정 규칙 — 분석 전에 정함</a:t>
            </a:r>
            <a:endParaRPr lang="en-US" sz="1300" dirty="0"/>
          </a:p>
        </p:txBody>
      </p:sp>
      <p:sp>
        <p:nvSpPr>
          <p:cNvPr id="8" name="Text 5"/>
          <p:cNvSpPr txBox="1"/>
          <p:nvPr/>
        </p:nvSpPr>
        <p:spPr>
          <a:xfrm>
            <a:off x="548640" y="2148840"/>
            <a:ext cx="4206240" cy="310896"/>
          </a:xfrm>
          <a:prstGeom prst="rect">
            <a:avLst/>
          </a:prstGeom>
          <a:noFill/>
          <a:ln/>
        </p:spPr>
        <p:txBody>
          <a:bodyPr wrap="square" lIns="0" tIns="0" rIns="0" bIns="0" rtlCol="0" anchor="ctr"/>
          <a:lstStyle/>
          <a:p>
            <a:pPr indent="0" marL="0">
              <a:buNone/>
            </a:pPr>
            <a:r>
              <a:rPr lang="en-US" sz="1350" b="1" dirty="0">
                <a:solidFill>
                  <a:srgbClr val="1F8A5B"/>
                </a:solidFill>
              </a:rPr>
              <a:t>1  </a:t>
            </a:r>
            <a:pPr indent="0" marL="0">
              <a:buNone/>
            </a:pPr>
            <a:r>
              <a:rPr lang="en-US" sz="1350" dirty="0">
                <a:solidFill>
                  <a:srgbClr val="1D2430"/>
                </a:solidFill>
              </a:rPr>
              <a:t>개인이 바꿀 수 있는 행동(유형 A)</a:t>
            </a:r>
            <a:endParaRPr lang="en-US" sz="1350" dirty="0"/>
          </a:p>
        </p:txBody>
      </p:sp>
      <p:sp>
        <p:nvSpPr>
          <p:cNvPr id="9" name="Text 6"/>
          <p:cNvSpPr txBox="1"/>
          <p:nvPr/>
        </p:nvSpPr>
        <p:spPr>
          <a:xfrm>
            <a:off x="548640" y="2514600"/>
            <a:ext cx="4206240" cy="310896"/>
          </a:xfrm>
          <a:prstGeom prst="rect">
            <a:avLst/>
          </a:prstGeom>
          <a:noFill/>
          <a:ln/>
        </p:spPr>
        <p:txBody>
          <a:bodyPr wrap="square" lIns="0" tIns="0" rIns="0" bIns="0" rtlCol="0" anchor="ctr"/>
          <a:lstStyle/>
          <a:p>
            <a:pPr indent="0" marL="0">
              <a:buNone/>
            </a:pPr>
            <a:r>
              <a:rPr lang="en-US" sz="1350" b="1" dirty="0">
                <a:solidFill>
                  <a:srgbClr val="1F8A5B"/>
                </a:solidFill>
              </a:rPr>
              <a:t>2  </a:t>
            </a:r>
            <a:pPr indent="0" marL="0">
              <a:buNone/>
            </a:pPr>
            <a:r>
              <a:rPr lang="en-US" sz="1350" dirty="0">
                <a:solidFill>
                  <a:srgbClr val="1D2430"/>
                </a:solidFill>
              </a:rPr>
              <a:t>선행연구·국가 계획의 생활 영역</a:t>
            </a:r>
            <a:endParaRPr lang="en-US" sz="1350" dirty="0"/>
          </a:p>
        </p:txBody>
      </p:sp>
      <p:sp>
        <p:nvSpPr>
          <p:cNvPr id="10" name="Text 7"/>
          <p:cNvSpPr txBox="1"/>
          <p:nvPr/>
        </p:nvSpPr>
        <p:spPr>
          <a:xfrm>
            <a:off x="548640" y="2880360"/>
            <a:ext cx="4206240" cy="310896"/>
          </a:xfrm>
          <a:prstGeom prst="rect">
            <a:avLst/>
          </a:prstGeom>
          <a:noFill/>
          <a:ln/>
        </p:spPr>
        <p:txBody>
          <a:bodyPr wrap="square" lIns="0" tIns="0" rIns="0" bIns="0" rtlCol="0" anchor="ctr"/>
          <a:lstStyle/>
          <a:p>
            <a:pPr indent="0" marL="0">
              <a:buNone/>
            </a:pPr>
            <a:r>
              <a:rPr lang="en-US" sz="1350" b="1" dirty="0">
                <a:solidFill>
                  <a:srgbClr val="1F8A5B"/>
                </a:solidFill>
              </a:rPr>
              <a:t>3  </a:t>
            </a:r>
            <a:pPr indent="0" marL="0">
              <a:buNone/>
            </a:pPr>
            <a:r>
              <a:rPr lang="en-US" sz="1350" dirty="0">
                <a:solidFill>
                  <a:srgbClr val="1D2430"/>
                </a:solidFill>
              </a:rPr>
              <a:t>공식 지표로 충족 기준이 있음</a:t>
            </a:r>
            <a:endParaRPr lang="en-US" sz="1350" dirty="0"/>
          </a:p>
        </p:txBody>
      </p:sp>
      <p:sp>
        <p:nvSpPr>
          <p:cNvPr id="11" name="Text 8"/>
          <p:cNvSpPr txBox="1"/>
          <p:nvPr/>
        </p:nvSpPr>
        <p:spPr>
          <a:xfrm>
            <a:off x="548640" y="3246120"/>
            <a:ext cx="4206240" cy="310896"/>
          </a:xfrm>
          <a:prstGeom prst="rect">
            <a:avLst/>
          </a:prstGeom>
          <a:noFill/>
          <a:ln/>
        </p:spPr>
        <p:txBody>
          <a:bodyPr wrap="square" lIns="0" tIns="0" rIns="0" bIns="0" rtlCol="0" anchor="ctr"/>
          <a:lstStyle/>
          <a:p>
            <a:pPr indent="0" marL="0">
              <a:buNone/>
            </a:pPr>
            <a:r>
              <a:rPr lang="en-US" sz="1350" b="1" dirty="0">
                <a:solidFill>
                  <a:srgbClr val="1F8A5B"/>
                </a:solidFill>
              </a:rPr>
              <a:t>4  </a:t>
            </a:r>
            <a:pPr indent="0" marL="0">
              <a:buNone/>
            </a:pPr>
            <a:r>
              <a:rPr lang="en-US" sz="1350" dirty="0">
                <a:solidFill>
                  <a:srgbClr val="1D2430"/>
                </a:solidFill>
              </a:rPr>
              <a:t>영역당 대표 문항 1개</a:t>
            </a:r>
            <a:endParaRPr lang="en-US" sz="1350" dirty="0"/>
          </a:p>
        </p:txBody>
      </p:sp>
      <p:sp>
        <p:nvSpPr>
          <p:cNvPr id="12" name="Text 9"/>
          <p:cNvSpPr txBox="1"/>
          <p:nvPr/>
        </p:nvSpPr>
        <p:spPr>
          <a:xfrm>
            <a:off x="548640" y="3611880"/>
            <a:ext cx="4206240" cy="310896"/>
          </a:xfrm>
          <a:prstGeom prst="rect">
            <a:avLst/>
          </a:prstGeom>
          <a:noFill/>
          <a:ln/>
        </p:spPr>
        <p:txBody>
          <a:bodyPr wrap="square" lIns="0" tIns="0" rIns="0" bIns="0" rtlCol="0" anchor="ctr"/>
          <a:lstStyle/>
          <a:p>
            <a:pPr indent="0" marL="0">
              <a:buNone/>
            </a:pPr>
            <a:r>
              <a:rPr lang="en-US" sz="1350" b="1" dirty="0">
                <a:solidFill>
                  <a:srgbClr val="1F8A5B"/>
                </a:solidFill>
              </a:rPr>
              <a:t>5  </a:t>
            </a:r>
            <a:pPr indent="0" marL="0">
              <a:buNone/>
            </a:pPr>
            <a:r>
              <a:rPr lang="en-US" sz="1350" dirty="0">
                <a:solidFill>
                  <a:srgbClr val="1D2430"/>
                </a:solidFill>
              </a:rPr>
              <a:t>PHQ-9와 겹치는 수면은 민감도로만</a:t>
            </a:r>
            <a:endParaRPr lang="en-US" sz="1350" dirty="0"/>
          </a:p>
        </p:txBody>
      </p:sp>
      <p:sp>
        <p:nvSpPr>
          <p:cNvPr id="13" name="Text 10"/>
          <p:cNvSpPr txBox="1"/>
          <p:nvPr/>
        </p:nvSpPr>
        <p:spPr>
          <a:xfrm>
            <a:off x="548640" y="4114800"/>
            <a:ext cx="4206240" cy="292608"/>
          </a:xfrm>
          <a:prstGeom prst="rect">
            <a:avLst/>
          </a:prstGeom>
          <a:noFill/>
          <a:ln/>
        </p:spPr>
        <p:txBody>
          <a:bodyPr wrap="square" lIns="0" tIns="0" rIns="0" bIns="0" rtlCol="0" anchor="t"/>
          <a:lstStyle/>
          <a:p>
            <a:pPr indent="0" marL="0">
              <a:buNone/>
            </a:pPr>
            <a:r>
              <a:rPr lang="en-US" sz="1300" b="1" dirty="0">
                <a:solidFill>
                  <a:srgbClr val="5B6472"/>
                </a:solidFill>
              </a:rPr>
              <a:t>선정된 여섯 가지</a:t>
            </a:r>
            <a:endParaRPr lang="en-US" sz="1300" dirty="0"/>
          </a:p>
        </p:txBody>
      </p:sp>
      <p:sp>
        <p:nvSpPr>
          <p:cNvPr id="14" name="Text 11"/>
          <p:cNvSpPr txBox="1"/>
          <p:nvPr/>
        </p:nvSpPr>
        <p:spPr>
          <a:xfrm>
            <a:off x="548640" y="4480560"/>
            <a:ext cx="2011680" cy="310896"/>
          </a:xfrm>
          <a:prstGeom prst="roundRect">
            <a:avLst>
              <a:gd name="adj" fmla="val 47059"/>
            </a:avLst>
          </a:prstGeom>
          <a:solidFill>
            <a:srgbClr val="1D2430"/>
          </a:solidFill>
          <a:ln>
            <a:solidFill>
              <a:srgbClr val="1D2430"/>
            </a:solidFill>
          </a:ln>
        </p:spPr>
        <p:txBody>
          <a:bodyPr wrap="square" lIns="0" tIns="0" rIns="0" bIns="0" rtlCol="0" anchor="ctr"/>
          <a:lstStyle/>
          <a:p>
            <a:pPr algn="ctr" indent="0" marL="0">
              <a:buNone/>
            </a:pPr>
            <a:r>
              <a:rPr lang="en-US" sz="1200" b="1" dirty="0">
                <a:solidFill>
                  <a:srgbClr val="FFFFFF"/>
                </a:solidFill>
              </a:rPr>
              <a:t>신체활동 권고</a:t>
            </a:r>
            <a:endParaRPr lang="en-US" sz="1200" dirty="0"/>
          </a:p>
        </p:txBody>
      </p:sp>
      <p:sp>
        <p:nvSpPr>
          <p:cNvPr id="15" name="Text 12"/>
          <p:cNvSpPr txBox="1"/>
          <p:nvPr/>
        </p:nvSpPr>
        <p:spPr>
          <a:xfrm>
            <a:off x="2651760" y="4480560"/>
            <a:ext cx="20116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담배제품 미사용</a:t>
            </a:r>
            <a:endParaRPr lang="en-US" sz="1200" dirty="0"/>
          </a:p>
        </p:txBody>
      </p:sp>
      <p:sp>
        <p:nvSpPr>
          <p:cNvPr id="16" name="Text 13"/>
          <p:cNvSpPr txBox="1"/>
          <p:nvPr/>
        </p:nvSpPr>
        <p:spPr>
          <a:xfrm>
            <a:off x="548640" y="4882896"/>
            <a:ext cx="20116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고위험음주 아님</a:t>
            </a:r>
            <a:endParaRPr lang="en-US" sz="1200" dirty="0"/>
          </a:p>
        </p:txBody>
      </p:sp>
      <p:sp>
        <p:nvSpPr>
          <p:cNvPr id="17" name="Text 14"/>
          <p:cNvSpPr txBox="1"/>
          <p:nvPr/>
        </p:nvSpPr>
        <p:spPr>
          <a:xfrm>
            <a:off x="2651760" y="4882896"/>
            <a:ext cx="20116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아침식사 주 5회+</a:t>
            </a:r>
            <a:endParaRPr lang="en-US" sz="1200" dirty="0"/>
          </a:p>
        </p:txBody>
      </p:sp>
      <p:sp>
        <p:nvSpPr>
          <p:cNvPr id="18" name="Text 15"/>
          <p:cNvSpPr txBox="1"/>
          <p:nvPr/>
        </p:nvSpPr>
        <p:spPr>
          <a:xfrm>
            <a:off x="548640" y="5285232"/>
            <a:ext cx="20116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사회적 연결</a:t>
            </a:r>
            <a:endParaRPr lang="en-US" sz="1200" dirty="0"/>
          </a:p>
        </p:txBody>
      </p:sp>
      <p:sp>
        <p:nvSpPr>
          <p:cNvPr id="19" name="Text 16"/>
          <p:cNvSpPr txBox="1"/>
          <p:nvPr/>
        </p:nvSpPr>
        <p:spPr>
          <a:xfrm>
            <a:off x="2651760" y="5285232"/>
            <a:ext cx="2011680" cy="310896"/>
          </a:xfrm>
          <a:prstGeom prst="roundRect">
            <a:avLst>
              <a:gd name="adj" fmla="val 47059"/>
            </a:avLst>
          </a:prstGeom>
          <a:solidFill>
            <a:srgbClr val="DDF3E8"/>
          </a:solidFill>
          <a:ln>
            <a:solidFill>
              <a:srgbClr val="DDF3E8"/>
            </a:solidFill>
          </a:ln>
        </p:spPr>
        <p:txBody>
          <a:bodyPr wrap="square" lIns="0" tIns="0" rIns="0" bIns="0" rtlCol="0" anchor="ctr"/>
          <a:lstStyle/>
          <a:p>
            <a:pPr algn="ctr" indent="0" marL="0">
              <a:buNone/>
            </a:pPr>
            <a:r>
              <a:rPr lang="en-US" sz="1200" b="1" dirty="0">
                <a:solidFill>
                  <a:srgbClr val="1F8A5B"/>
                </a:solidFill>
              </a:rPr>
              <a:t>잠자기 전 칫솔질</a:t>
            </a:r>
            <a:endParaRPr lang="en-US" sz="1200" dirty="0"/>
          </a:p>
        </p:txBody>
      </p:sp>
      <p:pic>
        <p:nvPicPr>
          <p:cNvPr id="20" name="Image 0" descr="충족한 건강 생활요인 수별 조정 유병률">    </p:cNvPr>
          <p:cNvPicPr>
            <a:picLocks noChangeAspect="1"/>
          </p:cNvPicPr>
          <p:nvPr/>
        </p:nvPicPr>
        <p:blipFill>
          <a:blip r:embed="rId1"/>
          <a:stretch>
            <a:fillRect/>
          </a:stretch>
        </p:blipFill>
        <p:spPr>
          <a:xfrm>
            <a:off x="5029200" y="1645920"/>
            <a:ext cx="6583680" cy="3749040"/>
          </a:xfrm>
          <a:prstGeom prst="rect">
            <a:avLst/>
          </a:prstGeom>
        </p:spPr>
      </p:pic>
      <p:sp>
        <p:nvSpPr>
          <p:cNvPr id="21" name="Shape 17"/>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22" name="Text 18"/>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결과   </a:t>
            </a:r>
            <a:pPr indent="0" marL="0">
              <a:buNone/>
            </a:pPr>
            <a:r>
              <a:rPr lang="en-US" sz="1300" dirty="0">
                <a:solidFill>
                  <a:srgbClr val="1D2430"/>
                </a:solidFill>
              </a:rPr>
              <a:t>1개 늘 때마다 OR 0.70 [0.68, 0.72], 요인 하나씩 빼도 0.67~0.72. 0점이 1,000명 미만이라 0~1개로 합침</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같은 조사를 쓴 선행연구보다 해석의 근거를 단단하게 했다</a:t>
            </a:r>
            <a:endParaRPr lang="en-US" sz="26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의의</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286000"/>
                <a:gridCol w="4114800"/>
                <a:gridCol w="4693615"/>
              </a:tblGrid>
              <a:tr h="475488">
                <a:tc>
                  <a:txBody>
                    <a:bodyPr/>
                    <a:lstStyle/>
                    <a:p>
                      <a:pPr indent="0" marL="0">
                        <a:buNone/>
                      </a:pP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FFFFF"/>
                    </a:solidFill>
                  </a:tcPr>
                </a:tc>
                <a:tc>
                  <a:txBody>
                    <a:bodyPr/>
                    <a:lstStyle/>
                    <a:p>
                      <a:pPr indent="0" marL="0">
                        <a:buNone/>
                      </a:pPr>
                      <a:r>
                        <a:rPr lang="en-US" sz="1400" b="1" dirty="0">
                          <a:solidFill>
                            <a:srgbClr val="5B6472"/>
                          </a:solidFill>
                          <a:latin typeface="맑은 고딕" pitchFamily="34" charset="0"/>
                          <a:ea typeface="맑은 고딕" pitchFamily="34" charset="-122"/>
                          <a:cs typeface="맑은 고딕" pitchFamily="34" charset="-120"/>
                        </a:rPr>
                        <a:t>Han &amp; Park (2025, JKDISS)</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indent="0" marL="0">
                        <a:buNone/>
                      </a:pPr>
                      <a:r>
                        <a:rPr lang="en-US" sz="1400" b="1" dirty="0">
                          <a:solidFill>
                            <a:srgbClr val="1F8A5B"/>
                          </a:solidFill>
                          <a:latin typeface="맑은 고딕" pitchFamily="34" charset="0"/>
                          <a:ea typeface="맑은 고딕" pitchFamily="34" charset="-122"/>
                          <a:cs typeface="맑은 고딕" pitchFamily="34" charset="-120"/>
                        </a:rPr>
                        <a:t>이 연구 (v2.1)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DDF3E8"/>
                    </a:solidFill>
                  </a:tcPr>
                </a:tc>
              </a:tr>
              <a:tr h="475488">
                <a:tc>
                  <a:txBody>
                    <a:bodyPr/>
                    <a:lstStyle/>
                    <a:p>
                      <a:pPr indent="0" marL="0">
                        <a:buNone/>
                      </a:pPr>
                      <a:r>
                        <a:rPr lang="en-US" sz="1400" b="1" dirty="0">
                          <a:solidFill>
                            <a:srgbClr val="5B6472"/>
                          </a:solidFill>
                          <a:latin typeface="맑은 고딕" pitchFamily="34" charset="0"/>
                          <a:ea typeface="맑은 고딕" pitchFamily="34" charset="-122"/>
                          <a:cs typeface="맑은 고딕" pitchFamily="34" charset="-120"/>
                        </a:rPr>
                        <a:t>자료</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지역사회건강조사 2022, 227,366명</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b="1" dirty="0">
                          <a:solidFill>
                            <a:srgbClr val="1F8A5B"/>
                          </a:solidFill>
                          <a:latin typeface="맑은 고딕" pitchFamily="34" charset="0"/>
                          <a:ea typeface="맑은 고딕" pitchFamily="34" charset="-122"/>
                          <a:cs typeface="맑은 고딕" pitchFamily="34" charset="-120"/>
                        </a:rPr>
                        <a:t>지역사회건강조사 2025, 231,290명</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1FAF5"/>
                    </a:solidFill>
                  </a:tcPr>
                </a:tc>
              </a:tr>
              <a:tr h="475488">
                <a:tc>
                  <a:txBody>
                    <a:bodyPr/>
                    <a:lstStyle/>
                    <a:p>
                      <a:pPr indent="0" marL="0">
                        <a:buNone/>
                      </a:pPr>
                      <a:r>
                        <a:rPr lang="en-US" sz="1400" b="1" dirty="0">
                          <a:solidFill>
                            <a:srgbClr val="5B6472"/>
                          </a:solidFill>
                          <a:latin typeface="맑은 고딕" pitchFamily="34" charset="0"/>
                          <a:ea typeface="맑은 고딕" pitchFamily="34" charset="-122"/>
                          <a:cs typeface="맑은 고딕" pitchFamily="34" charset="-120"/>
                        </a:rPr>
                        <a:t>변수</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18개 → ML 중요도로 14개 선별</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b="1" dirty="0">
                          <a:solidFill>
                            <a:srgbClr val="1F8A5B"/>
                          </a:solidFill>
                          <a:latin typeface="맑은 고딕" pitchFamily="34" charset="0"/>
                          <a:ea typeface="맑은 고딕" pitchFamily="34" charset="-122"/>
                          <a:cs typeface="맑은 고딕" pitchFamily="34" charset="-120"/>
                        </a:rPr>
                        <a:t>8개 영역 66개, 선정 기준을 미리 정함</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1FAF5"/>
                    </a:solidFill>
                  </a:tcPr>
                </a:tc>
              </a:tr>
              <a:tr h="475488">
                <a:tc>
                  <a:txBody>
                    <a:bodyPr/>
                    <a:lstStyle/>
                    <a:p>
                      <a:pPr indent="0" marL="0">
                        <a:buNone/>
                      </a:pPr>
                      <a:r>
                        <a:rPr lang="en-US" sz="1400" b="1" dirty="0">
                          <a:solidFill>
                            <a:srgbClr val="5B6472"/>
                          </a:solidFill>
                          <a:latin typeface="맑은 고딕" pitchFamily="34" charset="0"/>
                          <a:ea typeface="맑은 고딕" pitchFamily="34" charset="-122"/>
                          <a:cs typeface="맑은 고딕" pitchFamily="34" charset="-120"/>
                        </a:rPr>
                        <a:t>스트레스·주관적 건강</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핵심 위험요인(OR 9.65, 3.38)</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b="1" dirty="0">
                          <a:solidFill>
                            <a:srgbClr val="1F8A5B"/>
                          </a:solidFill>
                          <a:latin typeface="맑은 고딕" pitchFamily="34" charset="0"/>
                          <a:ea typeface="맑은 고딕" pitchFamily="34" charset="-122"/>
                          <a:cs typeface="맑은 고딕" pitchFamily="34" charset="-120"/>
                        </a:rPr>
                        <a:t>PHQ-9와 겹쳐 주 분석에서 분리</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1FAF5"/>
                    </a:solidFill>
                  </a:tcPr>
                </a:tc>
              </a:tr>
              <a:tr h="475488">
                <a:tc>
                  <a:txBody>
                    <a:bodyPr/>
                    <a:lstStyle/>
                    <a:p>
                      <a:pPr indent="0" marL="0">
                        <a:buNone/>
                      </a:pPr>
                      <a:r>
                        <a:rPr lang="en-US" sz="1400" b="1" dirty="0">
                          <a:solidFill>
                            <a:srgbClr val="5B6472"/>
                          </a:solidFill>
                          <a:latin typeface="맑은 고딕" pitchFamily="34" charset="0"/>
                          <a:ea typeface="맑은 고딕" pitchFamily="34" charset="-122"/>
                          <a:cs typeface="맑은 고딕" pitchFamily="34" charset="-120"/>
                        </a:rPr>
                        <a:t>학습·시험 분할</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개인 단위 무작위 70/30 + SMOTE</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b="1" dirty="0">
                          <a:solidFill>
                            <a:srgbClr val="1F8A5B"/>
                          </a:solidFill>
                          <a:latin typeface="맑은 고딕" pitchFamily="34" charset="0"/>
                          <a:ea typeface="맑은 고딕" pitchFamily="34" charset="-122"/>
                          <a:cs typeface="맑은 고딕" pitchFamily="34" charset="-120"/>
                        </a:rPr>
                        <a:t>가구 단위 분할(가구원 섞임 방지)</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1FAF5"/>
                    </a:solidFill>
                  </a:tcPr>
                </a:tc>
              </a:tr>
              <a:tr h="475488">
                <a:tc>
                  <a:txBody>
                    <a:bodyPr/>
                    <a:lstStyle/>
                    <a:p>
                      <a:pPr indent="0" marL="0">
                        <a:buNone/>
                      </a:pPr>
                      <a:r>
                        <a:rPr lang="en-US" sz="1400" b="1" dirty="0">
                          <a:solidFill>
                            <a:srgbClr val="5B6472"/>
                          </a:solidFill>
                          <a:latin typeface="맑은 고딕" pitchFamily="34" charset="0"/>
                          <a:ea typeface="맑은 고딕" pitchFamily="34" charset="-122"/>
                          <a:cs typeface="맑은 고딕" pitchFamily="34" charset="-120"/>
                        </a:rPr>
                        <a:t>성능 지표</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정확도, macro F1, ROC-AUC 0.841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b="1" dirty="0">
                          <a:solidFill>
                            <a:srgbClr val="1F8A5B"/>
                          </a:solidFill>
                          <a:latin typeface="맑은 고딕" pitchFamily="34" charset="0"/>
                          <a:ea typeface="맑은 고딕" pitchFamily="34" charset="-122"/>
                          <a:cs typeface="맑은 고딕" pitchFamily="34" charset="-120"/>
                        </a:rPr>
                        <a:t>AP 0.283, ROC-AUC 0.846, 보정 1.02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1FAF5"/>
                    </a:solidFill>
                  </a:tcPr>
                </a:tc>
              </a:tr>
              <a:tr h="475488">
                <a:tc>
                  <a:txBody>
                    <a:bodyPr/>
                    <a:lstStyle/>
                    <a:p>
                      <a:pPr indent="0" marL="0">
                        <a:buNone/>
                      </a:pPr>
                      <a:r>
                        <a:rPr lang="en-US" sz="1400" b="1" dirty="0">
                          <a:solidFill>
                            <a:srgbClr val="5B6472"/>
                          </a:solidFill>
                          <a:latin typeface="맑은 고딕" pitchFamily="34" charset="0"/>
                          <a:ea typeface="맑은 고딕" pitchFamily="34" charset="-122"/>
                          <a:cs typeface="맑은 고딕" pitchFamily="34" charset="-120"/>
                        </a:rPr>
                        <a:t>같은 판정 비율 18.4%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민감도 약 67%, 정밀도 약 14%(역산)</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b="1" dirty="0">
                          <a:solidFill>
                            <a:srgbClr val="1F8A5B"/>
                          </a:solidFill>
                          <a:latin typeface="맑은 고딕" pitchFamily="34" charset="0"/>
                          <a:ea typeface="맑은 고딕" pitchFamily="34" charset="-122"/>
                          <a:cs typeface="맑은 고딕" pitchFamily="34" charset="-120"/>
                        </a:rPr>
                        <a:t>민감도 68.7%, 정밀도 14.5%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1FAF5"/>
                    </a:solidFill>
                  </a:tcPr>
                </a:tc>
              </a:tr>
              <a:tr h="475488">
                <a:tc>
                  <a:txBody>
                    <a:bodyPr/>
                    <a:lstStyle/>
                    <a:p>
                      <a:pPr indent="0" marL="0">
                        <a:buNone/>
                      </a:pPr>
                      <a:r>
                        <a:rPr lang="en-US" sz="1400" b="1" dirty="0">
                          <a:solidFill>
                            <a:srgbClr val="5B6472"/>
                          </a:solidFill>
                          <a:latin typeface="맑은 고딕" pitchFamily="34" charset="0"/>
                          <a:ea typeface="맑은 고딕" pitchFamily="34" charset="-122"/>
                          <a:cs typeface="맑은 고딕" pitchFamily="34" charset="-120"/>
                        </a:rPr>
                        <a:t>회귀</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가중 로지스틱 회귀</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b="1" dirty="0">
                          <a:solidFill>
                            <a:srgbClr val="1F8A5B"/>
                          </a:solidFill>
                          <a:latin typeface="맑은 고딕" pitchFamily="34" charset="0"/>
                          <a:ea typeface="맑은 고딕" pitchFamily="34" charset="-122"/>
                          <a:cs typeface="맑은 고딕" pitchFamily="34" charset="-120"/>
                        </a:rPr>
                        <a:t>가중치·층·집락 반영, 53개 동시 조정</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1FAF5"/>
                    </a:solidFill>
                  </a:tcPr>
                </a:tc>
              </a:tr>
            </a:tbl>
          </a:graphicData>
        </a:graphic>
      </p:graphicFrame>
      <p:sp>
        <p:nvSpPr>
          <p:cNvPr id="6" name="Shape 2"/>
          <p:cNvSpPr/>
          <p:nvPr/>
        </p:nvSpPr>
        <p:spPr>
          <a:xfrm>
            <a:off x="548640" y="5760720"/>
            <a:ext cx="11094415" cy="457200"/>
          </a:xfrm>
          <a:prstGeom prst="roundRect">
            <a:avLst>
              <a:gd name="adj" fmla="val 20000"/>
            </a:avLst>
          </a:prstGeom>
          <a:solidFill>
            <a:srgbClr val="FDEBC8"/>
          </a:solidFill>
          <a:ln w="9525">
            <a:solidFill>
              <a:srgbClr val="FDEBC8"/>
            </a:solidFill>
            <a:prstDash val="solid"/>
          </a:ln>
        </p:spPr>
      </p:sp>
      <p:sp>
        <p:nvSpPr>
          <p:cNvPr id="7" name="Text 3"/>
          <p:cNvSpPr txBox="1"/>
          <p:nvPr/>
        </p:nvSpPr>
        <p:spPr>
          <a:xfrm>
            <a:off x="777240" y="5760720"/>
            <a:ext cx="10637215" cy="457200"/>
          </a:xfrm>
          <a:prstGeom prst="rect">
            <a:avLst/>
          </a:prstGeom>
          <a:noFill/>
          <a:ln/>
        </p:spPr>
        <p:txBody>
          <a:bodyPr wrap="square" lIns="0" tIns="0" rIns="0" bIns="0" rtlCol="0" anchor="ctr"/>
          <a:lstStyle/>
          <a:p>
            <a:pPr indent="0" marL="0">
              <a:buNone/>
            </a:pPr>
            <a:r>
              <a:rPr lang="en-US" sz="1300" b="1" dirty="0">
                <a:solidFill>
                  <a:srgbClr val="A86400"/>
                </a:solidFill>
              </a:rPr>
              <a:t>주의   </a:t>
            </a:r>
            <a:pPr indent="0" marL="0">
              <a:buNone/>
            </a:pPr>
            <a:r>
              <a:rPr lang="en-US" sz="1300" dirty="0">
                <a:solidFill>
                  <a:srgbClr val="1D2430"/>
                </a:solidFill>
              </a:rPr>
              <a:t>조사 연도(2022 vs 2025)와 분할 방식이 달라 성능 수치는 엄밀한 일대일 비교가 아니다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FFFFFF"/>
                </a:solidFill>
              </a:rPr>
              <a:t>제언: 운동을 사람과 생활습관에 묶는 프로그램</a:t>
            </a:r>
            <a:endParaRPr lang="en-US" sz="26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A9B2C0"/>
                </a:solidFill>
              </a:rPr>
              <a:t>의의</a:t>
            </a:r>
            <a:endParaRPr lang="en-US" sz="1300" dirty="0"/>
          </a:p>
        </p:txBody>
      </p:sp>
      <p:sp>
        <p:nvSpPr>
          <p:cNvPr id="5" name="Shape 2"/>
          <p:cNvSpPr/>
          <p:nvPr/>
        </p:nvSpPr>
        <p:spPr>
          <a:xfrm>
            <a:off x="548640" y="1783080"/>
            <a:ext cx="11094415" cy="914"/>
          </a:xfrm>
          <a:prstGeom prst="line">
            <a:avLst/>
          </a:prstGeom>
          <a:noFill/>
          <a:ln w="12700">
            <a:solidFill>
              <a:srgbClr val="2A3342"/>
            </a:solidFill>
            <a:prstDash val="solid"/>
          </a:ln>
        </p:spPr>
      </p:sp>
      <p:sp>
        <p:nvSpPr>
          <p:cNvPr id="6" name="Text 3"/>
          <p:cNvSpPr txBox="1"/>
          <p:nvPr/>
        </p:nvSpPr>
        <p:spPr>
          <a:xfrm>
            <a:off x="548640" y="2011680"/>
            <a:ext cx="3108960" cy="548640"/>
          </a:xfrm>
          <a:prstGeom prst="rect">
            <a:avLst/>
          </a:prstGeom>
          <a:noFill/>
          <a:ln/>
        </p:spPr>
        <p:txBody>
          <a:bodyPr wrap="square" lIns="0" tIns="0" rIns="0" bIns="0" rtlCol="0" anchor="t"/>
          <a:lstStyle/>
          <a:p>
            <a:pPr indent="0" marL="0">
              <a:buNone/>
            </a:pPr>
            <a:r>
              <a:rPr lang="en-US" sz="2400" b="1" dirty="0">
                <a:solidFill>
                  <a:srgbClr val="FFFFFF"/>
                </a:solidFill>
              </a:rPr>
              <a:t>교류형 운동</a:t>
            </a:r>
            <a:endParaRPr lang="en-US" sz="2400" dirty="0"/>
          </a:p>
        </p:txBody>
      </p:sp>
      <p:sp>
        <p:nvSpPr>
          <p:cNvPr id="7" name="Text 4"/>
          <p:cNvSpPr txBox="1"/>
          <p:nvPr/>
        </p:nvSpPr>
        <p:spPr>
          <a:xfrm>
            <a:off x="3840480" y="1947672"/>
            <a:ext cx="4206240" cy="822960"/>
          </a:xfrm>
          <a:prstGeom prst="rect">
            <a:avLst/>
          </a:prstGeom>
          <a:noFill/>
          <a:ln/>
        </p:spPr>
        <p:txBody>
          <a:bodyPr wrap="square" lIns="0" tIns="0" rIns="0" bIns="0" rtlCol="0" anchor="t"/>
          <a:lstStyle/>
          <a:p>
            <a:pPr indent="0" marL="0">
              <a:buNone/>
            </a:pPr>
            <a:r>
              <a:rPr lang="en-US" sz="2200" b="1" dirty="0">
                <a:solidFill>
                  <a:srgbClr val="5BC596"/>
                </a:solidFill>
              </a:rPr>
              <a:t>2.5% vs 5.3%</a:t>
            </a:r>
            <a:endParaRPr lang="en-US" sz="1400" dirty="0"/>
          </a:p>
          <a:p>
            <a:pPr indent="0" marL="0">
              <a:buNone/>
            </a:pPr>
            <a:r>
              <a:rPr lang="en-US" sz="1200" dirty="0">
                <a:solidFill>
                  <a:srgbClr val="A9B2C0"/>
                </a:solidFill>
              </a:rPr>
              <a:t>신체활동 + 사회적 연결 / 둘 다 아님</a:t>
            </a:r>
            <a:endParaRPr lang="en-US" sz="1400" dirty="0"/>
          </a:p>
        </p:txBody>
      </p:sp>
      <p:sp>
        <p:nvSpPr>
          <p:cNvPr id="8" name="Text 5"/>
          <p:cNvSpPr txBox="1"/>
          <p:nvPr/>
        </p:nvSpPr>
        <p:spPr>
          <a:xfrm>
            <a:off x="8229600" y="2011680"/>
            <a:ext cx="3410712" cy="685800"/>
          </a:xfrm>
          <a:prstGeom prst="rect">
            <a:avLst/>
          </a:prstGeom>
          <a:noFill/>
          <a:ln/>
        </p:spPr>
        <p:txBody>
          <a:bodyPr wrap="square" lIns="0" tIns="0" rIns="0" bIns="0" rtlCol="0" anchor="t"/>
          <a:lstStyle/>
          <a:p>
            <a:pPr indent="0" marL="0">
              <a:buNone/>
            </a:pPr>
            <a:r>
              <a:rPr lang="en-US" sz="1400" dirty="0">
                <a:solidFill>
                  <a:srgbClr val="F3F5F8"/>
                </a:solidFill>
              </a:rPr>
              <a:t>걷기 모임, 동호회처럼 함께하는 운동</a:t>
            </a:r>
            <a:endParaRPr lang="en-US" sz="1400" dirty="0"/>
          </a:p>
        </p:txBody>
      </p:sp>
      <p:sp>
        <p:nvSpPr>
          <p:cNvPr id="9" name="Shape 6"/>
          <p:cNvSpPr/>
          <p:nvPr/>
        </p:nvSpPr>
        <p:spPr>
          <a:xfrm>
            <a:off x="548640" y="2926080"/>
            <a:ext cx="11094415" cy="914"/>
          </a:xfrm>
          <a:prstGeom prst="line">
            <a:avLst/>
          </a:prstGeom>
          <a:noFill/>
          <a:ln w="12700">
            <a:solidFill>
              <a:srgbClr val="2A3342"/>
            </a:solidFill>
            <a:prstDash val="solid"/>
          </a:ln>
        </p:spPr>
      </p:sp>
      <p:sp>
        <p:nvSpPr>
          <p:cNvPr id="10" name="Text 7"/>
          <p:cNvSpPr txBox="1"/>
          <p:nvPr/>
        </p:nvSpPr>
        <p:spPr>
          <a:xfrm>
            <a:off x="548640" y="3154680"/>
            <a:ext cx="3108960" cy="548640"/>
          </a:xfrm>
          <a:prstGeom prst="rect">
            <a:avLst/>
          </a:prstGeom>
          <a:noFill/>
          <a:ln/>
        </p:spPr>
        <p:txBody>
          <a:bodyPr wrap="square" lIns="0" tIns="0" rIns="0" bIns="0" rtlCol="0" anchor="t"/>
          <a:lstStyle/>
          <a:p>
            <a:pPr indent="0" marL="0">
              <a:buNone/>
            </a:pPr>
            <a:r>
              <a:rPr lang="en-US" sz="2400" b="1" dirty="0">
                <a:solidFill>
                  <a:srgbClr val="FFFFFF"/>
                </a:solidFill>
              </a:rPr>
              <a:t>생활 단위 실천</a:t>
            </a:r>
            <a:endParaRPr lang="en-US" sz="2400" dirty="0"/>
          </a:p>
        </p:txBody>
      </p:sp>
      <p:sp>
        <p:nvSpPr>
          <p:cNvPr id="11" name="Text 8"/>
          <p:cNvSpPr txBox="1"/>
          <p:nvPr/>
        </p:nvSpPr>
        <p:spPr>
          <a:xfrm>
            <a:off x="3840480" y="3090672"/>
            <a:ext cx="4206240" cy="822960"/>
          </a:xfrm>
          <a:prstGeom prst="rect">
            <a:avLst/>
          </a:prstGeom>
          <a:noFill/>
          <a:ln/>
        </p:spPr>
        <p:txBody>
          <a:bodyPr wrap="square" lIns="0" tIns="0" rIns="0" bIns="0" rtlCol="0" anchor="t"/>
          <a:lstStyle/>
          <a:p>
            <a:pPr indent="0" marL="0">
              <a:buNone/>
            </a:pPr>
            <a:r>
              <a:rPr lang="en-US" sz="2200" b="1" dirty="0">
                <a:solidFill>
                  <a:srgbClr val="5BC596"/>
                </a:solidFill>
              </a:rPr>
              <a:t>9.0% → 2.1%</a:t>
            </a:r>
            <a:endParaRPr lang="en-US" sz="1400" dirty="0"/>
          </a:p>
          <a:p>
            <a:pPr indent="0" marL="0">
              <a:buNone/>
            </a:pPr>
            <a:r>
              <a:rPr lang="en-US" sz="1200" dirty="0">
                <a:solidFill>
                  <a:srgbClr val="A9B2C0"/>
                </a:solidFill>
              </a:rPr>
              <a:t>건강 생활요인 0~1개 → 6개</a:t>
            </a:r>
            <a:endParaRPr lang="en-US" sz="1400" dirty="0"/>
          </a:p>
        </p:txBody>
      </p:sp>
      <p:sp>
        <p:nvSpPr>
          <p:cNvPr id="12" name="Text 9"/>
          <p:cNvSpPr txBox="1"/>
          <p:nvPr/>
        </p:nvSpPr>
        <p:spPr>
          <a:xfrm>
            <a:off x="8229600" y="3154680"/>
            <a:ext cx="3410712" cy="685800"/>
          </a:xfrm>
          <a:prstGeom prst="rect">
            <a:avLst/>
          </a:prstGeom>
          <a:noFill/>
          <a:ln/>
        </p:spPr>
        <p:txBody>
          <a:bodyPr wrap="square" lIns="0" tIns="0" rIns="0" bIns="0" rtlCol="0" anchor="t"/>
          <a:lstStyle/>
          <a:p>
            <a:pPr indent="0" marL="0">
              <a:buNone/>
            </a:pPr>
            <a:r>
              <a:rPr lang="en-US" sz="1400" dirty="0">
                <a:solidFill>
                  <a:srgbClr val="F3F5F8"/>
                </a:solidFill>
              </a:rPr>
              <a:t>운동에 식사, 금연, 절주, 칫솔질까지</a:t>
            </a:r>
            <a:endParaRPr lang="en-US" sz="1400" dirty="0"/>
          </a:p>
        </p:txBody>
      </p:sp>
      <p:sp>
        <p:nvSpPr>
          <p:cNvPr id="13" name="Shape 10"/>
          <p:cNvSpPr/>
          <p:nvPr/>
        </p:nvSpPr>
        <p:spPr>
          <a:xfrm>
            <a:off x="548640" y="4069080"/>
            <a:ext cx="11094415" cy="914"/>
          </a:xfrm>
          <a:prstGeom prst="line">
            <a:avLst/>
          </a:prstGeom>
          <a:noFill/>
          <a:ln w="12700">
            <a:solidFill>
              <a:srgbClr val="2A3342"/>
            </a:solidFill>
            <a:prstDash val="solid"/>
          </a:ln>
        </p:spPr>
      </p:sp>
      <p:sp>
        <p:nvSpPr>
          <p:cNvPr id="14" name="Text 11"/>
          <p:cNvSpPr txBox="1"/>
          <p:nvPr/>
        </p:nvSpPr>
        <p:spPr>
          <a:xfrm>
            <a:off x="548640" y="4297680"/>
            <a:ext cx="3108960" cy="548640"/>
          </a:xfrm>
          <a:prstGeom prst="rect">
            <a:avLst/>
          </a:prstGeom>
          <a:noFill/>
          <a:ln/>
        </p:spPr>
        <p:txBody>
          <a:bodyPr wrap="square" lIns="0" tIns="0" rIns="0" bIns="0" rtlCol="0" anchor="t"/>
          <a:lstStyle/>
          <a:p>
            <a:pPr indent="0" marL="0">
              <a:buNone/>
            </a:pPr>
            <a:r>
              <a:rPr lang="en-US" sz="2400" b="1" dirty="0">
                <a:solidFill>
                  <a:srgbClr val="FFFFFF"/>
                </a:solidFill>
              </a:rPr>
              <a:t>연령별 맞춤</a:t>
            </a:r>
            <a:endParaRPr lang="en-US" sz="2400" dirty="0"/>
          </a:p>
        </p:txBody>
      </p:sp>
      <p:sp>
        <p:nvSpPr>
          <p:cNvPr id="15" name="Text 12"/>
          <p:cNvSpPr txBox="1"/>
          <p:nvPr/>
        </p:nvSpPr>
        <p:spPr>
          <a:xfrm>
            <a:off x="3840480" y="4233672"/>
            <a:ext cx="4206240" cy="822960"/>
          </a:xfrm>
          <a:prstGeom prst="rect">
            <a:avLst/>
          </a:prstGeom>
          <a:noFill/>
          <a:ln/>
        </p:spPr>
        <p:txBody>
          <a:bodyPr wrap="square" lIns="0" tIns="0" rIns="0" bIns="0" rtlCol="0" anchor="t"/>
          <a:lstStyle/>
          <a:p>
            <a:pPr indent="0" marL="0">
              <a:buNone/>
            </a:pPr>
            <a:r>
              <a:rPr lang="en-US" sz="2200" b="1" dirty="0">
                <a:solidFill>
                  <a:srgbClr val="5BC596"/>
                </a:solidFill>
              </a:rPr>
              <a:t>청년 · 중장년 · 노년</a:t>
            </a:r>
            <a:endParaRPr lang="en-US" sz="1400" dirty="0"/>
          </a:p>
          <a:p>
            <a:pPr indent="0" marL="0">
              <a:buNone/>
            </a:pPr>
            <a:r>
              <a:rPr lang="en-US" sz="1200" dirty="0">
                <a:solidFill>
                  <a:srgbClr val="A9B2C0"/>
                </a:solidFill>
              </a:rPr>
              <a:t>생활습관 / 경제 / 신체건강과 의료접근</a:t>
            </a:r>
            <a:endParaRPr lang="en-US" sz="1400" dirty="0"/>
          </a:p>
        </p:txBody>
      </p:sp>
      <p:sp>
        <p:nvSpPr>
          <p:cNvPr id="16" name="Text 13"/>
          <p:cNvSpPr txBox="1"/>
          <p:nvPr/>
        </p:nvSpPr>
        <p:spPr>
          <a:xfrm>
            <a:off x="8229600" y="4297680"/>
            <a:ext cx="3410712" cy="685800"/>
          </a:xfrm>
          <a:prstGeom prst="rect">
            <a:avLst/>
          </a:prstGeom>
          <a:noFill/>
          <a:ln/>
        </p:spPr>
        <p:txBody>
          <a:bodyPr wrap="square" lIns="0" tIns="0" rIns="0" bIns="0" rtlCol="0" anchor="t"/>
          <a:lstStyle/>
          <a:p>
            <a:pPr indent="0" marL="0">
              <a:buNone/>
            </a:pPr>
            <a:r>
              <a:rPr lang="en-US" sz="1400" dirty="0">
                <a:solidFill>
                  <a:srgbClr val="F3F5F8"/>
                </a:solidFill>
              </a:rPr>
              <a:t>치과·낙상·식품 지원을 정신건강과 연계</a:t>
            </a:r>
            <a:endParaRPr lang="en-US" sz="1400" dirty="0"/>
          </a:p>
        </p:txBody>
      </p:sp>
      <p:sp>
        <p:nvSpPr>
          <p:cNvPr id="17" name="Shape 14"/>
          <p:cNvSpPr/>
          <p:nvPr/>
        </p:nvSpPr>
        <p:spPr>
          <a:xfrm>
            <a:off x="548640" y="5212080"/>
            <a:ext cx="11094415" cy="914"/>
          </a:xfrm>
          <a:prstGeom prst="line">
            <a:avLst/>
          </a:prstGeom>
          <a:noFill/>
          <a:ln w="12700">
            <a:solidFill>
              <a:srgbClr val="2A3342"/>
            </a:solidFill>
            <a:prstDash val="solid"/>
          </a:ln>
        </p:spPr>
      </p:sp>
      <p:sp>
        <p:nvSpPr>
          <p:cNvPr id="18" name="Text 15"/>
          <p:cNvSpPr txBox="1"/>
          <p:nvPr/>
        </p:nvSpPr>
        <p:spPr>
          <a:xfrm>
            <a:off x="548640" y="5394960"/>
            <a:ext cx="11094415" cy="731520"/>
          </a:xfrm>
          <a:prstGeom prst="rect">
            <a:avLst/>
          </a:prstGeom>
          <a:noFill/>
          <a:ln/>
        </p:spPr>
        <p:txBody>
          <a:bodyPr wrap="square" lIns="0" tIns="0" rIns="0" bIns="0" rtlCol="0" anchor="t"/>
          <a:lstStyle/>
          <a:p>
            <a:pPr indent="0" marL="0">
              <a:buNone/>
            </a:pPr>
            <a:r>
              <a:rPr lang="en-US" sz="1400" b="1" dirty="0">
                <a:solidFill>
                  <a:srgbClr val="FDEBC8"/>
                </a:solidFill>
              </a:rPr>
              <a:t>스포츠산업 시사점   </a:t>
            </a:r>
            <a:pPr indent="0" marL="0">
              <a:buNone/>
            </a:pPr>
            <a:r>
              <a:rPr lang="en-US" sz="1400" dirty="0">
                <a:solidFill>
                  <a:srgbClr val="F3F5F8"/>
                </a:solidFill>
              </a:rPr>
              <a:t>생활체육 시설과 동호회는 운동을 제공하는 동시에 관계를 만드는 곳이 될 수 있다. 결합 프로그램의 효과는 중재연구로 확인할 과제다.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B2C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600" b="1" dirty="0">
                <a:solidFill>
                  <a:srgbClr val="1D2430"/>
                </a:solidFill>
              </a:rPr>
              <a:t>한계를 분명히 하고, 피드백을 반영해 마무리한다</a:t>
            </a:r>
            <a:endParaRPr lang="en-US" sz="26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마무리</a:t>
            </a:r>
            <a:endParaRPr lang="en-US" sz="1300" dirty="0"/>
          </a:p>
        </p:txBody>
      </p:sp>
      <p:sp>
        <p:nvSpPr>
          <p:cNvPr id="5" name="Text 2"/>
          <p:cNvSpPr txBox="1"/>
          <p:nvPr/>
        </p:nvSpPr>
        <p:spPr>
          <a:xfrm>
            <a:off x="548640" y="1783080"/>
            <a:ext cx="4572000" cy="320040"/>
          </a:xfrm>
          <a:prstGeom prst="rect">
            <a:avLst/>
          </a:prstGeom>
          <a:noFill/>
          <a:ln/>
        </p:spPr>
        <p:txBody>
          <a:bodyPr wrap="square" lIns="0" tIns="0" rIns="0" bIns="0" rtlCol="0" anchor="t"/>
          <a:lstStyle/>
          <a:p>
            <a:pPr indent="0" marL="0">
              <a:buNone/>
            </a:pPr>
            <a:r>
              <a:rPr lang="en-US" sz="1600" b="1" dirty="0">
                <a:solidFill>
                  <a:srgbClr val="1D2430"/>
                </a:solidFill>
              </a:rPr>
              <a:t>한계</a:t>
            </a:r>
            <a:endParaRPr lang="en-US" sz="1600" dirty="0"/>
          </a:p>
        </p:txBody>
      </p:sp>
      <p:sp>
        <p:nvSpPr>
          <p:cNvPr id="6" name="Shape 3"/>
          <p:cNvSpPr/>
          <p:nvPr/>
        </p:nvSpPr>
        <p:spPr>
          <a:xfrm>
            <a:off x="548640" y="2286000"/>
            <a:ext cx="73152" cy="621792"/>
          </a:xfrm>
          <a:prstGeom prst="rect">
            <a:avLst/>
          </a:prstGeom>
          <a:solidFill>
            <a:srgbClr val="C2412D"/>
          </a:solidFill>
          <a:ln w="9525">
            <a:solidFill>
              <a:srgbClr val="C2412D"/>
            </a:solidFill>
            <a:prstDash val="solid"/>
          </a:ln>
        </p:spPr>
      </p:sp>
      <p:sp>
        <p:nvSpPr>
          <p:cNvPr id="7" name="Text 4"/>
          <p:cNvSpPr txBox="1"/>
          <p:nvPr/>
        </p:nvSpPr>
        <p:spPr>
          <a:xfrm>
            <a:off x="822960" y="2240280"/>
            <a:ext cx="4846320" cy="329184"/>
          </a:xfrm>
          <a:prstGeom prst="rect">
            <a:avLst/>
          </a:prstGeom>
          <a:noFill/>
          <a:ln/>
        </p:spPr>
        <p:txBody>
          <a:bodyPr wrap="square" lIns="0" tIns="0" rIns="0" bIns="0" rtlCol="0" anchor="t"/>
          <a:lstStyle/>
          <a:p>
            <a:pPr indent="0" marL="0">
              <a:buNone/>
            </a:pPr>
            <a:r>
              <a:rPr lang="en-US" sz="1500" b="1" dirty="0">
                <a:solidFill>
                  <a:srgbClr val="1D2430"/>
                </a:solidFill>
              </a:rPr>
              <a:t>횡단면 자료</a:t>
            </a:r>
            <a:endParaRPr lang="en-US" sz="1500" dirty="0"/>
          </a:p>
        </p:txBody>
      </p:sp>
      <p:sp>
        <p:nvSpPr>
          <p:cNvPr id="8" name="Text 5"/>
          <p:cNvSpPr txBox="1"/>
          <p:nvPr/>
        </p:nvSpPr>
        <p:spPr>
          <a:xfrm>
            <a:off x="822960" y="2587752"/>
            <a:ext cx="4846320" cy="310896"/>
          </a:xfrm>
          <a:prstGeom prst="rect">
            <a:avLst/>
          </a:prstGeom>
          <a:noFill/>
          <a:ln/>
        </p:spPr>
        <p:txBody>
          <a:bodyPr wrap="square" lIns="0" tIns="0" rIns="0" bIns="0" rtlCol="0" anchor="t"/>
          <a:lstStyle/>
          <a:p>
            <a:pPr indent="0" marL="0">
              <a:buNone/>
            </a:pPr>
            <a:r>
              <a:rPr lang="en-US" sz="1300" dirty="0">
                <a:solidFill>
                  <a:srgbClr val="5B6472"/>
                </a:solidFill>
              </a:rPr>
              <a:t>역인과 가능성 — 모든 결과를 관련 요인으로 서술</a:t>
            </a:r>
            <a:endParaRPr lang="en-US" sz="1300" dirty="0"/>
          </a:p>
        </p:txBody>
      </p:sp>
      <p:sp>
        <p:nvSpPr>
          <p:cNvPr id="9" name="Shape 6"/>
          <p:cNvSpPr/>
          <p:nvPr/>
        </p:nvSpPr>
        <p:spPr>
          <a:xfrm>
            <a:off x="548640" y="3108960"/>
            <a:ext cx="73152" cy="621792"/>
          </a:xfrm>
          <a:prstGeom prst="rect">
            <a:avLst/>
          </a:prstGeom>
          <a:solidFill>
            <a:srgbClr val="C2412D"/>
          </a:solidFill>
          <a:ln w="9525">
            <a:solidFill>
              <a:srgbClr val="C2412D"/>
            </a:solidFill>
            <a:prstDash val="solid"/>
          </a:ln>
        </p:spPr>
      </p:sp>
      <p:sp>
        <p:nvSpPr>
          <p:cNvPr id="10" name="Text 7"/>
          <p:cNvSpPr txBox="1"/>
          <p:nvPr/>
        </p:nvSpPr>
        <p:spPr>
          <a:xfrm>
            <a:off x="822960" y="3063240"/>
            <a:ext cx="4846320" cy="329184"/>
          </a:xfrm>
          <a:prstGeom prst="rect">
            <a:avLst/>
          </a:prstGeom>
          <a:noFill/>
          <a:ln/>
        </p:spPr>
        <p:txBody>
          <a:bodyPr wrap="square" lIns="0" tIns="0" rIns="0" bIns="0" rtlCol="0" anchor="t"/>
          <a:lstStyle/>
          <a:p>
            <a:pPr indent="0" marL="0">
              <a:buNone/>
            </a:pPr>
            <a:r>
              <a:rPr lang="en-US" sz="1500" b="1" dirty="0">
                <a:solidFill>
                  <a:srgbClr val="1D2430"/>
                </a:solidFill>
              </a:rPr>
              <a:t>자기보고 측정</a:t>
            </a:r>
            <a:endParaRPr lang="en-US" sz="1500" dirty="0"/>
          </a:p>
        </p:txBody>
      </p:sp>
      <p:sp>
        <p:nvSpPr>
          <p:cNvPr id="11" name="Text 8"/>
          <p:cNvSpPr txBox="1"/>
          <p:nvPr/>
        </p:nvSpPr>
        <p:spPr>
          <a:xfrm>
            <a:off x="822960" y="3410712"/>
            <a:ext cx="4846320" cy="310896"/>
          </a:xfrm>
          <a:prstGeom prst="rect">
            <a:avLst/>
          </a:prstGeom>
          <a:noFill/>
          <a:ln/>
        </p:spPr>
        <p:txBody>
          <a:bodyPr wrap="square" lIns="0" tIns="0" rIns="0" bIns="0" rtlCol="0" anchor="t"/>
          <a:lstStyle/>
          <a:p>
            <a:pPr indent="0" marL="0">
              <a:buNone/>
            </a:pPr>
            <a:r>
              <a:rPr lang="en-US" sz="1300" dirty="0">
                <a:solidFill>
                  <a:srgbClr val="5B6472"/>
                </a:solidFill>
              </a:rPr>
              <a:t>PHQ-9 기준 충족은 임상 진단이 아님</a:t>
            </a:r>
            <a:endParaRPr lang="en-US" sz="1300" dirty="0"/>
          </a:p>
        </p:txBody>
      </p:sp>
      <p:sp>
        <p:nvSpPr>
          <p:cNvPr id="12" name="Shape 9"/>
          <p:cNvSpPr/>
          <p:nvPr/>
        </p:nvSpPr>
        <p:spPr>
          <a:xfrm>
            <a:off x="548640" y="3931920"/>
            <a:ext cx="73152" cy="621792"/>
          </a:xfrm>
          <a:prstGeom prst="rect">
            <a:avLst/>
          </a:prstGeom>
          <a:solidFill>
            <a:srgbClr val="C2412D"/>
          </a:solidFill>
          <a:ln w="9525">
            <a:solidFill>
              <a:srgbClr val="C2412D"/>
            </a:solidFill>
            <a:prstDash val="solid"/>
          </a:ln>
        </p:spPr>
      </p:sp>
      <p:sp>
        <p:nvSpPr>
          <p:cNvPr id="13" name="Text 10"/>
          <p:cNvSpPr txBox="1"/>
          <p:nvPr/>
        </p:nvSpPr>
        <p:spPr>
          <a:xfrm>
            <a:off x="822960" y="3886200"/>
            <a:ext cx="4846320" cy="329184"/>
          </a:xfrm>
          <a:prstGeom prst="rect">
            <a:avLst/>
          </a:prstGeom>
          <a:noFill/>
          <a:ln/>
        </p:spPr>
        <p:txBody>
          <a:bodyPr wrap="square" lIns="0" tIns="0" rIns="0" bIns="0" rtlCol="0" anchor="t"/>
          <a:lstStyle/>
          <a:p>
            <a:pPr indent="0" marL="0">
              <a:buNone/>
            </a:pPr>
            <a:r>
              <a:rPr lang="en-US" sz="1500" b="1" dirty="0">
                <a:solidFill>
                  <a:srgbClr val="1D2430"/>
                </a:solidFill>
              </a:rPr>
              <a:t>측정되지 않은 요인</a:t>
            </a:r>
            <a:endParaRPr lang="en-US" sz="1500" dirty="0"/>
          </a:p>
        </p:txBody>
      </p:sp>
      <p:sp>
        <p:nvSpPr>
          <p:cNvPr id="14" name="Text 11"/>
          <p:cNvSpPr txBox="1"/>
          <p:nvPr/>
        </p:nvSpPr>
        <p:spPr>
          <a:xfrm>
            <a:off x="822960" y="4233672"/>
            <a:ext cx="4846320" cy="310896"/>
          </a:xfrm>
          <a:prstGeom prst="rect">
            <a:avLst/>
          </a:prstGeom>
          <a:noFill/>
          <a:ln/>
        </p:spPr>
        <p:txBody>
          <a:bodyPr wrap="square" lIns="0" tIns="0" rIns="0" bIns="0" rtlCol="0" anchor="t"/>
          <a:lstStyle/>
          <a:p>
            <a:pPr indent="0" marL="0">
              <a:buNone/>
            </a:pPr>
            <a:r>
              <a:rPr lang="en-US" sz="1300" dirty="0">
                <a:solidFill>
                  <a:srgbClr val="5B6472"/>
                </a:solidFill>
              </a:rPr>
              <a:t>좌식행동 문항 없음, 식생활은 아침식사로 대리</a:t>
            </a:r>
            <a:endParaRPr lang="en-US" sz="1300" dirty="0"/>
          </a:p>
        </p:txBody>
      </p:sp>
      <p:sp>
        <p:nvSpPr>
          <p:cNvPr id="15" name="Shape 12"/>
          <p:cNvSpPr/>
          <p:nvPr/>
        </p:nvSpPr>
        <p:spPr>
          <a:xfrm>
            <a:off x="548640" y="4754880"/>
            <a:ext cx="73152" cy="621792"/>
          </a:xfrm>
          <a:prstGeom prst="rect">
            <a:avLst/>
          </a:prstGeom>
          <a:solidFill>
            <a:srgbClr val="C2412D"/>
          </a:solidFill>
          <a:ln w="9525">
            <a:solidFill>
              <a:srgbClr val="C2412D"/>
            </a:solidFill>
            <a:prstDash val="solid"/>
          </a:ln>
        </p:spPr>
      </p:sp>
      <p:sp>
        <p:nvSpPr>
          <p:cNvPr id="16" name="Text 13"/>
          <p:cNvSpPr txBox="1"/>
          <p:nvPr/>
        </p:nvSpPr>
        <p:spPr>
          <a:xfrm>
            <a:off x="822960" y="4709160"/>
            <a:ext cx="4846320" cy="329184"/>
          </a:xfrm>
          <a:prstGeom prst="rect">
            <a:avLst/>
          </a:prstGeom>
          <a:noFill/>
          <a:ln/>
        </p:spPr>
        <p:txBody>
          <a:bodyPr wrap="square" lIns="0" tIns="0" rIns="0" bIns="0" rtlCol="0" anchor="t"/>
          <a:lstStyle/>
          <a:p>
            <a:pPr indent="0" marL="0">
              <a:buNone/>
            </a:pPr>
            <a:r>
              <a:rPr lang="en-US" sz="1500" b="1" dirty="0">
                <a:solidFill>
                  <a:srgbClr val="1D2430"/>
                </a:solidFill>
              </a:rPr>
              <a:t>청년층 낮은 성능</a:t>
            </a:r>
            <a:endParaRPr lang="en-US" sz="1500" dirty="0"/>
          </a:p>
        </p:txBody>
      </p:sp>
      <p:sp>
        <p:nvSpPr>
          <p:cNvPr id="17" name="Text 14"/>
          <p:cNvSpPr txBox="1"/>
          <p:nvPr/>
        </p:nvSpPr>
        <p:spPr>
          <a:xfrm>
            <a:off x="822960" y="5056632"/>
            <a:ext cx="4846320" cy="310896"/>
          </a:xfrm>
          <a:prstGeom prst="rect">
            <a:avLst/>
          </a:prstGeom>
          <a:noFill/>
          <a:ln/>
        </p:spPr>
        <p:txBody>
          <a:bodyPr wrap="square" lIns="0" tIns="0" rIns="0" bIns="0" rtlCol="0" anchor="t"/>
          <a:lstStyle/>
          <a:p>
            <a:pPr indent="0" marL="0">
              <a:buNone/>
            </a:pPr>
            <a:r>
              <a:rPr lang="en-US" sz="1300" dirty="0">
                <a:solidFill>
                  <a:srgbClr val="5B6472"/>
                </a:solidFill>
              </a:rPr>
              <a:t>AP가 가장 낮아 조사 밖 요인이 클 가능성</a:t>
            </a:r>
            <a:endParaRPr lang="en-US" sz="1300" dirty="0"/>
          </a:p>
        </p:txBody>
      </p:sp>
      <p:sp>
        <p:nvSpPr>
          <p:cNvPr id="18" name="Text 15"/>
          <p:cNvSpPr txBox="1"/>
          <p:nvPr/>
        </p:nvSpPr>
        <p:spPr>
          <a:xfrm>
            <a:off x="6263640" y="1783080"/>
            <a:ext cx="4572000" cy="320040"/>
          </a:xfrm>
          <a:prstGeom prst="rect">
            <a:avLst/>
          </a:prstGeom>
          <a:noFill/>
          <a:ln/>
        </p:spPr>
        <p:txBody>
          <a:bodyPr wrap="square" lIns="0" tIns="0" rIns="0" bIns="0" rtlCol="0" anchor="t"/>
          <a:lstStyle/>
          <a:p>
            <a:pPr indent="0" marL="0">
              <a:buNone/>
            </a:pPr>
            <a:r>
              <a:rPr lang="en-US" sz="1600" b="1" dirty="0">
                <a:solidFill>
                  <a:srgbClr val="1D2430"/>
                </a:solidFill>
              </a:rPr>
              <a:t>남은 계획</a:t>
            </a:r>
            <a:endParaRPr lang="en-US" sz="1600" dirty="0"/>
          </a:p>
        </p:txBody>
      </p:sp>
      <p:sp>
        <p:nvSpPr>
          <p:cNvPr id="19" name="Shape 16"/>
          <p:cNvSpPr/>
          <p:nvPr/>
        </p:nvSpPr>
        <p:spPr>
          <a:xfrm>
            <a:off x="6464808" y="2377440"/>
            <a:ext cx="914" cy="2414016"/>
          </a:xfrm>
          <a:prstGeom prst="line">
            <a:avLst/>
          </a:prstGeom>
          <a:noFill/>
          <a:ln w="25400">
            <a:solidFill>
              <a:srgbClr val="E3E6EA"/>
            </a:solidFill>
            <a:prstDash val="solid"/>
          </a:ln>
        </p:spPr>
      </p:sp>
      <p:sp>
        <p:nvSpPr>
          <p:cNvPr id="20" name="Shape 17"/>
          <p:cNvSpPr/>
          <p:nvPr/>
        </p:nvSpPr>
        <p:spPr>
          <a:xfrm>
            <a:off x="6327648" y="2240280"/>
            <a:ext cx="274320" cy="274320"/>
          </a:xfrm>
          <a:prstGeom prst="ellipse">
            <a:avLst/>
          </a:prstGeom>
          <a:solidFill>
            <a:srgbClr val="1F8A5B"/>
          </a:solidFill>
          <a:ln w="25400">
            <a:solidFill>
              <a:srgbClr val="1F8A5B"/>
            </a:solidFill>
            <a:prstDash val="solid"/>
          </a:ln>
        </p:spPr>
      </p:sp>
      <p:sp>
        <p:nvSpPr>
          <p:cNvPr id="21" name="Text 18"/>
          <p:cNvSpPr txBox="1"/>
          <p:nvPr/>
        </p:nvSpPr>
        <p:spPr>
          <a:xfrm>
            <a:off x="6766560" y="2221992"/>
            <a:ext cx="914400" cy="310896"/>
          </a:xfrm>
          <a:prstGeom prst="rect">
            <a:avLst/>
          </a:prstGeom>
          <a:noFill/>
          <a:ln/>
        </p:spPr>
        <p:txBody>
          <a:bodyPr wrap="square" lIns="0" tIns="0" rIns="0" bIns="0" rtlCol="0" anchor="ctr"/>
          <a:lstStyle/>
          <a:p>
            <a:pPr indent="0" marL="0">
              <a:buNone/>
            </a:pPr>
            <a:r>
              <a:rPr lang="en-US" sz="1200" b="1" dirty="0">
                <a:solidFill>
                  <a:srgbClr val="1F8A5B"/>
                </a:solidFill>
              </a:rPr>
              <a:t>완료</a:t>
            </a:r>
            <a:endParaRPr lang="en-US" sz="1200" dirty="0"/>
          </a:p>
        </p:txBody>
      </p:sp>
      <p:sp>
        <p:nvSpPr>
          <p:cNvPr id="22" name="Text 19"/>
          <p:cNvSpPr txBox="1"/>
          <p:nvPr/>
        </p:nvSpPr>
        <p:spPr>
          <a:xfrm>
            <a:off x="7543800" y="2221992"/>
            <a:ext cx="4096512" cy="548640"/>
          </a:xfrm>
          <a:prstGeom prst="rect">
            <a:avLst/>
          </a:prstGeom>
          <a:noFill/>
          <a:ln/>
        </p:spPr>
        <p:txBody>
          <a:bodyPr wrap="square" lIns="0" tIns="0" rIns="0" bIns="0" rtlCol="0" anchor="t"/>
          <a:lstStyle/>
          <a:p>
            <a:pPr indent="0" marL="0">
              <a:buNone/>
            </a:pPr>
            <a:r>
              <a:rPr lang="en-US" sz="1400" dirty="0">
                <a:solidFill>
                  <a:srgbClr val="1D2430"/>
                </a:solidFill>
              </a:rPr>
              <a:t>분석 v2.1, 논문 초안 v2.1</a:t>
            </a:r>
            <a:endParaRPr lang="en-US" sz="1400" dirty="0"/>
          </a:p>
        </p:txBody>
      </p:sp>
      <p:sp>
        <p:nvSpPr>
          <p:cNvPr id="23" name="Shape 20"/>
          <p:cNvSpPr/>
          <p:nvPr/>
        </p:nvSpPr>
        <p:spPr>
          <a:xfrm>
            <a:off x="6327648" y="3044952"/>
            <a:ext cx="274320" cy="274320"/>
          </a:xfrm>
          <a:prstGeom prst="ellipse">
            <a:avLst/>
          </a:prstGeom>
          <a:solidFill>
            <a:srgbClr val="FFFFFF"/>
          </a:solidFill>
          <a:ln w="25400">
            <a:solidFill>
              <a:srgbClr val="A9B2C0"/>
            </a:solidFill>
            <a:prstDash val="solid"/>
          </a:ln>
        </p:spPr>
      </p:sp>
      <p:sp>
        <p:nvSpPr>
          <p:cNvPr id="24" name="Text 21"/>
          <p:cNvSpPr txBox="1"/>
          <p:nvPr/>
        </p:nvSpPr>
        <p:spPr>
          <a:xfrm>
            <a:off x="6766560" y="3026664"/>
            <a:ext cx="914400" cy="310896"/>
          </a:xfrm>
          <a:prstGeom prst="rect">
            <a:avLst/>
          </a:prstGeom>
          <a:noFill/>
          <a:ln/>
        </p:spPr>
        <p:txBody>
          <a:bodyPr wrap="square" lIns="0" tIns="0" rIns="0" bIns="0" rtlCol="0" anchor="ctr"/>
          <a:lstStyle/>
          <a:p>
            <a:pPr indent="0" marL="0">
              <a:buNone/>
            </a:pPr>
            <a:r>
              <a:rPr lang="en-US" sz="1200" b="1" dirty="0">
                <a:solidFill>
                  <a:srgbClr val="5B6472"/>
                </a:solidFill>
              </a:rPr>
              <a:t>다음</a:t>
            </a:r>
            <a:endParaRPr lang="en-US" sz="1200" dirty="0"/>
          </a:p>
        </p:txBody>
      </p:sp>
      <p:sp>
        <p:nvSpPr>
          <p:cNvPr id="25" name="Text 22"/>
          <p:cNvSpPr txBox="1"/>
          <p:nvPr/>
        </p:nvSpPr>
        <p:spPr>
          <a:xfrm>
            <a:off x="7543800" y="3026664"/>
            <a:ext cx="4096512" cy="548640"/>
          </a:xfrm>
          <a:prstGeom prst="rect">
            <a:avLst/>
          </a:prstGeom>
          <a:noFill/>
          <a:ln/>
        </p:spPr>
        <p:txBody>
          <a:bodyPr wrap="square" lIns="0" tIns="0" rIns="0" bIns="0" rtlCol="0" anchor="t"/>
          <a:lstStyle/>
          <a:p>
            <a:pPr indent="0" marL="0">
              <a:buNone/>
            </a:pPr>
            <a:r>
              <a:rPr lang="en-US" sz="1400" dirty="0">
                <a:solidFill>
                  <a:srgbClr val="1D2430"/>
                </a:solidFill>
              </a:rPr>
              <a:t>오늘 피드백을 분석·원고에 반영</a:t>
            </a:r>
            <a:endParaRPr lang="en-US" sz="1400" dirty="0"/>
          </a:p>
        </p:txBody>
      </p:sp>
      <p:sp>
        <p:nvSpPr>
          <p:cNvPr id="26" name="Shape 23"/>
          <p:cNvSpPr/>
          <p:nvPr/>
        </p:nvSpPr>
        <p:spPr>
          <a:xfrm>
            <a:off x="6327648" y="3849624"/>
            <a:ext cx="274320" cy="274320"/>
          </a:xfrm>
          <a:prstGeom prst="ellipse">
            <a:avLst/>
          </a:prstGeom>
          <a:solidFill>
            <a:srgbClr val="FFFFFF"/>
          </a:solidFill>
          <a:ln w="25400">
            <a:solidFill>
              <a:srgbClr val="A9B2C0"/>
            </a:solidFill>
            <a:prstDash val="solid"/>
          </a:ln>
        </p:spPr>
      </p:sp>
      <p:sp>
        <p:nvSpPr>
          <p:cNvPr id="27" name="Text 24"/>
          <p:cNvSpPr txBox="1"/>
          <p:nvPr/>
        </p:nvSpPr>
        <p:spPr>
          <a:xfrm>
            <a:off x="6766560" y="3831336"/>
            <a:ext cx="914400" cy="310896"/>
          </a:xfrm>
          <a:prstGeom prst="rect">
            <a:avLst/>
          </a:prstGeom>
          <a:noFill/>
          <a:ln/>
        </p:spPr>
        <p:txBody>
          <a:bodyPr wrap="square" lIns="0" tIns="0" rIns="0" bIns="0" rtlCol="0" anchor="ctr"/>
          <a:lstStyle/>
          <a:p>
            <a:pPr indent="0" marL="0">
              <a:buNone/>
            </a:pPr>
            <a:r>
              <a:rPr lang="en-US" sz="1200" b="1" dirty="0">
                <a:solidFill>
                  <a:srgbClr val="5B6472"/>
                </a:solidFill>
              </a:rPr>
              <a:t>다음</a:t>
            </a:r>
            <a:endParaRPr lang="en-US" sz="1200" dirty="0"/>
          </a:p>
        </p:txBody>
      </p:sp>
      <p:sp>
        <p:nvSpPr>
          <p:cNvPr id="28" name="Text 25"/>
          <p:cNvSpPr txBox="1"/>
          <p:nvPr/>
        </p:nvSpPr>
        <p:spPr>
          <a:xfrm>
            <a:off x="7543800" y="3831336"/>
            <a:ext cx="4096512" cy="548640"/>
          </a:xfrm>
          <a:prstGeom prst="rect">
            <a:avLst/>
          </a:prstGeom>
          <a:noFill/>
          <a:ln/>
        </p:spPr>
        <p:txBody>
          <a:bodyPr wrap="square" lIns="0" tIns="0" rIns="0" bIns="0" rtlCol="0" anchor="t"/>
          <a:lstStyle/>
          <a:p>
            <a:pPr indent="0" marL="0">
              <a:buNone/>
            </a:pPr>
            <a:r>
              <a:rPr lang="en-US" sz="1400" dirty="0">
                <a:solidFill>
                  <a:srgbClr val="1D2430"/>
                </a:solidFill>
              </a:rPr>
              <a:t>저자 기재 항목(IRB 심의면제, 코드 공개) 확정</a:t>
            </a:r>
            <a:endParaRPr lang="en-US" sz="1400" dirty="0"/>
          </a:p>
        </p:txBody>
      </p:sp>
      <p:sp>
        <p:nvSpPr>
          <p:cNvPr id="29" name="Shape 26"/>
          <p:cNvSpPr/>
          <p:nvPr/>
        </p:nvSpPr>
        <p:spPr>
          <a:xfrm>
            <a:off x="6327648" y="4654296"/>
            <a:ext cx="274320" cy="274320"/>
          </a:xfrm>
          <a:prstGeom prst="ellipse">
            <a:avLst/>
          </a:prstGeom>
          <a:solidFill>
            <a:srgbClr val="FFFFFF"/>
          </a:solidFill>
          <a:ln w="25400">
            <a:solidFill>
              <a:srgbClr val="A9B2C0"/>
            </a:solidFill>
            <a:prstDash val="solid"/>
          </a:ln>
        </p:spPr>
      </p:sp>
      <p:sp>
        <p:nvSpPr>
          <p:cNvPr id="30" name="Text 27"/>
          <p:cNvSpPr txBox="1"/>
          <p:nvPr/>
        </p:nvSpPr>
        <p:spPr>
          <a:xfrm>
            <a:off x="6766560" y="4636008"/>
            <a:ext cx="914400" cy="310896"/>
          </a:xfrm>
          <a:prstGeom prst="rect">
            <a:avLst/>
          </a:prstGeom>
          <a:noFill/>
          <a:ln/>
        </p:spPr>
        <p:txBody>
          <a:bodyPr wrap="square" lIns="0" tIns="0" rIns="0" bIns="0" rtlCol="0" anchor="ctr"/>
          <a:lstStyle/>
          <a:p>
            <a:pPr indent="0" marL="0">
              <a:buNone/>
            </a:pPr>
            <a:r>
              <a:rPr lang="en-US" sz="1200" b="1" dirty="0">
                <a:solidFill>
                  <a:srgbClr val="5B6472"/>
                </a:solidFill>
              </a:rPr>
              <a:t>최종</a:t>
            </a:r>
            <a:endParaRPr lang="en-US" sz="1200" dirty="0"/>
          </a:p>
        </p:txBody>
      </p:sp>
      <p:sp>
        <p:nvSpPr>
          <p:cNvPr id="31" name="Text 28"/>
          <p:cNvSpPr txBox="1"/>
          <p:nvPr/>
        </p:nvSpPr>
        <p:spPr>
          <a:xfrm>
            <a:off x="7543800" y="4636008"/>
            <a:ext cx="4096512" cy="548640"/>
          </a:xfrm>
          <a:prstGeom prst="rect">
            <a:avLst/>
          </a:prstGeom>
          <a:noFill/>
          <a:ln/>
        </p:spPr>
        <p:txBody>
          <a:bodyPr wrap="square" lIns="0" tIns="0" rIns="0" bIns="0" rtlCol="0" anchor="t"/>
          <a:lstStyle/>
          <a:p>
            <a:pPr indent="0" marL="0">
              <a:buNone/>
            </a:pPr>
            <a:r>
              <a:rPr lang="en-US" sz="1400" dirty="0">
                <a:solidFill>
                  <a:srgbClr val="1D2430"/>
                </a:solidFill>
              </a:rPr>
              <a:t>논문 최종본 제출과 최종 발표</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48640" y="685800"/>
            <a:ext cx="7315200" cy="365760"/>
          </a:xfrm>
          <a:prstGeom prst="rect">
            <a:avLst/>
          </a:prstGeom>
          <a:noFill/>
          <a:ln/>
        </p:spPr>
        <p:txBody>
          <a:bodyPr wrap="square" lIns="0" tIns="0" rIns="0" bIns="0" rtlCol="0" anchor="t"/>
          <a:lstStyle/>
          <a:p>
            <a:pPr indent="0" marL="0">
              <a:buNone/>
            </a:pPr>
            <a:r>
              <a:rPr lang="en-US" sz="1500" dirty="0">
                <a:solidFill>
                  <a:srgbClr val="A9B2C0"/>
                </a:solidFill>
              </a:rPr>
              <a:t>정리 — 질문 넷, 답 넷</a:t>
            </a:r>
            <a:endParaRPr lang="en-US" sz="1500" dirty="0"/>
          </a:p>
        </p:txBody>
      </p:sp>
      <p:sp>
        <p:nvSpPr>
          <p:cNvPr id="4" name="Text 1"/>
          <p:cNvSpPr txBox="1"/>
          <p:nvPr/>
        </p:nvSpPr>
        <p:spPr>
          <a:xfrm>
            <a:off x="548640" y="1097280"/>
            <a:ext cx="11094415" cy="777240"/>
          </a:xfrm>
          <a:prstGeom prst="rect">
            <a:avLst/>
          </a:prstGeom>
          <a:noFill/>
          <a:ln/>
        </p:spPr>
        <p:txBody>
          <a:bodyPr wrap="square" lIns="0" tIns="0" rIns="0" bIns="0" rtlCol="0" anchor="ctr"/>
          <a:lstStyle/>
          <a:p>
            <a:pPr indent="0" marL="0">
              <a:buNone/>
            </a:pPr>
            <a:r>
              <a:rPr lang="en-US" sz="3000" b="1" dirty="0">
                <a:solidFill>
                  <a:srgbClr val="FFFFFF"/>
                </a:solidFill>
              </a:rPr>
              <a:t>우울 증상은 여러 영역이 함께 관련되는 복합 현상이다</a:t>
            </a:r>
            <a:endParaRPr lang="en-US" sz="3000" dirty="0"/>
          </a:p>
        </p:txBody>
      </p:sp>
      <p:sp>
        <p:nvSpPr>
          <p:cNvPr id="5" name="Shape 2"/>
          <p:cNvSpPr/>
          <p:nvPr/>
        </p:nvSpPr>
        <p:spPr>
          <a:xfrm>
            <a:off x="548640" y="2194560"/>
            <a:ext cx="11094415" cy="713232"/>
          </a:xfrm>
          <a:prstGeom prst="roundRect">
            <a:avLst>
              <a:gd name="adj" fmla="val 12821"/>
            </a:avLst>
          </a:prstGeom>
          <a:solidFill>
            <a:srgbClr val="2A3342"/>
          </a:solidFill>
          <a:ln w="9525">
            <a:solidFill>
              <a:srgbClr val="2A3342"/>
            </a:solidFill>
            <a:prstDash val="solid"/>
          </a:ln>
        </p:spPr>
      </p:sp>
      <p:sp>
        <p:nvSpPr>
          <p:cNvPr id="6" name="Text 3"/>
          <p:cNvSpPr txBox="1"/>
          <p:nvPr/>
        </p:nvSpPr>
        <p:spPr>
          <a:xfrm>
            <a:off x="822960" y="2194560"/>
            <a:ext cx="731520" cy="713232"/>
          </a:xfrm>
          <a:prstGeom prst="rect">
            <a:avLst/>
          </a:prstGeom>
          <a:noFill/>
          <a:ln/>
        </p:spPr>
        <p:txBody>
          <a:bodyPr wrap="square" lIns="0" tIns="0" rIns="0" bIns="0" rtlCol="0" anchor="ctr"/>
          <a:lstStyle/>
          <a:p>
            <a:pPr indent="0" marL="0">
              <a:buNone/>
            </a:pPr>
            <a:r>
              <a:rPr lang="en-US" sz="1500" b="1" dirty="0">
                <a:solidFill>
                  <a:srgbClr val="5BC596"/>
                </a:solidFill>
              </a:rPr>
              <a:t>RQ1</a:t>
            </a:r>
            <a:endParaRPr lang="en-US" sz="1500" dirty="0"/>
          </a:p>
        </p:txBody>
      </p:sp>
      <p:sp>
        <p:nvSpPr>
          <p:cNvPr id="7" name="Text 4"/>
          <p:cNvSpPr txBox="1"/>
          <p:nvPr/>
        </p:nvSpPr>
        <p:spPr>
          <a:xfrm>
            <a:off x="1691640" y="2194560"/>
            <a:ext cx="9784080" cy="713232"/>
          </a:xfrm>
          <a:prstGeom prst="rect">
            <a:avLst/>
          </a:prstGeom>
          <a:noFill/>
          <a:ln/>
        </p:spPr>
        <p:txBody>
          <a:bodyPr wrap="square" lIns="0" tIns="0" rIns="0" bIns="0" rtlCol="0" anchor="ctr"/>
          <a:lstStyle/>
          <a:p>
            <a:pPr indent="0" marL="0">
              <a:buNone/>
            </a:pPr>
            <a:r>
              <a:rPr lang="en-US" sz="1700" dirty="0">
                <a:solidFill>
                  <a:srgbClr val="FFFFFF"/>
                </a:solidFill>
              </a:rPr>
              <a:t>모든 영역이 고유한 정보를 더하고, 신체건강의 기여가 가장 크다</a:t>
            </a:r>
            <a:endParaRPr lang="en-US" sz="1700" dirty="0"/>
          </a:p>
        </p:txBody>
      </p:sp>
      <p:sp>
        <p:nvSpPr>
          <p:cNvPr id="8" name="Shape 5"/>
          <p:cNvSpPr/>
          <p:nvPr/>
        </p:nvSpPr>
        <p:spPr>
          <a:xfrm>
            <a:off x="548640" y="3035808"/>
            <a:ext cx="11094415" cy="713232"/>
          </a:xfrm>
          <a:prstGeom prst="roundRect">
            <a:avLst>
              <a:gd name="adj" fmla="val 12821"/>
            </a:avLst>
          </a:prstGeom>
          <a:solidFill>
            <a:srgbClr val="2A3342"/>
          </a:solidFill>
          <a:ln w="9525">
            <a:solidFill>
              <a:srgbClr val="2A3342"/>
            </a:solidFill>
            <a:prstDash val="solid"/>
          </a:ln>
        </p:spPr>
      </p:sp>
      <p:sp>
        <p:nvSpPr>
          <p:cNvPr id="9" name="Text 6"/>
          <p:cNvSpPr txBox="1"/>
          <p:nvPr/>
        </p:nvSpPr>
        <p:spPr>
          <a:xfrm>
            <a:off x="822960" y="3035808"/>
            <a:ext cx="731520" cy="713232"/>
          </a:xfrm>
          <a:prstGeom prst="rect">
            <a:avLst/>
          </a:prstGeom>
          <a:noFill/>
          <a:ln/>
        </p:spPr>
        <p:txBody>
          <a:bodyPr wrap="square" lIns="0" tIns="0" rIns="0" bIns="0" rtlCol="0" anchor="ctr"/>
          <a:lstStyle/>
          <a:p>
            <a:pPr indent="0" marL="0">
              <a:buNone/>
            </a:pPr>
            <a:r>
              <a:rPr lang="en-US" sz="1500" b="1" dirty="0">
                <a:solidFill>
                  <a:srgbClr val="5BC596"/>
                </a:solidFill>
              </a:rPr>
              <a:t>RQ2</a:t>
            </a:r>
            <a:endParaRPr lang="en-US" sz="1500" dirty="0"/>
          </a:p>
        </p:txBody>
      </p:sp>
      <p:sp>
        <p:nvSpPr>
          <p:cNvPr id="10" name="Text 7"/>
          <p:cNvSpPr txBox="1"/>
          <p:nvPr/>
        </p:nvSpPr>
        <p:spPr>
          <a:xfrm>
            <a:off x="1691640" y="3035808"/>
            <a:ext cx="9784080" cy="713232"/>
          </a:xfrm>
          <a:prstGeom prst="rect">
            <a:avLst/>
          </a:prstGeom>
          <a:noFill/>
          <a:ln/>
        </p:spPr>
        <p:txBody>
          <a:bodyPr wrap="square" lIns="0" tIns="0" rIns="0" bIns="0" rtlCol="0" anchor="ctr"/>
          <a:lstStyle/>
          <a:p>
            <a:pPr indent="0" marL="0">
              <a:buNone/>
            </a:pPr>
            <a:r>
              <a:rPr lang="en-US" sz="1700" dirty="0">
                <a:solidFill>
                  <a:srgbClr val="FFFFFF"/>
                </a:solidFill>
              </a:rPr>
              <a:t>바꿀 수 있는 위험 요인: 식품 불안정, 구강 문제, 미충족 의료, 사회적 단절, 흡연, 아침 결식</a:t>
            </a:r>
            <a:endParaRPr lang="en-US" sz="1700" dirty="0"/>
          </a:p>
        </p:txBody>
      </p:sp>
      <p:sp>
        <p:nvSpPr>
          <p:cNvPr id="11" name="Shape 8"/>
          <p:cNvSpPr/>
          <p:nvPr/>
        </p:nvSpPr>
        <p:spPr>
          <a:xfrm>
            <a:off x="548640" y="3877056"/>
            <a:ext cx="11094415" cy="713232"/>
          </a:xfrm>
          <a:prstGeom prst="roundRect">
            <a:avLst>
              <a:gd name="adj" fmla="val 12821"/>
            </a:avLst>
          </a:prstGeom>
          <a:solidFill>
            <a:srgbClr val="2A3342"/>
          </a:solidFill>
          <a:ln w="9525">
            <a:solidFill>
              <a:srgbClr val="2A3342"/>
            </a:solidFill>
            <a:prstDash val="solid"/>
          </a:ln>
        </p:spPr>
      </p:sp>
      <p:sp>
        <p:nvSpPr>
          <p:cNvPr id="12" name="Text 9"/>
          <p:cNvSpPr txBox="1"/>
          <p:nvPr/>
        </p:nvSpPr>
        <p:spPr>
          <a:xfrm>
            <a:off x="822960" y="3877056"/>
            <a:ext cx="731520" cy="713232"/>
          </a:xfrm>
          <a:prstGeom prst="rect">
            <a:avLst/>
          </a:prstGeom>
          <a:noFill/>
          <a:ln/>
        </p:spPr>
        <p:txBody>
          <a:bodyPr wrap="square" lIns="0" tIns="0" rIns="0" bIns="0" rtlCol="0" anchor="ctr"/>
          <a:lstStyle/>
          <a:p>
            <a:pPr indent="0" marL="0">
              <a:buNone/>
            </a:pPr>
            <a:r>
              <a:rPr lang="en-US" sz="1500" b="1" dirty="0">
                <a:solidFill>
                  <a:srgbClr val="5BC596"/>
                </a:solidFill>
              </a:rPr>
              <a:t>RQ3</a:t>
            </a:r>
            <a:endParaRPr lang="en-US" sz="1500" dirty="0"/>
          </a:p>
        </p:txBody>
      </p:sp>
      <p:sp>
        <p:nvSpPr>
          <p:cNvPr id="13" name="Text 10"/>
          <p:cNvSpPr txBox="1"/>
          <p:nvPr/>
        </p:nvSpPr>
        <p:spPr>
          <a:xfrm>
            <a:off x="1691640" y="3877056"/>
            <a:ext cx="9784080" cy="713232"/>
          </a:xfrm>
          <a:prstGeom prst="rect">
            <a:avLst/>
          </a:prstGeom>
          <a:noFill/>
          <a:ln/>
        </p:spPr>
        <p:txBody>
          <a:bodyPr wrap="square" lIns="0" tIns="0" rIns="0" bIns="0" rtlCol="0" anchor="ctr"/>
          <a:lstStyle/>
          <a:p>
            <a:pPr indent="0" marL="0">
              <a:buNone/>
            </a:pPr>
            <a:r>
              <a:rPr lang="en-US" sz="1700" dirty="0">
                <a:solidFill>
                  <a:srgbClr val="FFFFFF"/>
                </a:solidFill>
              </a:rPr>
              <a:t>청년은 생활습관, 중장년은 경제, 노년은 신체건강과 의료접근</a:t>
            </a:r>
            <a:endParaRPr lang="en-US" sz="1700" dirty="0"/>
          </a:p>
        </p:txBody>
      </p:sp>
      <p:sp>
        <p:nvSpPr>
          <p:cNvPr id="14" name="Shape 11"/>
          <p:cNvSpPr/>
          <p:nvPr/>
        </p:nvSpPr>
        <p:spPr>
          <a:xfrm>
            <a:off x="548640" y="4718304"/>
            <a:ext cx="11094415" cy="713232"/>
          </a:xfrm>
          <a:prstGeom prst="roundRect">
            <a:avLst>
              <a:gd name="adj" fmla="val 12821"/>
            </a:avLst>
          </a:prstGeom>
          <a:solidFill>
            <a:srgbClr val="2A3342"/>
          </a:solidFill>
          <a:ln w="9525">
            <a:solidFill>
              <a:srgbClr val="2A3342"/>
            </a:solidFill>
            <a:prstDash val="solid"/>
          </a:ln>
        </p:spPr>
      </p:sp>
      <p:sp>
        <p:nvSpPr>
          <p:cNvPr id="15" name="Text 12"/>
          <p:cNvSpPr txBox="1"/>
          <p:nvPr/>
        </p:nvSpPr>
        <p:spPr>
          <a:xfrm>
            <a:off x="822960" y="4718304"/>
            <a:ext cx="731520" cy="713232"/>
          </a:xfrm>
          <a:prstGeom prst="rect">
            <a:avLst/>
          </a:prstGeom>
          <a:noFill/>
          <a:ln/>
        </p:spPr>
        <p:txBody>
          <a:bodyPr wrap="square" lIns="0" tIns="0" rIns="0" bIns="0" rtlCol="0" anchor="ctr"/>
          <a:lstStyle/>
          <a:p>
            <a:pPr indent="0" marL="0">
              <a:buNone/>
            </a:pPr>
            <a:r>
              <a:rPr lang="en-US" sz="1500" b="1" dirty="0">
                <a:solidFill>
                  <a:srgbClr val="5BC596"/>
                </a:solidFill>
              </a:rPr>
              <a:t>RQ4</a:t>
            </a:r>
            <a:endParaRPr lang="en-US" sz="1500" dirty="0"/>
          </a:p>
        </p:txBody>
      </p:sp>
      <p:sp>
        <p:nvSpPr>
          <p:cNvPr id="16" name="Text 13"/>
          <p:cNvSpPr txBox="1"/>
          <p:nvPr/>
        </p:nvSpPr>
        <p:spPr>
          <a:xfrm>
            <a:off x="1691640" y="4718304"/>
            <a:ext cx="9784080" cy="713232"/>
          </a:xfrm>
          <a:prstGeom prst="rect">
            <a:avLst/>
          </a:prstGeom>
          <a:noFill/>
          <a:ln/>
        </p:spPr>
        <p:txBody>
          <a:bodyPr wrap="square" lIns="0" tIns="0" rIns="0" bIns="0" rtlCol="0" anchor="ctr"/>
          <a:lstStyle/>
          <a:p>
            <a:pPr indent="0" marL="0">
              <a:buNone/>
            </a:pPr>
            <a:r>
              <a:rPr lang="en-US" sz="1700" dirty="0">
                <a:solidFill>
                  <a:srgbClr val="FFFFFF"/>
                </a:solidFill>
              </a:rPr>
              <a:t>신체활동과 생활요인을 함께 지킬수록 우울 비율이 낮다 (0~1개 9.0% → 6개 2.1%)</a:t>
            </a:r>
            <a:endParaRPr lang="en-US" sz="1700" dirty="0"/>
          </a:p>
        </p:txBody>
      </p:sp>
      <p:sp>
        <p:nvSpPr>
          <p:cNvPr id="17" name="Text 14"/>
          <p:cNvSpPr txBox="1"/>
          <p:nvPr/>
        </p:nvSpPr>
        <p:spPr>
          <a:xfrm>
            <a:off x="548640" y="5715000"/>
            <a:ext cx="3657600" cy="457200"/>
          </a:xfrm>
          <a:prstGeom prst="rect">
            <a:avLst/>
          </a:prstGeom>
          <a:noFill/>
          <a:ln/>
        </p:spPr>
        <p:txBody>
          <a:bodyPr wrap="square" lIns="0" tIns="0" rIns="0" bIns="0" rtlCol="0" anchor="t"/>
          <a:lstStyle/>
          <a:p>
            <a:pPr indent="0" marL="0">
              <a:buNone/>
            </a:pPr>
            <a:r>
              <a:rPr lang="en-US" sz="2200" b="1" dirty="0">
                <a:solidFill>
                  <a:srgbClr val="FDEBC8"/>
                </a:solidFill>
              </a:rPr>
              <a:t>질의응답</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400" b="1" dirty="0">
                <a:solidFill>
                  <a:srgbClr val="1D2430"/>
                </a:solidFill>
              </a:rPr>
              <a:t>A1. 영역별 변수 구성과 수정 유형 — 바꿀 수 있는 요인의 판정 기준</a:t>
            </a:r>
            <a:endParaRPr lang="en-US" sz="24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부록</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7223760" cy="914400"/>
        </p:xfrm>
        <a:graphic>
          <a:graphicData uri="http://schemas.openxmlformats.org/drawingml/2006/table">
            <a:tbl>
              <a:tblPr/>
              <a:tblGrid>
                <a:gridCol w="1874520"/>
                <a:gridCol w="685800"/>
                <a:gridCol w="1280160"/>
                <a:gridCol w="1737360"/>
                <a:gridCol w="1645920"/>
              </a:tblGrid>
              <a:tr h="429768">
                <a:tc>
                  <a:txBody>
                    <a:bodyPr/>
                    <a:lstStyle/>
                    <a:p>
                      <a:pPr algn="l" indent="0" marL="0">
                        <a:buNone/>
                      </a:pPr>
                      <a:r>
                        <a:rPr lang="en-US" sz="1400" b="1" dirty="0">
                          <a:solidFill>
                            <a:srgbClr val="5B6472"/>
                          </a:solidFill>
                          <a:latin typeface="맑은 고딕" pitchFamily="34" charset="0"/>
                          <a:ea typeface="맑은 고딕" pitchFamily="34" charset="-122"/>
                          <a:cs typeface="맑은 고딕" pitchFamily="34" charset="-120"/>
                        </a:rPr>
                        <a:t>영역</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변수</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A 개인 행동</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B 서비스·정책·환경</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C 바꿀 수 없음</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r>
              <a:tr h="429768">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인구</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29768">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경제</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29768">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신체건강</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9</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6</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3</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29768">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건강행태</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29768">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사회관계</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6</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29768">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생활환경</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8</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3</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29768">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의료접근·건강정보</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8</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3</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29768">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심리·증상근접</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13</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3</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6</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bl>
          </a:graphicData>
        </a:graphic>
      </p:graphicFrame>
      <p:sp>
        <p:nvSpPr>
          <p:cNvPr id="6" name="Shape 2"/>
          <p:cNvSpPr/>
          <p:nvPr/>
        </p:nvSpPr>
        <p:spPr>
          <a:xfrm>
            <a:off x="8001000" y="1737360"/>
            <a:ext cx="3639312" cy="1161288"/>
          </a:xfrm>
          <a:prstGeom prst="roundRect">
            <a:avLst>
              <a:gd name="adj" fmla="val 7874"/>
            </a:avLst>
          </a:prstGeom>
          <a:solidFill>
            <a:srgbClr val="DDF3E8"/>
          </a:solidFill>
          <a:ln w="9525">
            <a:solidFill>
              <a:srgbClr val="DDF3E8"/>
            </a:solidFill>
            <a:prstDash val="solid"/>
          </a:ln>
        </p:spPr>
      </p:sp>
      <p:sp>
        <p:nvSpPr>
          <p:cNvPr id="7" name="Text 3"/>
          <p:cNvSpPr txBox="1"/>
          <p:nvPr/>
        </p:nvSpPr>
        <p:spPr>
          <a:xfrm>
            <a:off x="8183880" y="1847088"/>
            <a:ext cx="3291840" cy="320040"/>
          </a:xfrm>
          <a:prstGeom prst="rect">
            <a:avLst/>
          </a:prstGeom>
          <a:noFill/>
          <a:ln/>
        </p:spPr>
        <p:txBody>
          <a:bodyPr wrap="square" lIns="0" tIns="0" rIns="0" bIns="0" rtlCol="0" anchor="t"/>
          <a:lstStyle/>
          <a:p>
            <a:pPr indent="0" marL="0">
              <a:buNone/>
            </a:pPr>
            <a:r>
              <a:rPr lang="en-US" sz="1400" b="1" dirty="0">
                <a:solidFill>
                  <a:srgbClr val="1F8A5B"/>
                </a:solidFill>
              </a:rPr>
              <a:t>A 개인 행동</a:t>
            </a:r>
            <a:endParaRPr lang="en-US" sz="1400" dirty="0"/>
          </a:p>
        </p:txBody>
      </p:sp>
      <p:sp>
        <p:nvSpPr>
          <p:cNvPr id="8" name="Text 4"/>
          <p:cNvSpPr txBox="1"/>
          <p:nvPr/>
        </p:nvSpPr>
        <p:spPr>
          <a:xfrm>
            <a:off x="8183880" y="2176272"/>
            <a:ext cx="3291840" cy="685800"/>
          </a:xfrm>
          <a:prstGeom prst="rect">
            <a:avLst/>
          </a:prstGeom>
          <a:noFill/>
          <a:ln/>
        </p:spPr>
        <p:txBody>
          <a:bodyPr wrap="square" lIns="0" tIns="0" rIns="0" bIns="0" rtlCol="0" anchor="t"/>
          <a:lstStyle/>
          <a:p>
            <a:pPr indent="0" marL="0">
              <a:buNone/>
            </a:pPr>
            <a:r>
              <a:rPr lang="en-US" sz="1200" dirty="0">
                <a:solidFill>
                  <a:srgbClr val="1D2430"/>
                </a:solidFill>
              </a:rPr>
              <a:t>신체활동, 흡연, 음주, 식생활, 칫솔질, 연락·사회활동, 검진·접종, 수면</a:t>
            </a:r>
            <a:endParaRPr lang="en-US" sz="1200" dirty="0"/>
          </a:p>
        </p:txBody>
      </p:sp>
      <p:sp>
        <p:nvSpPr>
          <p:cNvPr id="9" name="Shape 5"/>
          <p:cNvSpPr/>
          <p:nvPr/>
        </p:nvSpPr>
        <p:spPr>
          <a:xfrm>
            <a:off x="8001000" y="3035808"/>
            <a:ext cx="3639312" cy="1161288"/>
          </a:xfrm>
          <a:prstGeom prst="roundRect">
            <a:avLst>
              <a:gd name="adj" fmla="val 7874"/>
            </a:avLst>
          </a:prstGeom>
          <a:solidFill>
            <a:srgbClr val="E3ECFB"/>
          </a:solidFill>
          <a:ln w="9525">
            <a:solidFill>
              <a:srgbClr val="E3ECFB"/>
            </a:solidFill>
            <a:prstDash val="solid"/>
          </a:ln>
        </p:spPr>
      </p:sp>
      <p:sp>
        <p:nvSpPr>
          <p:cNvPr id="10" name="Text 6"/>
          <p:cNvSpPr txBox="1"/>
          <p:nvPr/>
        </p:nvSpPr>
        <p:spPr>
          <a:xfrm>
            <a:off x="8183880" y="3145536"/>
            <a:ext cx="3291840" cy="320040"/>
          </a:xfrm>
          <a:prstGeom prst="rect">
            <a:avLst/>
          </a:prstGeom>
          <a:noFill/>
          <a:ln/>
        </p:spPr>
        <p:txBody>
          <a:bodyPr wrap="square" lIns="0" tIns="0" rIns="0" bIns="0" rtlCol="0" anchor="t"/>
          <a:lstStyle/>
          <a:p>
            <a:pPr indent="0" marL="0">
              <a:buNone/>
            </a:pPr>
            <a:r>
              <a:rPr lang="en-US" sz="1400" b="1" dirty="0">
                <a:solidFill>
                  <a:srgbClr val="2F5FB3"/>
                </a:solidFill>
              </a:rPr>
              <a:t>B 서비스·정책·환경</a:t>
            </a:r>
            <a:endParaRPr lang="en-US" sz="1400" dirty="0"/>
          </a:p>
        </p:txBody>
      </p:sp>
      <p:sp>
        <p:nvSpPr>
          <p:cNvPr id="11" name="Text 7"/>
          <p:cNvSpPr txBox="1"/>
          <p:nvPr/>
        </p:nvSpPr>
        <p:spPr>
          <a:xfrm>
            <a:off x="8183880" y="3474720"/>
            <a:ext cx="3291840" cy="685800"/>
          </a:xfrm>
          <a:prstGeom prst="rect">
            <a:avLst/>
          </a:prstGeom>
          <a:noFill/>
          <a:ln/>
        </p:spPr>
        <p:txBody>
          <a:bodyPr wrap="square" lIns="0" tIns="0" rIns="0" bIns="0" rtlCol="0" anchor="t"/>
          <a:lstStyle/>
          <a:p>
            <a:pPr indent="0" marL="0">
              <a:buNone/>
            </a:pPr>
            <a:r>
              <a:rPr lang="en-US" sz="1200" dirty="0">
                <a:solidFill>
                  <a:srgbClr val="1D2430"/>
                </a:solidFill>
              </a:rPr>
              <a:t>소득·식품·경제활동, 체중·구강·낙상, 미충족 의료, 건강정보 이해, 동네 환경·이웃 신뢰</a:t>
            </a:r>
            <a:endParaRPr lang="en-US" sz="1200" dirty="0"/>
          </a:p>
        </p:txBody>
      </p:sp>
      <p:sp>
        <p:nvSpPr>
          <p:cNvPr id="12" name="Shape 8"/>
          <p:cNvSpPr/>
          <p:nvPr/>
        </p:nvSpPr>
        <p:spPr>
          <a:xfrm>
            <a:off x="8001000" y="4334256"/>
            <a:ext cx="3639312" cy="1161288"/>
          </a:xfrm>
          <a:prstGeom prst="roundRect">
            <a:avLst>
              <a:gd name="adj" fmla="val 7874"/>
            </a:avLst>
          </a:prstGeom>
          <a:solidFill>
            <a:srgbClr val="F3F5F8"/>
          </a:solidFill>
          <a:ln w="9525">
            <a:solidFill>
              <a:srgbClr val="F3F5F8"/>
            </a:solidFill>
            <a:prstDash val="solid"/>
          </a:ln>
        </p:spPr>
      </p:sp>
      <p:sp>
        <p:nvSpPr>
          <p:cNvPr id="13" name="Text 9"/>
          <p:cNvSpPr txBox="1"/>
          <p:nvPr/>
        </p:nvSpPr>
        <p:spPr>
          <a:xfrm>
            <a:off x="8183880" y="4443984"/>
            <a:ext cx="3291840" cy="320040"/>
          </a:xfrm>
          <a:prstGeom prst="rect">
            <a:avLst/>
          </a:prstGeom>
          <a:noFill/>
          <a:ln/>
        </p:spPr>
        <p:txBody>
          <a:bodyPr wrap="square" lIns="0" tIns="0" rIns="0" bIns="0" rtlCol="0" anchor="t"/>
          <a:lstStyle/>
          <a:p>
            <a:pPr indent="0" marL="0">
              <a:buNone/>
            </a:pPr>
            <a:r>
              <a:rPr lang="en-US" sz="1400" b="1" dirty="0">
                <a:solidFill>
                  <a:srgbClr val="5B6472"/>
                </a:solidFill>
              </a:rPr>
              <a:t>C 바꿀 수 없음</a:t>
            </a:r>
            <a:endParaRPr lang="en-US" sz="1400" dirty="0"/>
          </a:p>
        </p:txBody>
      </p:sp>
      <p:sp>
        <p:nvSpPr>
          <p:cNvPr id="14" name="Text 10"/>
          <p:cNvSpPr txBox="1"/>
          <p:nvPr/>
        </p:nvSpPr>
        <p:spPr>
          <a:xfrm>
            <a:off x="8183880" y="4773168"/>
            <a:ext cx="3291840" cy="685800"/>
          </a:xfrm>
          <a:prstGeom prst="rect">
            <a:avLst/>
          </a:prstGeom>
          <a:noFill/>
          <a:ln/>
        </p:spPr>
        <p:txBody>
          <a:bodyPr wrap="square" lIns="0" tIns="0" rIns="0" bIns="0" rtlCol="0" anchor="t"/>
          <a:lstStyle/>
          <a:p>
            <a:pPr indent="0" marL="0">
              <a:buNone/>
            </a:pPr>
            <a:r>
              <a:rPr lang="en-US" sz="1200" dirty="0">
                <a:solidFill>
                  <a:srgbClr val="1D2430"/>
                </a:solidFill>
              </a:rPr>
              <a:t>나이, 성별, 교육, 혼인, 세대유형, 만성질환 진단, 치매환자 가족, 지역·주택유형</a:t>
            </a:r>
            <a:endParaRPr lang="en-US" sz="1200" dirty="0"/>
          </a:p>
        </p:txBody>
      </p:sp>
      <p:sp>
        <p:nvSpPr>
          <p:cNvPr id="15" name="Text 11"/>
          <p:cNvSpPr txBox="1"/>
          <p:nvPr/>
        </p:nvSpPr>
        <p:spPr>
          <a:xfrm>
            <a:off x="548640" y="5806440"/>
            <a:ext cx="11094415" cy="274320"/>
          </a:xfrm>
          <a:prstGeom prst="rect">
            <a:avLst/>
          </a:prstGeom>
          <a:noFill/>
          <a:ln/>
        </p:spPr>
        <p:txBody>
          <a:bodyPr wrap="square" lIns="0" tIns="0" rIns="0" bIns="0" rtlCol="0" anchor="t"/>
          <a:lstStyle/>
          <a:p>
            <a:pPr indent="0" marL="0">
              <a:buNone/>
            </a:pPr>
            <a:r>
              <a:rPr lang="en-US" sz="1100" dirty="0">
                <a:solidFill>
                  <a:srgbClr val="5B6472"/>
                </a:solidFill>
              </a:rPr>
              <a:t>근거: 제6차 국민건강증진종합계획(HP2030). 건강생활 실천 → A, 비만·손상·건강정보 이해·지역사회 자원 → B</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400" b="1" dirty="0">
                <a:solidFill>
                  <a:srgbClr val="1D2430"/>
                </a:solidFill>
              </a:rPr>
              <a:t>A2. 생활요인 선정 대응표 — 선행연구와 국가 계획의 생활 영역</a:t>
            </a:r>
            <a:endParaRPr lang="en-US" sz="24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부록</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645920"/>
                <a:gridCol w="2926080"/>
                <a:gridCol w="5059375"/>
                <a:gridCol w="1463040"/>
              </a:tblGrid>
              <a:tr h="457200">
                <a:tc>
                  <a:txBody>
                    <a:bodyPr/>
                    <a:lstStyle/>
                    <a:p>
                      <a:pPr algn="l" indent="0" marL="0">
                        <a:buNone/>
                      </a:pPr>
                      <a:r>
                        <a:rPr lang="en-US" sz="1400" b="1" dirty="0">
                          <a:solidFill>
                            <a:srgbClr val="5B6472"/>
                          </a:solidFill>
                          <a:latin typeface="맑은 고딕" pitchFamily="34" charset="0"/>
                          <a:ea typeface="맑은 고딕" pitchFamily="34" charset="-122"/>
                          <a:cs typeface="맑은 고딕" pitchFamily="34" charset="-120"/>
                        </a:rPr>
                        <a:t>생활 영역</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l" indent="0" marL="0">
                        <a:buNone/>
                      </a:pPr>
                      <a:r>
                        <a:rPr lang="en-US" sz="1400" b="1" dirty="0">
                          <a:solidFill>
                            <a:srgbClr val="5B6472"/>
                          </a:solidFill>
                          <a:latin typeface="맑은 고딕" pitchFamily="34" charset="0"/>
                          <a:ea typeface="맑은 고딕" pitchFamily="34" charset="-122"/>
                          <a:cs typeface="맑은 고딕" pitchFamily="34" charset="-120"/>
                        </a:rPr>
                        <a:t>사용 문항</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l" indent="0" marL="0">
                        <a:buNone/>
                      </a:pPr>
                      <a:r>
                        <a:rPr lang="en-US" sz="1400" b="1" dirty="0">
                          <a:solidFill>
                            <a:srgbClr val="5B6472"/>
                          </a:solidFill>
                          <a:latin typeface="맑은 고딕" pitchFamily="34" charset="0"/>
                          <a:ea typeface="맑은 고딕" pitchFamily="34" charset="-122"/>
                          <a:cs typeface="맑은 고딕" pitchFamily="34" charset="-120"/>
                        </a:rPr>
                        <a:t>충족 기준</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충족률(가중)</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r>
              <a:tr h="457200">
                <a:tc>
                  <a:txBody>
                    <a:bodyPr/>
                    <a:lstStyle/>
                    <a:p>
                      <a:pPr indent="0" marL="0">
                        <a:buNone/>
                      </a:pPr>
                      <a:r>
                        <a:rPr lang="en-US" sz="1400" b="1" dirty="0">
                          <a:solidFill>
                            <a:srgbClr val="1D2430"/>
                          </a:solidFill>
                          <a:latin typeface="맑은 고딕" pitchFamily="34" charset="0"/>
                          <a:ea typeface="맑은 고딕" pitchFamily="34" charset="-122"/>
                          <a:cs typeface="맑은 고딕" pitchFamily="34" charset="-120"/>
                        </a:rPr>
                        <a:t>신체활동</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신체활동 권고 충족 (기준축)</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유산소(걷기 또는 중강도 이상) + 근력 주 2일 이상</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21.7%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57200">
                <a:tc>
                  <a:txBody>
                    <a:bodyPr/>
                    <a:lstStyle/>
                    <a:p>
                      <a:pPr indent="0" marL="0">
                        <a:buNone/>
                      </a:pPr>
                      <a:r>
                        <a:rPr lang="en-US" sz="1400" b="1" dirty="0">
                          <a:solidFill>
                            <a:srgbClr val="1D2430"/>
                          </a:solidFill>
                          <a:latin typeface="맑은 고딕" pitchFamily="34" charset="0"/>
                          <a:ea typeface="맑은 고딕" pitchFamily="34" charset="-122"/>
                          <a:cs typeface="맑은 고딕" pitchFamily="34" charset="-120"/>
                        </a:rPr>
                        <a:t>흡연</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담배제품 현재 미사용</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궐련·전자담배 모두 현재 사용 아님</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80.2%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57200">
                <a:tc>
                  <a:txBody>
                    <a:bodyPr/>
                    <a:lstStyle/>
                    <a:p>
                      <a:pPr indent="0" marL="0">
                        <a:buNone/>
                      </a:pPr>
                      <a:r>
                        <a:rPr lang="en-US" sz="1400" b="1" dirty="0">
                          <a:solidFill>
                            <a:srgbClr val="1D2430"/>
                          </a:solidFill>
                          <a:latin typeface="맑은 고딕" pitchFamily="34" charset="0"/>
                          <a:ea typeface="맑은 고딕" pitchFamily="34" charset="-122"/>
                          <a:cs typeface="맑은 고딕" pitchFamily="34" charset="-120"/>
                        </a:rPr>
                        <a:t>음주</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고위험음주 아님</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주 2회 이상 &amp; 1회 남 7잔·여 5잔 이상이 아님</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89.4%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57200">
                <a:tc>
                  <a:txBody>
                    <a:bodyPr/>
                    <a:lstStyle/>
                    <a:p>
                      <a:pPr indent="0" marL="0">
                        <a:buNone/>
                      </a:pPr>
                      <a:r>
                        <a:rPr lang="en-US" sz="1400" b="1" dirty="0">
                          <a:solidFill>
                            <a:srgbClr val="1D2430"/>
                          </a:solidFill>
                          <a:latin typeface="맑은 고딕" pitchFamily="34" charset="0"/>
                          <a:ea typeface="맑은 고딕" pitchFamily="34" charset="-122"/>
                          <a:cs typeface="맑은 고딕" pitchFamily="34" charset="-120"/>
                        </a:rPr>
                        <a:t>식생활</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아침식사 주 5회 이상</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지침서 아침식사 실천율(식품군 문항 없어 대리)</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56.9%</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57200">
                <a:tc>
                  <a:txBody>
                    <a:bodyPr/>
                    <a:lstStyle/>
                    <a:p>
                      <a:pPr indent="0" marL="0">
                        <a:buNone/>
                      </a:pPr>
                      <a:r>
                        <a:rPr lang="en-US" sz="1400" b="1" dirty="0">
                          <a:solidFill>
                            <a:srgbClr val="1D2430"/>
                          </a:solidFill>
                          <a:latin typeface="맑은 고딕" pitchFamily="34" charset="0"/>
                          <a:ea typeface="맑은 고딕" pitchFamily="34" charset="-122"/>
                          <a:cs typeface="맑은 고딕" pitchFamily="34" charset="-120"/>
                        </a:rPr>
                        <a:t>사회적 연결</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사회적 연결</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고립 지수 0~1점(1인 가구·드문 연락·사회활동 없음)</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79.2%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57200">
                <a:tc>
                  <a:txBody>
                    <a:bodyPr/>
                    <a:lstStyle/>
                    <a:p>
                      <a:pPr indent="0" marL="0">
                        <a:buNone/>
                      </a:pPr>
                      <a:r>
                        <a:rPr lang="en-US" sz="1400" b="1" dirty="0">
                          <a:solidFill>
                            <a:srgbClr val="1D2430"/>
                          </a:solidFill>
                          <a:latin typeface="맑은 고딕" pitchFamily="34" charset="0"/>
                          <a:ea typeface="맑은 고딕" pitchFamily="34" charset="-122"/>
                          <a:cs typeface="맑은 고딕" pitchFamily="34" charset="-120"/>
                        </a:rPr>
                        <a:t>구강건강</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저녁 후·잠자기 전 칫솔질</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지침서 저녁식사 후 또는 잠자기 전 칫솔질 실천율</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96.4%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57200">
                <a:tc>
                  <a:txBody>
                    <a:bodyPr/>
                    <a:lstStyle/>
                    <a:p>
                      <a:pPr indent="0" marL="0">
                        <a:buNone/>
                      </a:pPr>
                      <a:r>
                        <a:rPr lang="en-US" sz="1400" b="1" dirty="0">
                          <a:solidFill>
                            <a:srgbClr val="1D2430"/>
                          </a:solidFill>
                          <a:latin typeface="맑은 고딕" pitchFamily="34" charset="0"/>
                          <a:ea typeface="맑은 고딕" pitchFamily="34" charset="-122"/>
                          <a:cs typeface="맑은 고딕" pitchFamily="34" charset="-120"/>
                        </a:rPr>
                        <a:t>수면</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주중 7~9시간 (민감도)</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증상근접 — 주 점수에서 제외</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49.3%</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57200">
                <a:tc>
                  <a:txBody>
                    <a:bodyPr/>
                    <a:lstStyle/>
                    <a:p>
                      <a:pPr indent="0" marL="0">
                        <a:buNone/>
                      </a:pPr>
                      <a:r>
                        <a:rPr lang="en-US" sz="1400" b="1" dirty="0">
                          <a:solidFill>
                            <a:srgbClr val="1D2430"/>
                          </a:solidFill>
                          <a:latin typeface="맑은 고딕" pitchFamily="34" charset="0"/>
                          <a:ea typeface="맑은 고딕" pitchFamily="34" charset="-122"/>
                          <a:cs typeface="맑은 고딕" pitchFamily="34" charset="-120"/>
                        </a:rPr>
                        <a:t>좌식행동</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D2430"/>
                          </a:solidFill>
                          <a:latin typeface="맑은 고딕" pitchFamily="34" charset="0"/>
                          <a:ea typeface="맑은 고딕" pitchFamily="34" charset="-122"/>
                          <a:cs typeface="맑은 고딕" pitchFamily="34" charset="-120"/>
                        </a:rPr>
                        <a:t>2025년 조사에 문항 없음</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400" b="1" dirty="0">
                <a:solidFill>
                  <a:srgbClr val="1D2430"/>
                </a:solidFill>
              </a:rPr>
              <a:t>A3. 점수 민감도 — 어느 요인 하나를 빼도 단계적 감소가 유지된다</a:t>
            </a:r>
            <a:endParaRPr lang="en-US" sz="24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부록</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291840"/>
                <a:gridCol w="1097280"/>
                <a:gridCol w="2651760"/>
                <a:gridCol w="2011680"/>
                <a:gridCol w="2041855"/>
              </a:tblGrid>
              <a:tr h="438912">
                <a:tc>
                  <a:txBody>
                    <a:bodyPr/>
                    <a:lstStyle/>
                    <a:p>
                      <a:pPr algn="l" indent="0" marL="0">
                        <a:buNone/>
                      </a:pPr>
                      <a:r>
                        <a:rPr lang="en-US" sz="1400" b="1" dirty="0">
                          <a:solidFill>
                            <a:srgbClr val="5B6472"/>
                          </a:solidFill>
                          <a:latin typeface="맑은 고딕" pitchFamily="34" charset="0"/>
                          <a:ea typeface="맑은 고딕" pitchFamily="34" charset="-122"/>
                          <a:cs typeface="맑은 고딕" pitchFamily="34" charset="-120"/>
                        </a:rPr>
                        <a:t>점수</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요인 수</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1점당 OR [95% CI]</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최저 점수 유병률</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최고 점수 유병률</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r>
              <a:tr h="438912">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주 분석</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6</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0.70 [0.68, 0.72]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0~1개 9.0%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6개 2.1%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38912">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신체활동 권고 제외</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0.68 [0.66, 0.71]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0~1개 9.1%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5개 2.5%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38912">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담배제품 미사용 제외</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0.69 [0.66, 0.72]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0~1개 8.0%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5개 2.0%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38912">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고위험음주 아님 제외</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0.67 [0.65, 0.70]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0~1개 8.2%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5개 2.1%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38912">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아침식사 주 5회 이상 제외</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0.68 [0.65, 0.71]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0~1개 7.4%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5개 2.2%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38912">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사회적 연결 제외</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0.72 [0.70, 0.75]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0~1개 6.5%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5개 2.4%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38912">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저녁 후·잠자기 전 칫솔질 제외</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0.70 [0.68, 0.72]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0개 8.7%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5개 2.1%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438912">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수면 포함</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0.66 [0.64, 0.68]</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0~1개 11.9%</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7개 1.5%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bl>
          </a:graphicData>
        </a:graphic>
      </p:graphicFrame>
      <p:sp>
        <p:nvSpPr>
          <p:cNvPr id="6" name="Text 2"/>
          <p:cNvSpPr txBox="1"/>
          <p:nvPr/>
        </p:nvSpPr>
        <p:spPr>
          <a:xfrm>
            <a:off x="548640" y="5852160"/>
            <a:ext cx="11094415" cy="274320"/>
          </a:xfrm>
          <a:prstGeom prst="rect">
            <a:avLst/>
          </a:prstGeom>
          <a:noFill/>
          <a:ln/>
        </p:spPr>
        <p:txBody>
          <a:bodyPr wrap="square" lIns="0" tIns="0" rIns="0" bIns="0" rtlCol="0" anchor="t"/>
          <a:lstStyle/>
          <a:p>
            <a:pPr indent="0" marL="0">
              <a:buNone/>
            </a:pPr>
            <a:r>
              <a:rPr lang="en-US" sz="1100" dirty="0">
                <a:solidFill>
                  <a:srgbClr val="5B6472"/>
                </a:solidFill>
              </a:rPr>
              <a:t>인구·경제·신체건강 조정 조사설계 기반 회귀. 양 끝 점수가 1,000명 미만이면 안쪽 점수와 합침</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731520"/>
          </a:xfrm>
          <a:prstGeom prst="rect">
            <a:avLst/>
          </a:prstGeom>
          <a:noFill/>
          <a:ln/>
        </p:spPr>
        <p:txBody>
          <a:bodyPr wrap="square" lIns="0" tIns="0" rIns="0" bIns="0" rtlCol="0" anchor="ctr"/>
          <a:lstStyle/>
          <a:p>
            <a:pPr algn="l" indent="0" marL="0">
              <a:buNone/>
            </a:pPr>
            <a:r>
              <a:rPr lang="en-US" sz="2400" b="1" dirty="0">
                <a:solidFill>
                  <a:srgbClr val="1D2430"/>
                </a:solidFill>
              </a:rPr>
              <a:t>A4. 임계값을 정하면 — 민감도와 정밀도는 맞바꾸는 관계다</a:t>
            </a:r>
            <a:endParaRPr lang="en-US" sz="2400" dirty="0"/>
          </a:p>
        </p:txBody>
      </p:sp>
      <p:sp>
        <p:nvSpPr>
          <p:cNvPr id="4" name="Text 1"/>
          <p:cNvSpPr txBox="1"/>
          <p:nvPr/>
        </p:nvSpPr>
        <p:spPr>
          <a:xfrm>
            <a:off x="548640" y="292608"/>
            <a:ext cx="7315200" cy="310896"/>
          </a:xfrm>
          <a:prstGeom prst="rect">
            <a:avLst/>
          </a:prstGeom>
          <a:noFill/>
          <a:ln/>
        </p:spPr>
        <p:txBody>
          <a:bodyPr wrap="square" lIns="0" tIns="0" rIns="0" bIns="0" rtlCol="0" anchor="ctr"/>
          <a:lstStyle/>
          <a:p>
            <a:pPr indent="0" marL="0">
              <a:buNone/>
            </a:pPr>
            <a:r>
              <a:rPr lang="en-US" sz="1300" b="1" dirty="0">
                <a:solidFill>
                  <a:srgbClr val="5B6472"/>
                </a:solidFill>
              </a:rPr>
              <a:t>부록</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291840"/>
                <a:gridCol w="1188720"/>
                <a:gridCol w="1371600"/>
                <a:gridCol w="1188720"/>
                <a:gridCol w="1188720"/>
                <a:gridCol w="1188720"/>
                <a:gridCol w="1676095"/>
              </a:tblGrid>
              <a:tr h="512064">
                <a:tc>
                  <a:txBody>
                    <a:bodyPr/>
                    <a:lstStyle/>
                    <a:p>
                      <a:pPr algn="l" indent="0" marL="0">
                        <a:buNone/>
                      </a:pPr>
                      <a:r>
                        <a:rPr lang="en-US" sz="1400" b="1" dirty="0">
                          <a:solidFill>
                            <a:srgbClr val="5B6472"/>
                          </a:solidFill>
                          <a:latin typeface="맑은 고딕" pitchFamily="34" charset="0"/>
                          <a:ea typeface="맑은 고딕" pitchFamily="34" charset="-122"/>
                          <a:cs typeface="맑은 고딕" pitchFamily="34" charset="-120"/>
                        </a:rPr>
                        <a:t>임계값 기준</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임계 확률</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고위험 판정</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민감도</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특이도</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정밀도</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c>
                  <a:txBody>
                    <a:bodyPr/>
                    <a:lstStyle/>
                    <a:p>
                      <a:pPr algn="ctr" indent="0" marL="0">
                        <a:buNone/>
                      </a:pPr>
                      <a:r>
                        <a:rPr lang="en-US" sz="1400" b="1" dirty="0">
                          <a:solidFill>
                            <a:srgbClr val="5B6472"/>
                          </a:solidFill>
                          <a:latin typeface="맑은 고딕" pitchFamily="34" charset="0"/>
                          <a:ea typeface="맑은 고딕" pitchFamily="34" charset="-122"/>
                          <a:cs typeface="맑은 고딕" pitchFamily="34" charset="-120"/>
                        </a:rPr>
                        <a:t>놓친 우울/1만 명</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solidFill>
                      <a:srgbClr val="F3F5F8"/>
                    </a:solidFill>
                  </a:tcPr>
                </a:tc>
              </a:tr>
              <a:tr h="512064">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Youden(민감도+특이도 최대)</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0.035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24.7%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76.4%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77.4%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12.0%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92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512064">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민감도 80%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0.029</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29.1%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80.1%</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72.9%</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10.7%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78</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512064">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상위 10%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0.085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10.0%</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53.2%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91.7%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20.7%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182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512064">
                <a:tc>
                  <a:txBody>
                    <a:bodyPr/>
                    <a:lstStyle/>
                    <a:p>
                      <a:pPr algn="l" indent="0" marL="0">
                        <a:buNone/>
                      </a:pPr>
                      <a:r>
                        <a:rPr lang="en-US" sz="1400" dirty="0">
                          <a:solidFill>
                            <a:srgbClr val="1D2430"/>
                          </a:solidFill>
                          <a:latin typeface="맑은 고딕" pitchFamily="34" charset="0"/>
                          <a:ea typeface="맑은 고딕" pitchFamily="34" charset="-122"/>
                          <a:cs typeface="맑은 고딕" pitchFamily="34" charset="-120"/>
                        </a:rPr>
                        <a:t>F1 최대</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0.156</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4.7%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36.5%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96.6%</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30.5%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247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r h="512064">
                <a:tc>
                  <a:txBody>
                    <a:bodyPr/>
                    <a:lstStyle/>
                    <a:p>
                      <a:pPr algn="l" indent="0" marL="0">
                        <a:buNone/>
                      </a:pPr>
                      <a:r>
                        <a:rPr lang="en-US" sz="1400" b="1" dirty="0">
                          <a:solidFill>
                            <a:srgbClr val="1D2430"/>
                          </a:solidFill>
                          <a:latin typeface="맑은 고딕" pitchFamily="34" charset="0"/>
                          <a:ea typeface="맑은 고딕" pitchFamily="34" charset="-122"/>
                          <a:cs typeface="맑은 고딕" pitchFamily="34" charset="-120"/>
                        </a:rPr>
                        <a:t>상위 18.4%(Han &amp; Park 판정 비율)</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0.047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18.4%</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68.7%</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83.6%</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14.5%</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c>
                  <a:txBody>
                    <a:bodyPr/>
                    <a:lstStyle/>
                    <a:p>
                      <a:pPr algn="ctr" indent="0" marL="0">
                        <a:buNone/>
                      </a:pPr>
                      <a:r>
                        <a:rPr lang="en-US" sz="1400" dirty="0">
                          <a:solidFill>
                            <a:srgbClr val="1D2430"/>
                          </a:solidFill>
                          <a:latin typeface="맑은 고딕" pitchFamily="34" charset="0"/>
                          <a:ea typeface="맑은 고딕" pitchFamily="34" charset="-122"/>
                          <a:cs typeface="맑은 고딕" pitchFamily="34" charset="-120"/>
                        </a:rPr>
                        <a:t>122</a:t>
                      </a:r>
                      <a:endParaRPr lang="en-US" sz="1400" dirty="0">
                        <a:latin typeface="맑은 고딕" charset="0"/>
                        <a:ea typeface="맑은 고딕" charset="0"/>
                        <a:cs typeface="맑은 고딕"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E3E6EA"/>
                      </a:solidFill>
                      <a:prstDash val="solid"/>
                      <a:round/>
                      <a:headEnd type="none" w="med" len="med"/>
                      <a:tailEnd type="none" w="med" len="med"/>
                    </a:lnB>
                  </a:tcPr>
                </a:tc>
              </a:tr>
            </a:tbl>
          </a:graphicData>
        </a:graphic>
      </p:graphicFrame>
      <p:sp>
        <p:nvSpPr>
          <p:cNvPr id="6" name="Text 2"/>
          <p:cNvSpPr txBox="1"/>
          <p:nvPr/>
        </p:nvSpPr>
        <p:spPr>
          <a:xfrm>
            <a:off x="548640" y="5852160"/>
            <a:ext cx="11094415" cy="274320"/>
          </a:xfrm>
          <a:prstGeom prst="rect">
            <a:avLst/>
          </a:prstGeom>
          <a:noFill/>
          <a:ln/>
        </p:spPr>
        <p:txBody>
          <a:bodyPr wrap="square" lIns="0" tIns="0" rIns="0" bIns="0" rtlCol="0" anchor="t"/>
          <a:lstStyle/>
          <a:p>
            <a:pPr indent="0" marL="0">
              <a:buNone/>
            </a:pPr>
            <a:r>
              <a:rPr lang="en-US" sz="1100" dirty="0">
                <a:solidFill>
                  <a:srgbClr val="5B6472"/>
                </a:solidFill>
              </a:rPr>
              <a:t>CatBoost 주 분석, 시험셋 46,528명. Han &amp; Park(2025)의 판정 비율 18.4%는 그 논문의 정확도·macro 재현율·시험셋 인원에서 역산</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Depression MultiDomain">
  <a:themeElements>
    <a:clrScheme name="Depression MultiDomain">
      <a:dk1>
        <a:srgbClr val="1D2430"/>
      </a:dk1>
      <a:lt1>
        <a:srgbClr val="FFFFFF"/>
      </a:lt1>
      <a:dk2>
        <a:srgbClr val="2A3342"/>
      </a:dk2>
      <a:lt2>
        <a:srgbClr val="F3F5F8"/>
      </a:lt2>
      <a:accent1>
        <a:srgbClr val="2F5FB3"/>
      </a:accent1>
      <a:accent2>
        <a:srgbClr val="1F8A5B"/>
      </a:accent2>
      <a:accent3>
        <a:srgbClr val="C2412D"/>
      </a:accent3>
      <a:accent4>
        <a:srgbClr val="A86400"/>
      </a:accent4>
      <a:accent5>
        <a:srgbClr val="5B6472"/>
      </a:accent5>
      <a:accent6>
        <a:srgbClr val="A9B2C0"/>
      </a:accent6>
      <a:hlink>
        <a:srgbClr val="2F5FB3"/>
      </a:hlink>
      <a:folHlink>
        <a:srgbClr val="5B6472"/>
      </a:folHlink>
    </a:clrScheme>
    <a:fontScheme name="Depression MultiDomain">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우울 증상의 다차원 요인 분석 — 중간 프로포절</dc:title>
  <dc:subject>PptxGenJS Presentation</dc:subject>
  <dc:creator>Depression_MultiDomain_Capstone</dc:creator>
  <cp:lastModifiedBy>Depression_MultiDomain_Capstone</cp:lastModifiedBy>
  <cp:revision>1</cp:revision>
  <dcterms:created xsi:type="dcterms:W3CDTF">2026-10-27T09:35:20Z</dcterms:created>
  <dcterms:modified xsi:type="dcterms:W3CDTF">2026-10-27T09:35:20Z</dcterms:modified>
</cp:coreProperties>
</file>